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71" r:id="rId10"/>
    <p:sldId id="270" r:id="rId11"/>
    <p:sldId id="269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1" r:id="rId21"/>
    <p:sldId id="280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iKg0cGmkZouOfofgVgIBewPIX+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3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00" autoAdjust="0"/>
    <p:restoredTop sz="96327" autoAdjust="0"/>
  </p:normalViewPr>
  <p:slideViewPr>
    <p:cSldViewPr snapToGrid="0">
      <p:cViewPr varScale="1">
        <p:scale>
          <a:sx n="123" d="100"/>
          <a:sy n="123" d="100"/>
        </p:scale>
        <p:origin x="1184" y="19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인공지능의</a:t>
            </a:r>
            <a:r>
              <a:rPr lang="en-US" dirty="0"/>
              <a:t> </a:t>
            </a:r>
            <a:r>
              <a:rPr lang="en-US" dirty="0" err="1"/>
              <a:t>발전으로</a:t>
            </a:r>
            <a:r>
              <a:rPr lang="en-US" dirty="0"/>
              <a:t> </a:t>
            </a:r>
            <a:r>
              <a:rPr lang="en-US" dirty="0" err="1"/>
              <a:t>이것</a:t>
            </a:r>
            <a:r>
              <a:rPr lang="en-US" dirty="0"/>
              <a:t> </a:t>
            </a:r>
            <a:r>
              <a:rPr lang="en-US" dirty="0" err="1"/>
              <a:t>저것</a:t>
            </a:r>
            <a:r>
              <a:rPr lang="en-US" dirty="0"/>
              <a:t> </a:t>
            </a:r>
            <a:r>
              <a:rPr lang="en-US" dirty="0" err="1"/>
              <a:t>많이</a:t>
            </a:r>
            <a:r>
              <a:rPr lang="en-US" dirty="0"/>
              <a:t> </a:t>
            </a:r>
            <a:r>
              <a:rPr lang="en-US" dirty="0" err="1"/>
              <a:t>할</a:t>
            </a:r>
            <a:r>
              <a:rPr lang="en-US" dirty="0"/>
              <a:t> </a:t>
            </a:r>
            <a:r>
              <a:rPr lang="en-US" dirty="0" err="1"/>
              <a:t>수</a:t>
            </a:r>
            <a:r>
              <a:rPr lang="en-US" dirty="0"/>
              <a:t> </a:t>
            </a:r>
            <a:r>
              <a:rPr lang="en-US" dirty="0" err="1"/>
              <a:t>있게</a:t>
            </a:r>
            <a:r>
              <a:rPr lang="en-US" dirty="0"/>
              <a:t> </a:t>
            </a:r>
            <a:r>
              <a:rPr lang="en-US" dirty="0" err="1"/>
              <a:t>됨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예를</a:t>
            </a:r>
            <a:r>
              <a:rPr lang="en-US" dirty="0"/>
              <a:t> </a:t>
            </a:r>
            <a:r>
              <a:rPr lang="en-US" dirty="0" err="1"/>
              <a:t>들어서</a:t>
            </a:r>
            <a:r>
              <a:rPr lang="en-US" dirty="0"/>
              <a:t> </a:t>
            </a:r>
            <a:r>
              <a:rPr lang="en-US" dirty="0" err="1"/>
              <a:t>우리가</a:t>
            </a:r>
            <a:r>
              <a:rPr lang="en-US" dirty="0"/>
              <a:t> </a:t>
            </a:r>
            <a:r>
              <a:rPr lang="en-US" dirty="0" err="1"/>
              <a:t>보는</a:t>
            </a:r>
            <a:r>
              <a:rPr lang="en-US" dirty="0"/>
              <a:t> </a:t>
            </a:r>
            <a:r>
              <a:rPr lang="en-US" dirty="0" err="1"/>
              <a:t>넷플릭스</a:t>
            </a:r>
            <a:r>
              <a:rPr lang="en-US" altLang="ko-KR" dirty="0"/>
              <a:t>, </a:t>
            </a:r>
            <a:r>
              <a:rPr lang="ko-KR" altLang="en-US" dirty="0"/>
              <a:t>유튜브</a:t>
            </a:r>
            <a:r>
              <a:rPr lang="en-US" altLang="ko-KR" dirty="0"/>
              <a:t>, </a:t>
            </a:r>
            <a:r>
              <a:rPr lang="ko-KR" altLang="en-US" dirty="0"/>
              <a:t>인스타그램 등에 </a:t>
            </a:r>
            <a:r>
              <a:rPr lang="ko-KR" altLang="en-US" dirty="0" err="1"/>
              <a:t>적용되어있는</a:t>
            </a:r>
            <a:r>
              <a:rPr lang="ko-KR" altLang="en-US" dirty="0"/>
              <a:t> 추천시스템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지피티</a:t>
            </a:r>
            <a:r>
              <a:rPr lang="en-US" altLang="ko-KR" dirty="0"/>
              <a:t>, </a:t>
            </a:r>
            <a:r>
              <a:rPr lang="ko-KR" altLang="en-US" dirty="0"/>
              <a:t>제미나이 등에 사용되는 건대 언어모델 기술</a:t>
            </a:r>
            <a:r>
              <a:rPr lang="en-US" altLang="ko-KR" dirty="0"/>
              <a:t>, </a:t>
            </a:r>
            <a:r>
              <a:rPr lang="ko-KR" altLang="en-US" dirty="0"/>
              <a:t>생성형 인공지능 기술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자율 주행 자동차에 들어가는 자율 주행 인공지능 등</a:t>
            </a:r>
            <a:endParaRPr dirty="0"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5523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41661432-A669-7C59-3AD2-E6E71354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F8B4CBAD-3F63-B619-28BD-C98E5CFA86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FF625A4E-B5D5-72B9-E55B-310C3CBBE3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049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F10197DE-53F4-158E-0A35-8B7821ED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C566DEB0-FE11-CA5B-A07B-AABDB2417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인공지능은</a:t>
            </a:r>
            <a:r>
              <a:rPr lang="en-US" dirty="0"/>
              <a:t> </a:t>
            </a:r>
            <a:r>
              <a:rPr lang="en-US" dirty="0" err="1"/>
              <a:t>사실</a:t>
            </a:r>
            <a:r>
              <a:rPr lang="en-US" dirty="0"/>
              <a:t> </a:t>
            </a:r>
            <a:r>
              <a:rPr lang="en-US" dirty="0" err="1"/>
              <a:t>개념적인</a:t>
            </a:r>
            <a:r>
              <a:rPr lang="en-US" altLang="ko-KR" dirty="0"/>
              <a:t>, </a:t>
            </a:r>
            <a:r>
              <a:rPr lang="ko-KR" altLang="en-US" dirty="0"/>
              <a:t>일반적인 단어임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1DD4EDB5-8874-2BF5-1B0B-362795048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8906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374F5CF-78F7-8B08-ADB3-0B174D2EB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F9C15957-90CA-7C8D-A9BA-C5CE1E7DD2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기계학습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167643B2-A5EC-5CFC-68CA-A544011D45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435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74B26778-4304-3C2E-4D08-F7ED78B4A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37FAC2CB-663A-61CE-C103-369495194E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딥러닝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802A07D4-5C5A-6F8D-B518-616CDE91FB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7493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127262A6-9B22-CC7C-20C0-795D5FB54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77CCDDB2-3149-34BA-8981-61FFD98901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B0B24BB6-7BB7-2E04-641E-1E21728BF0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5142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A1530B83-DE6A-AA30-B037-8ADD54F68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6CEB3BC2-3F5A-244C-306D-B87E8D2ED6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097C3C38-7C27-F0A0-A1A1-96D8D11676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8962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30445788-127F-E316-D192-1A5182126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3162C51F-9553-6516-4478-8929D1FDB9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184BA72E-A762-7789-4D62-AE6E62CB9D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3218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2DCAAAA7-4583-CCE1-F102-EAF4A272A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C07E7DA0-8985-4AA1-579E-DED8FF958F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768B0841-0C66-09D9-C27C-3DCBC1C348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0420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9B4B7865-4482-09EE-4AA8-02B339B0C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7C21E228-85B8-4342-137D-E7099A030E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197E44A9-A147-22EB-05B3-0E2DB94632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42710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E7890026-C0CD-E61A-5495-AAD5A534D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538A09DD-F53E-EB57-898B-5A74B6CB41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176978BD-789A-34C1-02EA-85A0477256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4343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5C54349A-ED71-1DCA-8796-44511A8D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7A69D711-F63D-7C77-ECF5-70BF5603D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2E344661-7F02-C53B-29B4-D110B98929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5497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9F6E5FA8-5227-8E75-C5F0-7C1161F01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C10E7B9B-0A73-ABE2-101A-0EA3E11E4C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D0BDAE7E-0440-2B9F-21CD-ABAF92D21A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1219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B1C2145B-AC14-6C04-63D8-592D29DF4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3B397447-9689-277D-E777-E0DD9CB757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0FF5BD96-2AC5-C4DF-6217-1E99E86990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85677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546B9E81-14F7-52CF-05F8-F3584EAB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214DF91A-63C5-5B77-CA57-F4421FE921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D36742BB-2796-69C3-C504-53E62ABDB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5867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7774B47D-41D0-72E6-D13C-5F736563C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4FB50962-790E-35BA-910D-3AF6D9651B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9F51B255-E9D1-D1AB-B4A8-CA24D68DA1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40730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C7A35A66-C493-BE1F-231A-A19571DFC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6D130835-C685-004D-654B-54A24FA3BE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1EE4E66F-ECF3-633F-FA61-6875C412D7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95121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95B7558-37EC-3F7B-9B34-80DC90229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1750146E-28A6-04BB-3C9B-148CAAE16C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CD32E935-2DE2-160B-2891-DBF688EF9A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1118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54A3FB70-D11A-8978-EC11-598E0AACF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254E3672-7265-F806-02BC-DA602E7DED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5A7CDF5E-CDF6-34DE-A257-5E07028FEA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46265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12264D23-E1EE-3233-A2DA-0186AF14F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095BFFA8-31ED-CD11-7C24-8630316AFD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16593539-1711-B3EF-1093-BDC7D47F26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45383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A0E941FB-6962-C8A2-8E2D-A66CF4698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185B423D-C2C6-00BD-C532-ED4881C876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95FD72CE-EDAE-4936-9592-7E0D01E231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24168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E046270C-8742-9290-B02D-B46181E99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EFC12F70-B69F-86E7-AF1E-BF0345DF83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30DF537D-7140-060B-5189-BEED807A75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97919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D5D8A2CE-CDAD-0354-84F9-946AD8CD6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A69746F9-378A-052B-C0E5-8C819E318C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AC487E1B-1A94-5B52-30FE-A7A909C830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39510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FDB04E0-FDD2-4237-E704-BC35A4078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EE30358B-3E38-F55B-6D59-79EA47233A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B6B3A845-7E39-ED28-8D2B-8F03ECBC44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570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091F0DDD-97B5-945F-FD2C-27B4E3389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0E426EDF-5444-FC48-6E7B-D346898AE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65EA4DD9-519D-355C-6119-1DA7B7BCF8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40642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400E109A-9071-663E-2AD8-9695BA267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9CFECC3E-FC8A-925B-4BD9-AFD01B414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BAA07A74-4055-9EE1-AB73-F74D2BBEEE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43237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17971230-DF78-AF8C-16D8-C712D1AC9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020387A5-F979-6BB9-1C56-04A5D95EC7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CA3D184A-A104-0877-5657-A608E0B08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8207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80FEE2E1-6C69-E7C4-82CC-797826AF0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94DAEE59-098F-EE8E-8454-9005F45035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91D46377-110B-E9D9-3A09-23003A8BBB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90678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51C908C-8DCA-9EC9-68F3-8371EE50C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63313D68-E542-0843-F956-0B51BFAEED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2D526390-136C-2528-7B73-B9183E7D7A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71871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955AE5F3-5A02-A526-85E0-DFAB53DEF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54283324-6F86-3B92-5AB5-4C73C09D53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63E621AA-D717-7076-EC92-7209084F62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0693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8415765" y="5371789"/>
            <a:ext cx="3704441" cy="112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600"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</a:t>
            </a:r>
            <a:r>
              <a:rPr lang="en-US" sz="2000">
                <a:latin typeface="나눔스퀘어" panose="020B0600000101010101" pitchFamily="50" charset="-127"/>
                <a:ea typeface="나눔스퀘어" panose="020B0600000101010101" pitchFamily="50" charset="-127"/>
              </a:rPr>
              <a:t>: Jaehyung Lim</a:t>
            </a:r>
            <a:endParaRPr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100">
                <a:latin typeface="나눔스퀘어" panose="020B0600000101010101" pitchFamily="50" charset="-127"/>
                <a:ea typeface="나눔스퀘어" panose="020B0600000101010101" pitchFamily="50" charset="-127"/>
              </a:rPr>
              <a:t>Postech Graduate School of AI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100">
                <a:latin typeface="나눔스퀘어" panose="020B0600000101010101" pitchFamily="50" charset="-127"/>
                <a:ea typeface="나눔스퀘어" panose="020B0600000101010101" pitchFamily="50" charset="-127"/>
              </a:rPr>
              <a:t>jaehyunglim@postech.ac.kr</a:t>
            </a:r>
            <a:endParaRPr sz="110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8415765" y="4978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u="none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202</a:t>
            </a:r>
            <a:r>
              <a:rPr lang="en-US" altLang="ko-KR" sz="18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en-US" sz="1800" b="0" u="none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-</a:t>
            </a:r>
            <a:r>
              <a:rPr lang="en-US" altLang="ko-KR" sz="1800" b="0" u="none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05</a:t>
            </a:r>
            <a:r>
              <a:rPr lang="en-US" sz="1800" b="0" u="none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-</a:t>
            </a:r>
            <a:r>
              <a:rPr lang="en-US" altLang="ko-KR" sz="1800" b="0" u="none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16</a:t>
            </a:r>
            <a:endParaRPr sz="2000" b="0" u="none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537460" y="2582082"/>
            <a:ext cx="7239000" cy="1098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48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Regression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lang="en-US" sz="1700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7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</a:t>
            </a:r>
            <a:r>
              <a:rPr lang="en-US" altLang="ko-KR" sz="17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en-US" sz="17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7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청소년 수리 인공지능 아카데미</a:t>
            </a:r>
            <a:endParaRPr lang="ko-KR" alt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D1D9A8-EE30-2258-1145-7E83A8199D2D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FEA8AF5-6AA7-F76E-5D21-3F4AFFB0ADE8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/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/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인공지능</a:t>
              </a:r>
              <a:endParaRPr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4697295-8771-DBC6-65A4-4BD9F77E2B02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026" name="Picture 2" descr="Netflix Korea 넷플릭스 코리아 - YouTube">
            <a:extLst>
              <a:ext uri="{FF2B5EF4-FFF2-40B4-BE49-F238E27FC236}">
                <a16:creationId xmlns:a16="http://schemas.microsoft.com/office/drawing/2014/main" id="{9A5E1AEA-7D78-40D4-2908-CA65A3CEC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321" y="2852555"/>
            <a:ext cx="1798865" cy="1798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챗GPT - 위키백과, 우리 모두의 백과사전">
            <a:extLst>
              <a:ext uri="{FF2B5EF4-FFF2-40B4-BE49-F238E27FC236}">
                <a16:creationId xmlns:a16="http://schemas.microsoft.com/office/drawing/2014/main" id="{A75F54D5-1DA6-DC8C-AAF5-00879F911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463" y="2894892"/>
            <a:ext cx="1923551" cy="192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4FEE2-5492-7FA7-0AC1-C74C71325C91}"/>
              </a:ext>
            </a:extLst>
          </p:cNvPr>
          <p:cNvSpPr txBox="1"/>
          <p:nvPr/>
        </p:nvSpPr>
        <p:spPr>
          <a:xfrm>
            <a:off x="112939" y="5222442"/>
            <a:ext cx="3559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추천시스템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A62F14-5CAA-1F12-550D-DA26F61FC2A1}"/>
              </a:ext>
            </a:extLst>
          </p:cNvPr>
          <p:cNvSpPr txBox="1"/>
          <p:nvPr/>
        </p:nvSpPr>
        <p:spPr>
          <a:xfrm>
            <a:off x="3862580" y="5222442"/>
            <a:ext cx="3559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거대 언어 모델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21D44F-01A8-B966-8AB0-A7A48FA3964E}"/>
              </a:ext>
            </a:extLst>
          </p:cNvPr>
          <p:cNvSpPr txBox="1"/>
          <p:nvPr/>
        </p:nvSpPr>
        <p:spPr>
          <a:xfrm>
            <a:off x="7612221" y="5222442"/>
            <a:ext cx="3559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자율 주행 자동차</a:t>
            </a:r>
          </a:p>
        </p:txBody>
      </p:sp>
      <p:pic>
        <p:nvPicPr>
          <p:cNvPr id="1032" name="Picture 8" descr="Autonomous Driving with AI-Equipped Vision Systems: Tesla Autopilot">
            <a:extLst>
              <a:ext uri="{FF2B5EF4-FFF2-40B4-BE49-F238E27FC236}">
                <a16:creationId xmlns:a16="http://schemas.microsoft.com/office/drawing/2014/main" id="{A73B94B2-4193-943E-6A36-57498D9AD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051" y="2894892"/>
            <a:ext cx="3787549" cy="212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512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775D9407-F1DB-C4CF-115D-CABBE92FE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51E3FC33-F1AB-CDF5-10F9-7D979314338D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D41C3BB8-E0F8-5777-25C0-0561B153D1D3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3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751F9B3-A6E5-629E-84FF-505EFEB7F1B1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8365A8C4-83A2-5FDC-8794-94BF2DDBB7F5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CF23E109-8BD8-974B-E229-E6FF9BA215D5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인공지능의 분류</a:t>
              </a:r>
              <a:endParaRPr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5171F80-49AC-A049-FC1C-3A6F6BABBF12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38E94B-BAF9-83EF-FDB0-7A6A3DC241E0}"/>
              </a:ext>
            </a:extLst>
          </p:cNvPr>
          <p:cNvSpPr txBox="1"/>
          <p:nvPr/>
        </p:nvSpPr>
        <p:spPr>
          <a:xfrm>
            <a:off x="2632852" y="2356239"/>
            <a:ext cx="180428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인공지능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35BA8BD-5B50-AE1A-61FA-00ED7A8C06EE}"/>
              </a:ext>
            </a:extLst>
          </p:cNvPr>
          <p:cNvSpPr/>
          <p:nvPr/>
        </p:nvSpPr>
        <p:spPr>
          <a:xfrm>
            <a:off x="2770872" y="2249782"/>
            <a:ext cx="6650253" cy="35311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5921C25E-4EEB-A4CC-1D0A-387B95499F3E}"/>
              </a:ext>
            </a:extLst>
          </p:cNvPr>
          <p:cNvSpPr/>
          <p:nvPr/>
        </p:nvSpPr>
        <p:spPr>
          <a:xfrm>
            <a:off x="4437133" y="2864469"/>
            <a:ext cx="4704602" cy="283777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7D15E9-312E-2382-3A1A-0E89BF6E4845}"/>
              </a:ext>
            </a:extLst>
          </p:cNvPr>
          <p:cNvSpPr txBox="1"/>
          <p:nvPr/>
        </p:nvSpPr>
        <p:spPr>
          <a:xfrm>
            <a:off x="4437133" y="2970926"/>
            <a:ext cx="180428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기계학습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58BBA2E-A399-ADE9-072D-95F667C70986}"/>
              </a:ext>
            </a:extLst>
          </p:cNvPr>
          <p:cNvSpPr/>
          <p:nvPr/>
        </p:nvSpPr>
        <p:spPr>
          <a:xfrm>
            <a:off x="6096000" y="3408897"/>
            <a:ext cx="2764083" cy="214320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63F66-2EF7-722B-3189-3BC717538503}"/>
              </a:ext>
            </a:extLst>
          </p:cNvPr>
          <p:cNvSpPr txBox="1"/>
          <p:nvPr/>
        </p:nvSpPr>
        <p:spPr>
          <a:xfrm>
            <a:off x="5878286" y="3488845"/>
            <a:ext cx="180428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심층학습</a:t>
            </a:r>
          </a:p>
        </p:txBody>
      </p:sp>
    </p:spTree>
    <p:extLst>
      <p:ext uri="{BB962C8B-B14F-4D97-AF65-F5344CB8AC3E}">
        <p14:creationId xmlns:p14="http://schemas.microsoft.com/office/powerpoint/2010/main" val="904800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CC6494F8-C76C-828A-69B0-A86FD3E74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5B8E5489-82F3-70CD-3C95-84F8718D59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인간의 학습능력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추론능력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지각능력을 모방한 컴퓨터 시스템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EDF6217C-0D9C-6F58-0E2A-9EFABC15DDC6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E3A39894-06BD-37A1-1CAA-65AC73B1D1B8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4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CA91D1D-5B79-8C10-CEC0-9A330D43B711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33B53D96-62DC-41F8-3BC2-0DBF7611DCC8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8B40E7E7-CCAB-1E71-B4BA-AC19C6F21447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인공지능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(AI/Artificial Intelligence)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C4B23C0-ABDB-A1AC-A075-092DF7865F40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0BA13CD-64AA-D1CD-519A-154B959C74EB}"/>
              </a:ext>
            </a:extLst>
          </p:cNvPr>
          <p:cNvGrpSpPr/>
          <p:nvPr/>
        </p:nvGrpSpPr>
        <p:grpSpPr>
          <a:xfrm>
            <a:off x="3270275" y="2891088"/>
            <a:ext cx="5834879" cy="3098193"/>
            <a:chOff x="2770872" y="2249782"/>
            <a:chExt cx="6650253" cy="353113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BEB266C-8DEE-1E03-5C55-F478259F03FA}"/>
                </a:ext>
              </a:extLst>
            </p:cNvPr>
            <p:cNvSpPr txBox="1"/>
            <p:nvPr/>
          </p:nvSpPr>
          <p:spPr>
            <a:xfrm>
              <a:off x="2770872" y="2356240"/>
              <a:ext cx="180428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인공지능</a:t>
              </a:r>
            </a:p>
          </p:txBody>
        </p:sp>
        <p:sp>
          <p:nvSpPr>
            <p:cNvPr id="13" name="모서리가 둥근 직사각형 12">
              <a:extLst>
                <a:ext uri="{FF2B5EF4-FFF2-40B4-BE49-F238E27FC236}">
                  <a16:creationId xmlns:a16="http://schemas.microsoft.com/office/drawing/2014/main" id="{A6AFA83B-202C-B5F1-048C-1A9592237D98}"/>
                </a:ext>
              </a:extLst>
            </p:cNvPr>
            <p:cNvSpPr/>
            <p:nvPr/>
          </p:nvSpPr>
          <p:spPr>
            <a:xfrm>
              <a:off x="2770872" y="2249782"/>
              <a:ext cx="6650253" cy="353113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모서리가 둥근 직사각형 13">
              <a:extLst>
                <a:ext uri="{FF2B5EF4-FFF2-40B4-BE49-F238E27FC236}">
                  <a16:creationId xmlns:a16="http://schemas.microsoft.com/office/drawing/2014/main" id="{F5BE698D-FCF3-A210-8561-0DFB50B91F3E}"/>
                </a:ext>
              </a:extLst>
            </p:cNvPr>
            <p:cNvSpPr/>
            <p:nvPr/>
          </p:nvSpPr>
          <p:spPr>
            <a:xfrm>
              <a:off x="4437133" y="2864469"/>
              <a:ext cx="4704602" cy="283777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4D13B7-0279-9AEE-2443-910C5242543C}"/>
                </a:ext>
              </a:extLst>
            </p:cNvPr>
            <p:cNvSpPr txBox="1"/>
            <p:nvPr/>
          </p:nvSpPr>
          <p:spPr>
            <a:xfrm>
              <a:off x="4437133" y="2970926"/>
              <a:ext cx="180428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기계학습</a:t>
              </a:r>
            </a:p>
          </p:txBody>
        </p:sp>
        <p:sp>
          <p:nvSpPr>
            <p:cNvPr id="16" name="모서리가 둥근 직사각형 15">
              <a:extLst>
                <a:ext uri="{FF2B5EF4-FFF2-40B4-BE49-F238E27FC236}">
                  <a16:creationId xmlns:a16="http://schemas.microsoft.com/office/drawing/2014/main" id="{97C5D23A-FB33-17FE-E2A6-445550FE7A61}"/>
                </a:ext>
              </a:extLst>
            </p:cNvPr>
            <p:cNvSpPr/>
            <p:nvPr/>
          </p:nvSpPr>
          <p:spPr>
            <a:xfrm>
              <a:off x="6096000" y="3408897"/>
              <a:ext cx="2764083" cy="214320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F2ADDCC-640E-5358-569A-E518318D152C}"/>
                </a:ext>
              </a:extLst>
            </p:cNvPr>
            <p:cNvSpPr txBox="1"/>
            <p:nvPr/>
          </p:nvSpPr>
          <p:spPr>
            <a:xfrm>
              <a:off x="6095998" y="3456588"/>
              <a:ext cx="1804281" cy="52617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심층학습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8426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F8625698-FD9E-EA66-DDED-4A7DC7A60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59336A5A-3B00-0AD3-E55C-F2D7DAB526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기계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컴퓨터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데이터로부터 특정 패턴을 발견하고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이후 새롭게 들어온 데이터를 목적에 맞게 처리 할 수 있도록 학습하는 방법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9ADF3472-200B-4BE2-0630-5B9EBA700B6C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C9531C33-212B-45E2-E92A-46A1D3E74615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5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AE56B25-5A15-F45B-57D1-3BA778B2948D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2A4CBBB7-A0FA-8E03-DC77-7DC66223EF14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E4EFCC60-FAE1-05B5-F2A8-4C722AE1C94A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기계학습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(</a:t>
              </a:r>
              <a:r>
                <a:rPr lang="ko-KR" altLang="en-US" sz="2800" b="1" dirty="0" err="1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머신러닝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/Machine Learning)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08799E0-B462-622A-C18F-898A6363BF82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80DE816-E45A-55C7-10FD-6D0B4C17DB5D}"/>
              </a:ext>
            </a:extLst>
          </p:cNvPr>
          <p:cNvGrpSpPr/>
          <p:nvPr/>
        </p:nvGrpSpPr>
        <p:grpSpPr>
          <a:xfrm>
            <a:off x="6095999" y="2891088"/>
            <a:ext cx="5834879" cy="3098193"/>
            <a:chOff x="2770872" y="2249782"/>
            <a:chExt cx="6650253" cy="353113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D08B48-B9CC-3EB7-DA5A-EE6B7D22E525}"/>
                </a:ext>
              </a:extLst>
            </p:cNvPr>
            <p:cNvSpPr txBox="1"/>
            <p:nvPr/>
          </p:nvSpPr>
          <p:spPr>
            <a:xfrm>
              <a:off x="2770872" y="2356240"/>
              <a:ext cx="180428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인공지능</a:t>
              </a:r>
            </a:p>
          </p:txBody>
        </p:sp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3C995756-3A4D-44B4-D28A-F38A85405498}"/>
                </a:ext>
              </a:extLst>
            </p:cNvPr>
            <p:cNvSpPr/>
            <p:nvPr/>
          </p:nvSpPr>
          <p:spPr>
            <a:xfrm>
              <a:off x="2770872" y="2249782"/>
              <a:ext cx="6650253" cy="353113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854AA1DB-9F9D-8820-105E-3B2E19445E46}"/>
                </a:ext>
              </a:extLst>
            </p:cNvPr>
            <p:cNvSpPr/>
            <p:nvPr/>
          </p:nvSpPr>
          <p:spPr>
            <a:xfrm>
              <a:off x="4437133" y="2864469"/>
              <a:ext cx="4704602" cy="2837773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00CCF8-C199-60E5-A5B8-DF52C30E8F21}"/>
                </a:ext>
              </a:extLst>
            </p:cNvPr>
            <p:cNvSpPr txBox="1"/>
            <p:nvPr/>
          </p:nvSpPr>
          <p:spPr>
            <a:xfrm>
              <a:off x="4437133" y="2970926"/>
              <a:ext cx="180428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기계학습</a:t>
              </a:r>
            </a:p>
          </p:txBody>
        </p:sp>
        <p:sp>
          <p:nvSpPr>
            <p:cNvPr id="21" name="모서리가 둥근 직사각형 20">
              <a:extLst>
                <a:ext uri="{FF2B5EF4-FFF2-40B4-BE49-F238E27FC236}">
                  <a16:creationId xmlns:a16="http://schemas.microsoft.com/office/drawing/2014/main" id="{EBE353FA-B719-A0AD-D094-5B9C463409A3}"/>
                </a:ext>
              </a:extLst>
            </p:cNvPr>
            <p:cNvSpPr/>
            <p:nvPr/>
          </p:nvSpPr>
          <p:spPr>
            <a:xfrm>
              <a:off x="6096000" y="3408897"/>
              <a:ext cx="2764083" cy="214320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7614B7-7E16-374B-004B-0AB6D585DBEE}"/>
                </a:ext>
              </a:extLst>
            </p:cNvPr>
            <p:cNvSpPr txBox="1"/>
            <p:nvPr/>
          </p:nvSpPr>
          <p:spPr>
            <a:xfrm>
              <a:off x="6095998" y="3456588"/>
              <a:ext cx="1804281" cy="52617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심층학습</a:t>
              </a:r>
            </a:p>
          </p:txBody>
        </p:sp>
      </p:grpSp>
      <p:pic>
        <p:nvPicPr>
          <p:cNvPr id="2050" name="Picture 2" descr="머신러닝 분류">
            <a:extLst>
              <a:ext uri="{FF2B5EF4-FFF2-40B4-BE49-F238E27FC236}">
                <a16:creationId xmlns:a16="http://schemas.microsoft.com/office/drawing/2014/main" id="{F15EAE7E-653E-DCEA-6850-60D977977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87" y="2984493"/>
            <a:ext cx="5460093" cy="303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118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22861261-4B9B-BD5A-C0E5-0783E5D22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874E0F6E-6A75-402F-5863-5FAE261B7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기계학습의 한 종류로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인공신경망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(Artificial Neural Networks)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사용하여 복잡한 데이터의 패턴과 관계를 학습하는 방법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73AF7631-8BEA-86A3-B279-3E20FEFE5403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A86B1A72-9AF8-E44A-6687-4DBC21B0F588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6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C03B4BC-7F2E-43E8-672D-9B08C95804A2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15834B50-5C59-3DA7-7BBF-682130D729AE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BEB0668E-4B2C-35EF-7637-C2DB1FCE94F2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심층학습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(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딥러닝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/Deep Learning)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84E02C6-3503-AD20-B7CE-9CDF6FCB594C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8BF087E-B73A-6870-68F4-89C44CA58476}"/>
              </a:ext>
            </a:extLst>
          </p:cNvPr>
          <p:cNvGrpSpPr/>
          <p:nvPr/>
        </p:nvGrpSpPr>
        <p:grpSpPr>
          <a:xfrm>
            <a:off x="6095999" y="2891088"/>
            <a:ext cx="5834879" cy="3098193"/>
            <a:chOff x="2770872" y="2249782"/>
            <a:chExt cx="6650253" cy="353113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F3A0EA-3BDB-AC10-250A-041680605552}"/>
                </a:ext>
              </a:extLst>
            </p:cNvPr>
            <p:cNvSpPr txBox="1"/>
            <p:nvPr/>
          </p:nvSpPr>
          <p:spPr>
            <a:xfrm>
              <a:off x="2770872" y="2356240"/>
              <a:ext cx="180428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인공지능</a:t>
              </a:r>
            </a:p>
          </p:txBody>
        </p:sp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69FF1F7B-E967-A585-68E7-1522307A5541}"/>
                </a:ext>
              </a:extLst>
            </p:cNvPr>
            <p:cNvSpPr/>
            <p:nvPr/>
          </p:nvSpPr>
          <p:spPr>
            <a:xfrm>
              <a:off x="2770872" y="2249782"/>
              <a:ext cx="6650253" cy="353113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모서리가 둥근 직사각형 20">
              <a:extLst>
                <a:ext uri="{FF2B5EF4-FFF2-40B4-BE49-F238E27FC236}">
                  <a16:creationId xmlns:a16="http://schemas.microsoft.com/office/drawing/2014/main" id="{9FB30282-0495-8BF2-D4B2-BAFA312771C0}"/>
                </a:ext>
              </a:extLst>
            </p:cNvPr>
            <p:cNvSpPr/>
            <p:nvPr/>
          </p:nvSpPr>
          <p:spPr>
            <a:xfrm>
              <a:off x="4437133" y="2864469"/>
              <a:ext cx="4704602" cy="283777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DE70ECE-B240-753F-B6FF-F4ECF065AAC2}"/>
                </a:ext>
              </a:extLst>
            </p:cNvPr>
            <p:cNvSpPr txBox="1"/>
            <p:nvPr/>
          </p:nvSpPr>
          <p:spPr>
            <a:xfrm>
              <a:off x="4437133" y="2970926"/>
              <a:ext cx="180428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기계학습</a:t>
              </a:r>
            </a:p>
          </p:txBody>
        </p:sp>
        <p:sp>
          <p:nvSpPr>
            <p:cNvPr id="23" name="모서리가 둥근 직사각형 22">
              <a:extLst>
                <a:ext uri="{FF2B5EF4-FFF2-40B4-BE49-F238E27FC236}">
                  <a16:creationId xmlns:a16="http://schemas.microsoft.com/office/drawing/2014/main" id="{53472A86-44A4-C562-00FD-4350BD6557F9}"/>
                </a:ext>
              </a:extLst>
            </p:cNvPr>
            <p:cNvSpPr/>
            <p:nvPr/>
          </p:nvSpPr>
          <p:spPr>
            <a:xfrm>
              <a:off x="6096000" y="3408897"/>
              <a:ext cx="2764083" cy="214320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1098B65-F469-0D9D-8659-FF9BCACC2948}"/>
                </a:ext>
              </a:extLst>
            </p:cNvPr>
            <p:cNvSpPr txBox="1"/>
            <p:nvPr/>
          </p:nvSpPr>
          <p:spPr>
            <a:xfrm>
              <a:off x="6095998" y="3456588"/>
              <a:ext cx="1804281" cy="52617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심층학습</a:t>
              </a:r>
            </a:p>
          </p:txBody>
        </p:sp>
      </p:grpSp>
      <p:pic>
        <p:nvPicPr>
          <p:cNvPr id="3074" name="Picture 2" descr="cnn">
            <a:extLst>
              <a:ext uri="{FF2B5EF4-FFF2-40B4-BE49-F238E27FC236}">
                <a16:creationId xmlns:a16="http://schemas.microsoft.com/office/drawing/2014/main" id="{B14B34C2-F8D8-A97D-EFAA-060E480B7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94" y="3743378"/>
            <a:ext cx="5134447" cy="1316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9600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DA6A7346-ABAF-D3DD-39A1-C1A3693DE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7D9198F5-34FF-EF75-F4A2-B39ACAC4E590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A6317830-4D4B-E679-1DFD-52B027423A05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7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24BD1C9-039A-5E9F-9ED3-1BC71748A28B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16D26628-C6A4-2DA0-6C0B-4B3E6B3B14DB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0898527C-1EE9-F27B-DA9D-E5451519F9CE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기계학습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534B785-2F49-D264-E6E7-93FA3BD7BDA0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Picture 2" descr="머신러닝 분류">
            <a:extLst>
              <a:ext uri="{FF2B5EF4-FFF2-40B4-BE49-F238E27FC236}">
                <a16:creationId xmlns:a16="http://schemas.microsoft.com/office/drawing/2014/main" id="{92CA2F9A-1015-8F0F-27E5-2C673A3DF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885" y="1961825"/>
            <a:ext cx="7060228" cy="3923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006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84FDC733-5321-4E52-83EB-0708D4FBD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Google Shape;120;p3">
                <a:extLst>
                  <a:ext uri="{FF2B5EF4-FFF2-40B4-BE49-F238E27FC236}">
                    <a16:creationId xmlns:a16="http://schemas.microsoft.com/office/drawing/2014/main" id="{30E7FE9F-2B4E-B6AE-F4AC-36CB6877A01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lvl="0" indent="-2286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Char char="•"/>
                </a:pP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Label (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정답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/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이름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/Name Tag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⋯</m:t>
                    </m:r>
                  </m:oMath>
                </a14:m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) </a:t>
                </a:r>
              </a:p>
            </p:txBody>
          </p:sp>
        </mc:Choice>
        <mc:Fallback xmlns="">
          <p:sp>
            <p:nvSpPr>
              <p:cNvPr id="120" name="Google Shape;120;p3">
                <a:extLst>
                  <a:ext uri="{FF2B5EF4-FFF2-40B4-BE49-F238E27FC236}">
                    <a16:creationId xmlns:a16="http://schemas.microsoft.com/office/drawing/2014/main" id="{30E7FE9F-2B4E-B6AE-F4AC-36CB6877A01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blipFill>
                <a:blip r:embed="rId3"/>
                <a:stretch>
                  <a:fillRect l="-5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70548B17-65D4-D17F-FE53-24685810157D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C19244C5-23B1-CE0B-BAC0-4B9E8C86BD63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8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7A2803-FA72-515A-0F5C-CF21F78A0B5E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5D3D20EE-6427-39AB-39A9-D165DB528DCD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ADD7C901-4187-AC3B-829D-8EDAEE035D05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지도 학습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D1F5CF9-41AC-429B-6E1E-6E8342B21FEF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EA2D7FE-DD27-6784-97AF-5FF343ABF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4243" y="2065758"/>
            <a:ext cx="7772400" cy="416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422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853DF9C2-F644-2DC8-90C0-62E24035C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E49EC7E5-4FA6-AB49-0AFF-DE6A9F074D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이산적인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분리된 값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정답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결과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85800" lvl="1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독버섯 분류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(Yes/No)</a:t>
            </a:r>
          </a:p>
          <a:p>
            <a:pPr marL="685800" lvl="1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스팸 메일 분류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(Yes/No)</a:t>
            </a:r>
          </a:p>
          <a:p>
            <a:pPr marL="685800" lvl="1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동물 분류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고양이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말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…)</a:t>
            </a: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469A175B-9692-1FA6-BD95-359A2F104A28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705E5DE0-2303-0BB8-0A1B-8EE5375F37F5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9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4BD3605-EF28-8197-7231-9DF17472F518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AC9B0AA0-510B-7CE4-7610-06AD30F2336B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53E8D912-F771-27D4-D4E0-0981AA49E984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지도 학습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[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분류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]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CB8C480-2167-5241-7A93-D4B08BAD21FE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C18019-B582-161F-7B83-894454ADB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86" y="3552202"/>
            <a:ext cx="5268685" cy="2824450"/>
          </a:xfrm>
          <a:prstGeom prst="rect">
            <a:avLst/>
          </a:prstGeom>
        </p:spPr>
      </p:pic>
      <p:pic>
        <p:nvPicPr>
          <p:cNvPr id="9218" name="Picture 2" descr="Fairness-driven federated learning-based spam email detection using  clustering techniques - Neural Computing and Applications | Department of  Computer Science and Engineering NIT Hamirpur">
            <a:extLst>
              <a:ext uri="{FF2B5EF4-FFF2-40B4-BE49-F238E27FC236}">
                <a16:creationId xmlns:a16="http://schemas.microsoft.com/office/drawing/2014/main" id="{D73709D4-96AC-D2EA-21EF-0A2D31985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1669" y="4001871"/>
            <a:ext cx="4060230" cy="1953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410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B48AE5E2-742F-1925-1F5A-481BD6B76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A7CDF7B3-E9F1-7E19-5D07-E1B5C807F0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연속적인 값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결과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정답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85800" lvl="1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키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&lt;-&gt;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발사이즈의 관계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85800" lvl="1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주가 예측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85800" lvl="1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환율 예측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85800" lvl="1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날씨 예측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D65AD207-7993-AF8D-97AC-E71BC382C1DF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AE2F814C-58C6-B71B-2F0B-FFB5BE53857B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10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8BD39BC-9572-5251-BDD5-986EF1803B68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4C60C9DA-8488-179D-695E-ABDFACABAD17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96A3F68B-FBBD-57F9-6F89-1C86683E45ED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지도 학습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 [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회귀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]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E3AF765-01EC-199B-0CD7-D5387B939B9E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74B7280-8A02-114F-9FC8-762883E53DE8}"/>
              </a:ext>
            </a:extLst>
          </p:cNvPr>
          <p:cNvCxnSpPr>
            <a:cxnSpLocks/>
          </p:cNvCxnSpPr>
          <p:nvPr/>
        </p:nvCxnSpPr>
        <p:spPr>
          <a:xfrm>
            <a:off x="4348843" y="6142187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A90A826-81C5-C2C5-3EE7-35A55E60096D}"/>
              </a:ext>
            </a:extLst>
          </p:cNvPr>
          <p:cNvCxnSpPr>
            <a:cxnSpLocks/>
          </p:cNvCxnSpPr>
          <p:nvPr/>
        </p:nvCxnSpPr>
        <p:spPr>
          <a:xfrm flipV="1">
            <a:off x="4472668" y="2303612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DDC28C0-058B-1FD5-421F-464725FAB0DB}"/>
              </a:ext>
            </a:extLst>
          </p:cNvPr>
          <p:cNvSpPr txBox="1"/>
          <p:nvPr/>
        </p:nvSpPr>
        <p:spPr>
          <a:xfrm>
            <a:off x="9928188" y="6007465"/>
            <a:ext cx="180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(mm)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09E0B7-9B24-B332-D7C9-5E5C38E97BC6}"/>
              </a:ext>
            </a:extLst>
          </p:cNvPr>
          <p:cNvSpPr txBox="1"/>
          <p:nvPr/>
        </p:nvSpPr>
        <p:spPr>
          <a:xfrm>
            <a:off x="3683449" y="2293324"/>
            <a:ext cx="95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키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(cm)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2E72A8C-51C5-0ABE-6381-D61943E6FE8E}"/>
              </a:ext>
            </a:extLst>
          </p:cNvPr>
          <p:cNvSpPr/>
          <p:nvPr/>
        </p:nvSpPr>
        <p:spPr>
          <a:xfrm>
            <a:off x="4948918" y="585815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F08C02E-1CC6-0A46-1642-E26FE49F95CC}"/>
              </a:ext>
            </a:extLst>
          </p:cNvPr>
          <p:cNvSpPr/>
          <p:nvPr/>
        </p:nvSpPr>
        <p:spPr>
          <a:xfrm>
            <a:off x="4690385" y="5590657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6353A90-C7F0-1AFA-6C43-325E00A215CD}"/>
              </a:ext>
            </a:extLst>
          </p:cNvPr>
          <p:cNvSpPr/>
          <p:nvPr/>
        </p:nvSpPr>
        <p:spPr>
          <a:xfrm>
            <a:off x="4948918" y="536628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1B553EE5-D922-6A52-D37D-CD8DC8586F83}"/>
              </a:ext>
            </a:extLst>
          </p:cNvPr>
          <p:cNvSpPr/>
          <p:nvPr/>
        </p:nvSpPr>
        <p:spPr>
          <a:xfrm>
            <a:off x="5425167" y="554459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5D6B592C-01BA-51E7-0516-BAE84534E142}"/>
              </a:ext>
            </a:extLst>
          </p:cNvPr>
          <p:cNvSpPr/>
          <p:nvPr/>
        </p:nvSpPr>
        <p:spPr>
          <a:xfrm>
            <a:off x="5691868" y="4817085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DD165B4-D531-E10F-DD4F-88886CC4C198}"/>
              </a:ext>
            </a:extLst>
          </p:cNvPr>
          <p:cNvSpPr/>
          <p:nvPr/>
        </p:nvSpPr>
        <p:spPr>
          <a:xfrm>
            <a:off x="5691868" y="530895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6E72BAB-9A1D-EC4A-A24C-0C3AC26AA003}"/>
              </a:ext>
            </a:extLst>
          </p:cNvPr>
          <p:cNvSpPr/>
          <p:nvPr/>
        </p:nvSpPr>
        <p:spPr>
          <a:xfrm>
            <a:off x="6081034" y="528608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C694B5D-09D7-F0E8-94D5-4898F72EDF10}"/>
              </a:ext>
            </a:extLst>
          </p:cNvPr>
          <p:cNvSpPr/>
          <p:nvPr/>
        </p:nvSpPr>
        <p:spPr>
          <a:xfrm>
            <a:off x="6004834" y="464301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D3A6F417-50E5-9372-F8DB-239AD0C9A2C2}"/>
              </a:ext>
            </a:extLst>
          </p:cNvPr>
          <p:cNvSpPr/>
          <p:nvPr/>
        </p:nvSpPr>
        <p:spPr>
          <a:xfrm>
            <a:off x="6672943" y="413735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0E48BED7-2A69-5EE3-7C28-1B19FCBAFDAA}"/>
              </a:ext>
            </a:extLst>
          </p:cNvPr>
          <p:cNvSpPr/>
          <p:nvPr/>
        </p:nvSpPr>
        <p:spPr>
          <a:xfrm>
            <a:off x="6081034" y="5017535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7A65777-B978-6A0D-4669-D15C34AE725C}"/>
              </a:ext>
            </a:extLst>
          </p:cNvPr>
          <p:cNvSpPr/>
          <p:nvPr/>
        </p:nvSpPr>
        <p:spPr>
          <a:xfrm rot="19439823">
            <a:off x="6672943" y="501022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AE3F5F39-C28B-9EFD-95AA-E33B72CB5044}"/>
              </a:ext>
            </a:extLst>
          </p:cNvPr>
          <p:cNvSpPr/>
          <p:nvPr/>
        </p:nvSpPr>
        <p:spPr>
          <a:xfrm>
            <a:off x="7300233" y="486811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9D16089C-6B91-B17C-35C5-E98C4A0C2C05}"/>
              </a:ext>
            </a:extLst>
          </p:cNvPr>
          <p:cNvSpPr/>
          <p:nvPr/>
        </p:nvSpPr>
        <p:spPr>
          <a:xfrm>
            <a:off x="6171369" y="454351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9DCE2359-E7E9-D980-31DC-D27B4C20EEE0}"/>
              </a:ext>
            </a:extLst>
          </p:cNvPr>
          <p:cNvSpPr/>
          <p:nvPr/>
        </p:nvSpPr>
        <p:spPr>
          <a:xfrm>
            <a:off x="6363226" y="419686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0FC45CE-8AF8-7503-B551-8F3D31538333}"/>
              </a:ext>
            </a:extLst>
          </p:cNvPr>
          <p:cNvSpPr/>
          <p:nvPr/>
        </p:nvSpPr>
        <p:spPr>
          <a:xfrm>
            <a:off x="6515626" y="477364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E1702BD-842B-7208-C82F-CED11037050A}"/>
              </a:ext>
            </a:extLst>
          </p:cNvPr>
          <p:cNvSpPr/>
          <p:nvPr/>
        </p:nvSpPr>
        <p:spPr>
          <a:xfrm>
            <a:off x="6825343" y="285286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62E03B95-93CB-02EF-DCD9-EDB88F3E6F02}"/>
              </a:ext>
            </a:extLst>
          </p:cNvPr>
          <p:cNvSpPr/>
          <p:nvPr/>
        </p:nvSpPr>
        <p:spPr>
          <a:xfrm>
            <a:off x="7172852" y="4261815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BBA333C-6ECD-1E9D-4B02-4A77C7DBD1E9}"/>
              </a:ext>
            </a:extLst>
          </p:cNvPr>
          <p:cNvSpPr/>
          <p:nvPr/>
        </p:nvSpPr>
        <p:spPr>
          <a:xfrm>
            <a:off x="7562018" y="4238947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0662DD5-C1FB-D657-9E22-AD5CF448CCEC}"/>
              </a:ext>
            </a:extLst>
          </p:cNvPr>
          <p:cNvSpPr/>
          <p:nvPr/>
        </p:nvSpPr>
        <p:spPr>
          <a:xfrm>
            <a:off x="7338027" y="3379167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2EB8938-7B1B-348B-FEF6-FB23D05E09B6}"/>
              </a:ext>
            </a:extLst>
          </p:cNvPr>
          <p:cNvSpPr/>
          <p:nvPr/>
        </p:nvSpPr>
        <p:spPr>
          <a:xfrm>
            <a:off x="8153927" y="3090215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CF21B26-E853-F9E4-F435-C45FF9353E19}"/>
              </a:ext>
            </a:extLst>
          </p:cNvPr>
          <p:cNvSpPr/>
          <p:nvPr/>
        </p:nvSpPr>
        <p:spPr>
          <a:xfrm>
            <a:off x="7562018" y="397039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B95F0A30-2EFF-A25F-6FAD-CF92C6594968}"/>
              </a:ext>
            </a:extLst>
          </p:cNvPr>
          <p:cNvSpPr/>
          <p:nvPr/>
        </p:nvSpPr>
        <p:spPr>
          <a:xfrm rot="19439823">
            <a:off x="8153927" y="3963085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69E061-66A7-D6BF-2A82-212A9A7BB219}"/>
              </a:ext>
            </a:extLst>
          </p:cNvPr>
          <p:cNvSpPr txBox="1"/>
          <p:nvPr/>
        </p:nvSpPr>
        <p:spPr>
          <a:xfrm>
            <a:off x="4582205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220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6EDB73-A875-9BA1-A5EC-EF3CEF1E4772}"/>
              </a:ext>
            </a:extLst>
          </p:cNvPr>
          <p:cNvSpPr txBox="1"/>
          <p:nvPr/>
        </p:nvSpPr>
        <p:spPr>
          <a:xfrm>
            <a:off x="8230127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290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E35A8B-3229-502A-BD73-5B53A7CB14F8}"/>
              </a:ext>
            </a:extLst>
          </p:cNvPr>
          <p:cNvSpPr txBox="1"/>
          <p:nvPr/>
        </p:nvSpPr>
        <p:spPr>
          <a:xfrm>
            <a:off x="3839678" y="5834410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160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2F8604-11B7-AA64-109A-A7CB2B152EB8}"/>
              </a:ext>
            </a:extLst>
          </p:cNvPr>
          <p:cNvSpPr txBox="1"/>
          <p:nvPr/>
        </p:nvSpPr>
        <p:spPr>
          <a:xfrm>
            <a:off x="3839678" y="2843718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190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9C96C4D1-F6AE-2B3A-E4CD-69FB85765413}"/>
              </a:ext>
            </a:extLst>
          </p:cNvPr>
          <p:cNvSpPr/>
          <p:nvPr/>
        </p:nvSpPr>
        <p:spPr>
          <a:xfrm>
            <a:off x="7541342" y="300888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C62005D3-1916-6BDD-19EF-E724D090CCDF}"/>
              </a:ext>
            </a:extLst>
          </p:cNvPr>
          <p:cNvSpPr/>
          <p:nvPr/>
        </p:nvSpPr>
        <p:spPr>
          <a:xfrm rot="19439823">
            <a:off x="8153928" y="520988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42557018-CE95-0AF0-341D-CBECEA54FFBC}"/>
              </a:ext>
            </a:extLst>
          </p:cNvPr>
          <p:cNvSpPr/>
          <p:nvPr/>
        </p:nvSpPr>
        <p:spPr>
          <a:xfrm>
            <a:off x="7854131" y="351233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8DED5F4A-71EA-5B44-DB55-8484C8E66E3A}"/>
              </a:ext>
            </a:extLst>
          </p:cNvPr>
          <p:cNvSpPr/>
          <p:nvPr/>
        </p:nvSpPr>
        <p:spPr>
          <a:xfrm>
            <a:off x="7854131" y="324377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A8ADDE70-C10C-9BDA-BD27-44CD6FDC7F72}"/>
              </a:ext>
            </a:extLst>
          </p:cNvPr>
          <p:cNvSpPr/>
          <p:nvPr/>
        </p:nvSpPr>
        <p:spPr>
          <a:xfrm rot="19439823">
            <a:off x="8446040" y="323647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A894907F-0994-517F-BEED-2FB279B445AE}"/>
              </a:ext>
            </a:extLst>
          </p:cNvPr>
          <p:cNvSpPr/>
          <p:nvPr/>
        </p:nvSpPr>
        <p:spPr>
          <a:xfrm rot="19439823">
            <a:off x="8819466" y="25249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FDD211-7A20-C2D2-ECA7-5704D7D744A6}"/>
              </a:ext>
            </a:extLst>
          </p:cNvPr>
          <p:cNvSpPr txBox="1"/>
          <p:nvPr/>
        </p:nvSpPr>
        <p:spPr>
          <a:xfrm>
            <a:off x="5501367" y="1343447"/>
            <a:ext cx="3189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If </a:t>
            </a:r>
            <a:r>
              <a:rPr kumimoji="1"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 </a:t>
            </a:r>
            <a:r>
              <a:rPr kumimoji="1"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270, </a:t>
            </a:r>
            <a:r>
              <a:rPr kumimoji="1"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키</a:t>
            </a:r>
            <a:r>
              <a:rPr kumimoji="1"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  <a:endParaRPr kumimoji="1"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3707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6878E9F5-E826-9CDB-B124-CED58B593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27CE4D4E-FEBF-D2F6-68B8-A12ABBCEE3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Label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없이 학습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데이터의 숨겨진 구조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특징 발견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9E4FBC82-EC93-58D0-4F3E-101D0F06E81C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78DB2093-8EC2-C54E-5C2E-1C178095F542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11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CF33EB5-6FA4-0FBF-ABB7-937C5C1B9AAD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C7A2643A-4328-9B49-3446-8F0D130DA96C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E8A25D79-A426-1D2D-E5EA-91B057123DC2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비지도 학습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6827024-AC52-7FE4-0C45-54B2DCF89DB0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146" name="Picture 2" descr="분석사례 상세 &lt; 분석사례 &lt; 농림축산식품 공공데이터 포털 - 데이터안심구역">
            <a:extLst>
              <a:ext uri="{FF2B5EF4-FFF2-40B4-BE49-F238E27FC236}">
                <a16:creationId xmlns:a16="http://schemas.microsoft.com/office/drawing/2014/main" id="{3EA22EA1-CAB1-1C68-CB38-D62E131A2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487" y="2802828"/>
            <a:ext cx="7081024" cy="3347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3756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582E1C16-E64D-47EA-172B-50C76B64B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47D486DE-74DC-742A-10C6-20CFC7B167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에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대한 </a:t>
            </a:r>
            <a:r>
              <a:rPr lang="ko-KR" altLang="en-US" sz="20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연속적인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결과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관계를 모델링하는 것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9491E8C8-1278-6623-1D86-24CC6A8564EA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E2252493-D9A4-4368-E40A-6428763EEE0B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12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DF14333-0469-7217-C1FF-93B175BADE34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872BF27D-51D1-AEBD-3D4B-AB2430FAAF91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AEF1EA2F-552D-89CE-438C-0FC52EF32C92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Regression/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회귀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C20F208-A6FB-763E-3DD4-0E76F64869F8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9845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3EFFDCCD-4F9B-E722-CC3C-D840A64C9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0F3979C5-A2DB-0101-2A93-E0DEBFA8DA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 (</a:t>
            </a:r>
            <a:r>
              <a:rPr lang="ko-KR" altLang="en-US" sz="20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에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대한 결과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y(</a:t>
            </a:r>
            <a:r>
              <a:rPr lang="ko-KR" altLang="en-US" sz="20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관계를 모델링하는 것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53B69BAB-B294-F225-5B00-E0EB6B620F40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FBB51798-214B-9F2B-E86E-097F5EBAC700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13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E40ACA5-38AD-214D-3343-5A553C451682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C0F72066-CD55-1FE0-0108-B0809C2CEE14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E3F830D3-E2D7-D5F8-D85A-578637729B77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Regression/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회귀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DCBEDDF-A767-F64A-0E62-F7DDFD404D41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0E51CB3D-C7FB-46C1-C7AD-44F00140F6DA}"/>
              </a:ext>
            </a:extLst>
          </p:cNvPr>
          <p:cNvCxnSpPr>
            <a:cxnSpLocks/>
          </p:cNvCxnSpPr>
          <p:nvPr/>
        </p:nvCxnSpPr>
        <p:spPr>
          <a:xfrm>
            <a:off x="2855573" y="6142187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B4741DC0-DAAC-238D-573B-2F8CA17BD2F1}"/>
              </a:ext>
            </a:extLst>
          </p:cNvPr>
          <p:cNvCxnSpPr>
            <a:cxnSpLocks/>
          </p:cNvCxnSpPr>
          <p:nvPr/>
        </p:nvCxnSpPr>
        <p:spPr>
          <a:xfrm flipV="1">
            <a:off x="2979398" y="2303612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D639ECE-B0FC-6DA7-7B8E-58118BEEF541}"/>
              </a:ext>
            </a:extLst>
          </p:cNvPr>
          <p:cNvSpPr txBox="1"/>
          <p:nvPr/>
        </p:nvSpPr>
        <p:spPr>
          <a:xfrm>
            <a:off x="8434918" y="6007465"/>
            <a:ext cx="180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(mm)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4003F4-3367-98EC-079B-322F073CB4B6}"/>
              </a:ext>
            </a:extLst>
          </p:cNvPr>
          <p:cNvSpPr txBox="1"/>
          <p:nvPr/>
        </p:nvSpPr>
        <p:spPr>
          <a:xfrm>
            <a:off x="2190179" y="2293324"/>
            <a:ext cx="95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키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(cm)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F6FEE28-6588-7312-AFDD-F48A1E608029}"/>
              </a:ext>
            </a:extLst>
          </p:cNvPr>
          <p:cNvSpPr/>
          <p:nvPr/>
        </p:nvSpPr>
        <p:spPr>
          <a:xfrm>
            <a:off x="3455648" y="585815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419E902-68BE-4245-E888-BDECEAE9151C}"/>
              </a:ext>
            </a:extLst>
          </p:cNvPr>
          <p:cNvSpPr/>
          <p:nvPr/>
        </p:nvSpPr>
        <p:spPr>
          <a:xfrm>
            <a:off x="3197115" y="5590657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29C5CE1-6910-CF96-61D8-0677DA8CDB81}"/>
              </a:ext>
            </a:extLst>
          </p:cNvPr>
          <p:cNvSpPr/>
          <p:nvPr/>
        </p:nvSpPr>
        <p:spPr>
          <a:xfrm>
            <a:off x="3455648" y="536628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21BE755-8CBC-73C0-4DDD-38CD42A101AB}"/>
              </a:ext>
            </a:extLst>
          </p:cNvPr>
          <p:cNvSpPr/>
          <p:nvPr/>
        </p:nvSpPr>
        <p:spPr>
          <a:xfrm>
            <a:off x="3931897" y="554459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24634F8-33C1-F067-87F3-18D21275BAB6}"/>
              </a:ext>
            </a:extLst>
          </p:cNvPr>
          <p:cNvSpPr/>
          <p:nvPr/>
        </p:nvSpPr>
        <p:spPr>
          <a:xfrm>
            <a:off x="4198598" y="4817085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94198E4-F42E-0440-C458-CC520D7A8199}"/>
              </a:ext>
            </a:extLst>
          </p:cNvPr>
          <p:cNvSpPr/>
          <p:nvPr/>
        </p:nvSpPr>
        <p:spPr>
          <a:xfrm>
            <a:off x="4198598" y="530895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A8B0024-719C-52FE-E62E-D696BD1A0B07}"/>
              </a:ext>
            </a:extLst>
          </p:cNvPr>
          <p:cNvSpPr/>
          <p:nvPr/>
        </p:nvSpPr>
        <p:spPr>
          <a:xfrm>
            <a:off x="4587764" y="528608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89B28AF-530C-558B-D2BA-7AB487A05FD6}"/>
              </a:ext>
            </a:extLst>
          </p:cNvPr>
          <p:cNvSpPr/>
          <p:nvPr/>
        </p:nvSpPr>
        <p:spPr>
          <a:xfrm>
            <a:off x="4511564" y="464301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1D5D9B2-FD68-C704-A0F6-8A09CF3C019F}"/>
              </a:ext>
            </a:extLst>
          </p:cNvPr>
          <p:cNvSpPr/>
          <p:nvPr/>
        </p:nvSpPr>
        <p:spPr>
          <a:xfrm>
            <a:off x="5179673" y="413735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5A070C2-7445-E6BA-E4FB-5CF5F25ADB4E}"/>
              </a:ext>
            </a:extLst>
          </p:cNvPr>
          <p:cNvSpPr/>
          <p:nvPr/>
        </p:nvSpPr>
        <p:spPr>
          <a:xfrm>
            <a:off x="4587764" y="5017535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80930CB-2D02-D4E2-1CC3-2841F49117B0}"/>
              </a:ext>
            </a:extLst>
          </p:cNvPr>
          <p:cNvSpPr/>
          <p:nvPr/>
        </p:nvSpPr>
        <p:spPr>
          <a:xfrm rot="19439823">
            <a:off x="5179673" y="501022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F32F092-0256-70ED-0E0C-7B3C32758CCA}"/>
              </a:ext>
            </a:extLst>
          </p:cNvPr>
          <p:cNvSpPr/>
          <p:nvPr/>
        </p:nvSpPr>
        <p:spPr>
          <a:xfrm>
            <a:off x="5806963" y="486811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19C61CA2-2005-FF8F-26C2-CA485BB3DCC6}"/>
              </a:ext>
            </a:extLst>
          </p:cNvPr>
          <p:cNvSpPr/>
          <p:nvPr/>
        </p:nvSpPr>
        <p:spPr>
          <a:xfrm>
            <a:off x="4678099" y="454351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8A91B71-C839-B19D-1E7C-2E94C84E886B}"/>
              </a:ext>
            </a:extLst>
          </p:cNvPr>
          <p:cNvSpPr/>
          <p:nvPr/>
        </p:nvSpPr>
        <p:spPr>
          <a:xfrm>
            <a:off x="4869956" y="419686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D11C7A2-AE87-A481-B827-97D74240C626}"/>
              </a:ext>
            </a:extLst>
          </p:cNvPr>
          <p:cNvSpPr/>
          <p:nvPr/>
        </p:nvSpPr>
        <p:spPr>
          <a:xfrm>
            <a:off x="5022356" y="477364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54F2BBB-8626-1A74-F60E-8DE89B4D4EDB}"/>
              </a:ext>
            </a:extLst>
          </p:cNvPr>
          <p:cNvSpPr/>
          <p:nvPr/>
        </p:nvSpPr>
        <p:spPr>
          <a:xfrm>
            <a:off x="5332073" y="285286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98C7768-EFAB-7EB5-2E1E-6FCAFA6CD00F}"/>
              </a:ext>
            </a:extLst>
          </p:cNvPr>
          <p:cNvSpPr/>
          <p:nvPr/>
        </p:nvSpPr>
        <p:spPr>
          <a:xfrm>
            <a:off x="5679582" y="4261815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7EEE3D0B-3385-B219-917E-702562F38B3C}"/>
              </a:ext>
            </a:extLst>
          </p:cNvPr>
          <p:cNvSpPr/>
          <p:nvPr/>
        </p:nvSpPr>
        <p:spPr>
          <a:xfrm>
            <a:off x="6068748" y="4238947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CD915852-4D09-1C2A-C979-9B64A4935A9A}"/>
              </a:ext>
            </a:extLst>
          </p:cNvPr>
          <p:cNvSpPr/>
          <p:nvPr/>
        </p:nvSpPr>
        <p:spPr>
          <a:xfrm>
            <a:off x="5844757" y="3379167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C78F7191-0D18-01E2-A157-64D33DB26F6A}"/>
              </a:ext>
            </a:extLst>
          </p:cNvPr>
          <p:cNvSpPr/>
          <p:nvPr/>
        </p:nvSpPr>
        <p:spPr>
          <a:xfrm>
            <a:off x="6660657" y="3090215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37535B3-2180-C220-9328-0DF6EAEC33D0}"/>
              </a:ext>
            </a:extLst>
          </p:cNvPr>
          <p:cNvSpPr/>
          <p:nvPr/>
        </p:nvSpPr>
        <p:spPr>
          <a:xfrm>
            <a:off x="6068748" y="397039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CE6D97B0-46C2-C325-7252-C6A1550EE7EB}"/>
              </a:ext>
            </a:extLst>
          </p:cNvPr>
          <p:cNvSpPr/>
          <p:nvPr/>
        </p:nvSpPr>
        <p:spPr>
          <a:xfrm rot="19439823">
            <a:off x="6660657" y="3963085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5B8D21-4539-5EC1-0806-DA0D9A9346B6}"/>
              </a:ext>
            </a:extLst>
          </p:cNvPr>
          <p:cNvSpPr txBox="1"/>
          <p:nvPr/>
        </p:nvSpPr>
        <p:spPr>
          <a:xfrm>
            <a:off x="3088935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220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70145F-A922-7D31-ED9A-7855C18EE7E1}"/>
              </a:ext>
            </a:extLst>
          </p:cNvPr>
          <p:cNvSpPr txBox="1"/>
          <p:nvPr/>
        </p:nvSpPr>
        <p:spPr>
          <a:xfrm>
            <a:off x="6736857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290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B02384-A330-D329-1BB5-65106F5485B6}"/>
              </a:ext>
            </a:extLst>
          </p:cNvPr>
          <p:cNvSpPr txBox="1"/>
          <p:nvPr/>
        </p:nvSpPr>
        <p:spPr>
          <a:xfrm>
            <a:off x="2346408" y="5834410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160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FB2BF7-F481-EEE6-43BE-000F6D1F78A1}"/>
              </a:ext>
            </a:extLst>
          </p:cNvPr>
          <p:cNvSpPr txBox="1"/>
          <p:nvPr/>
        </p:nvSpPr>
        <p:spPr>
          <a:xfrm>
            <a:off x="2346408" y="2843718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190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82AC7CA-5460-2E20-60FD-106880B1283F}"/>
              </a:ext>
            </a:extLst>
          </p:cNvPr>
          <p:cNvSpPr/>
          <p:nvPr/>
        </p:nvSpPr>
        <p:spPr>
          <a:xfrm>
            <a:off x="6048072" y="300888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1FE7A25D-30EF-8790-8586-3D5FD539E52D}"/>
              </a:ext>
            </a:extLst>
          </p:cNvPr>
          <p:cNvSpPr/>
          <p:nvPr/>
        </p:nvSpPr>
        <p:spPr>
          <a:xfrm rot="19439823">
            <a:off x="6660658" y="520988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CF40A70F-82A2-E922-3CB5-CFC4B5679ABB}"/>
              </a:ext>
            </a:extLst>
          </p:cNvPr>
          <p:cNvSpPr/>
          <p:nvPr/>
        </p:nvSpPr>
        <p:spPr>
          <a:xfrm>
            <a:off x="6360861" y="351233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B942B45-0491-DC88-17D4-7626E700CFBA}"/>
              </a:ext>
            </a:extLst>
          </p:cNvPr>
          <p:cNvSpPr/>
          <p:nvPr/>
        </p:nvSpPr>
        <p:spPr>
          <a:xfrm>
            <a:off x="6360861" y="324377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7E520D46-3710-AE60-C2B6-2312CD79F2D9}"/>
              </a:ext>
            </a:extLst>
          </p:cNvPr>
          <p:cNvSpPr/>
          <p:nvPr/>
        </p:nvSpPr>
        <p:spPr>
          <a:xfrm rot="19439823">
            <a:off x="6952770" y="323647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77A515C1-F287-84EC-B303-0BA88A091283}"/>
              </a:ext>
            </a:extLst>
          </p:cNvPr>
          <p:cNvSpPr/>
          <p:nvPr/>
        </p:nvSpPr>
        <p:spPr>
          <a:xfrm rot="19439823">
            <a:off x="7326196" y="25249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B1A836-DBBA-3BDF-B0B1-A7BC364BC358}"/>
              </a:ext>
            </a:extLst>
          </p:cNvPr>
          <p:cNvSpPr txBox="1"/>
          <p:nvPr/>
        </p:nvSpPr>
        <p:spPr>
          <a:xfrm>
            <a:off x="8074047" y="3923423"/>
            <a:ext cx="3189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If </a:t>
            </a:r>
            <a:r>
              <a:rPr kumimoji="1"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 </a:t>
            </a:r>
            <a:r>
              <a:rPr kumimoji="1"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270, </a:t>
            </a:r>
            <a:r>
              <a:rPr kumimoji="1"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키</a:t>
            </a:r>
            <a:r>
              <a:rPr kumimoji="1"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  <a:endParaRPr kumimoji="1"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7287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997D5DFD-3459-295E-5B76-720EC768C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4CD06B4A-0D39-A33D-47D3-C5AB464411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 (</a:t>
            </a:r>
            <a:r>
              <a:rPr lang="ko-KR" altLang="en-US" sz="20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에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대한 결과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y(</a:t>
            </a:r>
            <a:r>
              <a:rPr lang="ko-KR" altLang="en-US" sz="20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선형 관계를 모델링하는 것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E20CD174-DEBB-5D11-9E92-ECF18135F355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14DF39D4-3C39-9654-86FB-DA8171969087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14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B8A2154-8647-FE78-F54B-619AEC84152B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020CF041-CE61-214A-CC7A-B79BA23038CB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225129A8-4053-375A-E2AC-319A40759A23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Linear Regression/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선형회귀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03572BE-920E-9662-84CC-690CD56BADF6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491BF09-23AA-D818-8E5C-9C07010F8D60}"/>
              </a:ext>
            </a:extLst>
          </p:cNvPr>
          <p:cNvCxnSpPr>
            <a:cxnSpLocks/>
          </p:cNvCxnSpPr>
          <p:nvPr/>
        </p:nvCxnSpPr>
        <p:spPr>
          <a:xfrm>
            <a:off x="2855573" y="6142187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FC4C330-256F-1544-D6D7-B027CDFFF2AF}"/>
              </a:ext>
            </a:extLst>
          </p:cNvPr>
          <p:cNvCxnSpPr>
            <a:cxnSpLocks/>
          </p:cNvCxnSpPr>
          <p:nvPr/>
        </p:nvCxnSpPr>
        <p:spPr>
          <a:xfrm flipV="1">
            <a:off x="2979398" y="2303612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36F1E65-4182-9373-CE5B-4D44F6444554}"/>
              </a:ext>
            </a:extLst>
          </p:cNvPr>
          <p:cNvSpPr txBox="1"/>
          <p:nvPr/>
        </p:nvSpPr>
        <p:spPr>
          <a:xfrm>
            <a:off x="8434918" y="6007465"/>
            <a:ext cx="180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(mm)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0B1196-9C1E-4672-45C6-6F68A7C60688}"/>
              </a:ext>
            </a:extLst>
          </p:cNvPr>
          <p:cNvSpPr txBox="1"/>
          <p:nvPr/>
        </p:nvSpPr>
        <p:spPr>
          <a:xfrm>
            <a:off x="2190179" y="2293324"/>
            <a:ext cx="95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키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(cm)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19C4FC5-9A9C-18C4-8A69-48FD51D03D06}"/>
              </a:ext>
            </a:extLst>
          </p:cNvPr>
          <p:cNvSpPr/>
          <p:nvPr/>
        </p:nvSpPr>
        <p:spPr>
          <a:xfrm>
            <a:off x="3455648" y="585815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66C5A3C-B74E-CAA3-8AF1-90EEDB0B02B5}"/>
              </a:ext>
            </a:extLst>
          </p:cNvPr>
          <p:cNvSpPr/>
          <p:nvPr/>
        </p:nvSpPr>
        <p:spPr>
          <a:xfrm>
            <a:off x="3197115" y="543892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52FF4B2-10A4-A0CB-2BE5-18A83C164591}"/>
              </a:ext>
            </a:extLst>
          </p:cNvPr>
          <p:cNvSpPr/>
          <p:nvPr/>
        </p:nvSpPr>
        <p:spPr>
          <a:xfrm>
            <a:off x="4198598" y="4817085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36F5616-0220-51FB-7968-33F6FE40F8EE}"/>
              </a:ext>
            </a:extLst>
          </p:cNvPr>
          <p:cNvSpPr/>
          <p:nvPr/>
        </p:nvSpPr>
        <p:spPr>
          <a:xfrm>
            <a:off x="4511564" y="464301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5B94FFD-D876-E315-3687-1FE30A19FA89}"/>
              </a:ext>
            </a:extLst>
          </p:cNvPr>
          <p:cNvSpPr/>
          <p:nvPr/>
        </p:nvSpPr>
        <p:spPr>
          <a:xfrm>
            <a:off x="4587764" y="5017535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F15BEA6-6132-A0CC-37E9-4417C6A52148}"/>
              </a:ext>
            </a:extLst>
          </p:cNvPr>
          <p:cNvSpPr/>
          <p:nvPr/>
        </p:nvSpPr>
        <p:spPr>
          <a:xfrm rot="19439823">
            <a:off x="5179673" y="501022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41AA2AB-0781-F321-E254-C3D85EE4C73B}"/>
              </a:ext>
            </a:extLst>
          </p:cNvPr>
          <p:cNvSpPr/>
          <p:nvPr/>
        </p:nvSpPr>
        <p:spPr>
          <a:xfrm>
            <a:off x="5806963" y="486811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92791D5-86AF-1D7B-E695-40C59BA44377}"/>
              </a:ext>
            </a:extLst>
          </p:cNvPr>
          <p:cNvSpPr/>
          <p:nvPr/>
        </p:nvSpPr>
        <p:spPr>
          <a:xfrm>
            <a:off x="4869956" y="419686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B003E98-C480-0D58-7CD0-29FEFE05E172}"/>
              </a:ext>
            </a:extLst>
          </p:cNvPr>
          <p:cNvSpPr/>
          <p:nvPr/>
        </p:nvSpPr>
        <p:spPr>
          <a:xfrm>
            <a:off x="5332073" y="285286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517464E-A7CE-FB7D-B488-BFE0B16AF0BD}"/>
              </a:ext>
            </a:extLst>
          </p:cNvPr>
          <p:cNvSpPr/>
          <p:nvPr/>
        </p:nvSpPr>
        <p:spPr>
          <a:xfrm>
            <a:off x="7295958" y="356887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A4C3C252-46A1-AB05-D3D6-3BB57522E295}"/>
              </a:ext>
            </a:extLst>
          </p:cNvPr>
          <p:cNvSpPr/>
          <p:nvPr/>
        </p:nvSpPr>
        <p:spPr>
          <a:xfrm>
            <a:off x="6660657" y="3090215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801C63-6D86-772A-8C27-65B0AF7513EE}"/>
              </a:ext>
            </a:extLst>
          </p:cNvPr>
          <p:cNvSpPr txBox="1"/>
          <p:nvPr/>
        </p:nvSpPr>
        <p:spPr>
          <a:xfrm>
            <a:off x="3088935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220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38E955-054A-A129-E83B-89FCB3FC8442}"/>
              </a:ext>
            </a:extLst>
          </p:cNvPr>
          <p:cNvSpPr txBox="1"/>
          <p:nvPr/>
        </p:nvSpPr>
        <p:spPr>
          <a:xfrm>
            <a:off x="6736857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290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474B9B-1A7B-485F-CC5A-AB868FE180D1}"/>
              </a:ext>
            </a:extLst>
          </p:cNvPr>
          <p:cNvSpPr txBox="1"/>
          <p:nvPr/>
        </p:nvSpPr>
        <p:spPr>
          <a:xfrm>
            <a:off x="2346408" y="5834410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160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DBD732-89B0-9BFC-7A76-EAC1D268F2A6}"/>
              </a:ext>
            </a:extLst>
          </p:cNvPr>
          <p:cNvSpPr txBox="1"/>
          <p:nvPr/>
        </p:nvSpPr>
        <p:spPr>
          <a:xfrm>
            <a:off x="2346408" y="2843718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190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49B7373-DA78-640B-051A-76BCCF1166BA}"/>
              </a:ext>
            </a:extLst>
          </p:cNvPr>
          <p:cNvSpPr/>
          <p:nvPr/>
        </p:nvSpPr>
        <p:spPr>
          <a:xfrm>
            <a:off x="6048072" y="300888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BE966049-10F4-36C6-DD50-B3CAB9FC2702}"/>
              </a:ext>
            </a:extLst>
          </p:cNvPr>
          <p:cNvSpPr/>
          <p:nvPr/>
        </p:nvSpPr>
        <p:spPr>
          <a:xfrm rot="19439823">
            <a:off x="6660658" y="520988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6D26BD6A-50BD-24E6-5F8A-ECBE3017F18B}"/>
              </a:ext>
            </a:extLst>
          </p:cNvPr>
          <p:cNvSpPr/>
          <p:nvPr/>
        </p:nvSpPr>
        <p:spPr>
          <a:xfrm>
            <a:off x="6360861" y="351233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673F19F3-5C52-DDD9-52E4-E464E402CD74}"/>
              </a:ext>
            </a:extLst>
          </p:cNvPr>
          <p:cNvSpPr/>
          <p:nvPr/>
        </p:nvSpPr>
        <p:spPr>
          <a:xfrm>
            <a:off x="6360861" y="324377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69C39430-8BD2-525C-A8B5-0AEB38A43A81}"/>
              </a:ext>
            </a:extLst>
          </p:cNvPr>
          <p:cNvSpPr/>
          <p:nvPr/>
        </p:nvSpPr>
        <p:spPr>
          <a:xfrm rot="19439823">
            <a:off x="7326196" y="25249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06913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2E296C72-0F7B-0C39-865B-745E98618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4A47A5A2-3180-2086-1C1C-E4B85586D9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 (</a:t>
            </a:r>
            <a:r>
              <a:rPr lang="ko-KR" altLang="en-US" sz="20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에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대한 결과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y(</a:t>
            </a:r>
            <a:r>
              <a:rPr lang="ko-KR" altLang="en-US" sz="20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선형 관계를 모델링하는 것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데이터를 가장 잘 표현하는 직선 찾기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AFFB96AA-C563-1518-2E17-531553FE2AED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739EE240-258A-B3BD-9ED6-B44368696E36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15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654F055-60AA-12E0-8AAC-B585015D2868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D95AD681-D914-3153-602C-6D1F26B60A2B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989025B2-4848-B584-27A3-119962A86922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Linear Regression/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선형회귀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DC62CF6-D9E7-53AF-9902-65390D09D5E0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3ADFCB2-9727-CCBD-20C7-B2969893CE4F}"/>
              </a:ext>
            </a:extLst>
          </p:cNvPr>
          <p:cNvCxnSpPr>
            <a:cxnSpLocks/>
          </p:cNvCxnSpPr>
          <p:nvPr/>
        </p:nvCxnSpPr>
        <p:spPr>
          <a:xfrm>
            <a:off x="2855573" y="6386294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4FBDAA5-802D-8648-C68F-5240BC3BD373}"/>
              </a:ext>
            </a:extLst>
          </p:cNvPr>
          <p:cNvCxnSpPr>
            <a:cxnSpLocks/>
          </p:cNvCxnSpPr>
          <p:nvPr/>
        </p:nvCxnSpPr>
        <p:spPr>
          <a:xfrm flipV="1">
            <a:off x="2979398" y="2547719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7F2CDA71-F157-6F50-18B3-28D5D4CA6C52}"/>
              </a:ext>
            </a:extLst>
          </p:cNvPr>
          <p:cNvSpPr/>
          <p:nvPr/>
        </p:nvSpPr>
        <p:spPr>
          <a:xfrm>
            <a:off x="3455648" y="610225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41A1978-089F-F20F-4B2A-90E6011FBC3F}"/>
              </a:ext>
            </a:extLst>
          </p:cNvPr>
          <p:cNvSpPr/>
          <p:nvPr/>
        </p:nvSpPr>
        <p:spPr>
          <a:xfrm>
            <a:off x="3197115" y="568303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72E8757-2B9C-ABB7-ADC1-094020596AA0}"/>
              </a:ext>
            </a:extLst>
          </p:cNvPr>
          <p:cNvSpPr/>
          <p:nvPr/>
        </p:nvSpPr>
        <p:spPr>
          <a:xfrm>
            <a:off x="4198598" y="506119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610DA84-10F8-0C1F-8957-2C38140BEF11}"/>
              </a:ext>
            </a:extLst>
          </p:cNvPr>
          <p:cNvSpPr/>
          <p:nvPr/>
        </p:nvSpPr>
        <p:spPr>
          <a:xfrm>
            <a:off x="4511564" y="488711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7045937-9B2C-4472-DA4A-7DFBE17D65B5}"/>
              </a:ext>
            </a:extLst>
          </p:cNvPr>
          <p:cNvSpPr/>
          <p:nvPr/>
        </p:nvSpPr>
        <p:spPr>
          <a:xfrm>
            <a:off x="4587764" y="526164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CF0BAB9-ECF3-3E8B-972E-5C6107DA3F69}"/>
              </a:ext>
            </a:extLst>
          </p:cNvPr>
          <p:cNvSpPr/>
          <p:nvPr/>
        </p:nvSpPr>
        <p:spPr>
          <a:xfrm rot="19439823">
            <a:off x="5179673" y="525433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1185661-AE3B-61F0-AD5C-58F3B2703DD3}"/>
              </a:ext>
            </a:extLst>
          </p:cNvPr>
          <p:cNvSpPr/>
          <p:nvPr/>
        </p:nvSpPr>
        <p:spPr>
          <a:xfrm>
            <a:off x="5806963" y="511222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048B439-8947-B191-69E7-5A32E90BDB1D}"/>
              </a:ext>
            </a:extLst>
          </p:cNvPr>
          <p:cNvSpPr/>
          <p:nvPr/>
        </p:nvSpPr>
        <p:spPr>
          <a:xfrm>
            <a:off x="4869956" y="444096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10A871F-1A30-0F7A-6ED9-340E712E6C45}"/>
              </a:ext>
            </a:extLst>
          </p:cNvPr>
          <p:cNvSpPr/>
          <p:nvPr/>
        </p:nvSpPr>
        <p:spPr>
          <a:xfrm>
            <a:off x="5332073" y="309697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6989AD5E-6675-02B1-3A27-AC7999EBE343}"/>
              </a:ext>
            </a:extLst>
          </p:cNvPr>
          <p:cNvSpPr/>
          <p:nvPr/>
        </p:nvSpPr>
        <p:spPr>
          <a:xfrm>
            <a:off x="7295958" y="381297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D8A3EA34-3844-DA80-0F3E-6D8CE224FEA4}"/>
              </a:ext>
            </a:extLst>
          </p:cNvPr>
          <p:cNvSpPr/>
          <p:nvPr/>
        </p:nvSpPr>
        <p:spPr>
          <a:xfrm>
            <a:off x="6660657" y="333432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1FFF12C5-ABE8-1D2E-5D5A-001DDC1CA7A6}"/>
              </a:ext>
            </a:extLst>
          </p:cNvPr>
          <p:cNvSpPr/>
          <p:nvPr/>
        </p:nvSpPr>
        <p:spPr>
          <a:xfrm>
            <a:off x="6048072" y="325298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BFB145E-0EC5-AE09-B865-3732BC484E95}"/>
              </a:ext>
            </a:extLst>
          </p:cNvPr>
          <p:cNvSpPr/>
          <p:nvPr/>
        </p:nvSpPr>
        <p:spPr>
          <a:xfrm rot="19439823">
            <a:off x="6660658" y="545399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3476D8EE-6EAC-6F97-9CC0-215D04FB3E89}"/>
              </a:ext>
            </a:extLst>
          </p:cNvPr>
          <p:cNvSpPr/>
          <p:nvPr/>
        </p:nvSpPr>
        <p:spPr>
          <a:xfrm>
            <a:off x="6360861" y="375643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D8DA760F-B357-A912-5158-BFFC4117782A}"/>
              </a:ext>
            </a:extLst>
          </p:cNvPr>
          <p:cNvSpPr/>
          <p:nvPr/>
        </p:nvSpPr>
        <p:spPr>
          <a:xfrm>
            <a:off x="6360861" y="348788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6280955C-E6AA-C189-B1BB-48FAF681C93A}"/>
              </a:ext>
            </a:extLst>
          </p:cNvPr>
          <p:cNvSpPr/>
          <p:nvPr/>
        </p:nvSpPr>
        <p:spPr>
          <a:xfrm rot="19439823">
            <a:off x="7326196" y="276900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43" name="직선 연결선[R] 42">
            <a:extLst>
              <a:ext uri="{FF2B5EF4-FFF2-40B4-BE49-F238E27FC236}">
                <a16:creationId xmlns:a16="http://schemas.microsoft.com/office/drawing/2014/main" id="{15D4AAEF-5A4B-2FB8-8F64-539E13826E1E}"/>
              </a:ext>
            </a:extLst>
          </p:cNvPr>
          <p:cNvCxnSpPr/>
          <p:nvPr/>
        </p:nvCxnSpPr>
        <p:spPr>
          <a:xfrm flipV="1">
            <a:off x="2855573" y="2612838"/>
            <a:ext cx="5731078" cy="36195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6BA189-3D73-7247-76B8-5121DA1F5FF1}"/>
                  </a:ext>
                </a:extLst>
              </p:cNvPr>
              <p:cNvSpPr txBox="1"/>
              <p:nvPr/>
            </p:nvSpPr>
            <p:spPr>
              <a:xfrm>
                <a:off x="8358449" y="6222168"/>
                <a:ext cx="4051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𝑥</m:t>
                      </m:r>
                    </m:oMath>
                  </m:oMathPara>
                </a14:m>
                <a:endParaRPr kumimoji="1"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6BA189-3D73-7247-76B8-5121DA1F5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449" y="6222168"/>
                <a:ext cx="40519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6AD7C1D-2D3C-D098-032E-2E10CE5C2F99}"/>
                  </a:ext>
                </a:extLst>
              </p:cNvPr>
              <p:cNvSpPr txBox="1"/>
              <p:nvPr/>
            </p:nvSpPr>
            <p:spPr>
              <a:xfrm>
                <a:off x="2544117" y="2439123"/>
                <a:ext cx="4051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</m:oMath>
                  </m:oMathPara>
                </a14:m>
                <a:endParaRPr kumimoji="1"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6AD7C1D-2D3C-D098-032E-2E10CE5C2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117" y="2439123"/>
                <a:ext cx="405197" cy="307777"/>
              </a:xfrm>
              <a:prstGeom prst="rect">
                <a:avLst/>
              </a:prstGeom>
              <a:blipFill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469B5C-45CA-7489-BAB0-501FE1909CF3}"/>
                  </a:ext>
                </a:extLst>
              </p:cNvPr>
              <p:cNvSpPr txBox="1"/>
              <p:nvPr/>
            </p:nvSpPr>
            <p:spPr>
              <a:xfrm>
                <a:off x="8507877" y="2397709"/>
                <a:ext cx="129315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𝑎𝑥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+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𝑏</m:t>
                      </m:r>
                    </m:oMath>
                  </m:oMathPara>
                </a14:m>
                <a:endParaRPr kumimoji="1"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469B5C-45CA-7489-BAB0-501FE1909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877" y="2397709"/>
                <a:ext cx="1293153" cy="307777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9795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C526B563-BF08-3292-71B1-5D3E1A88A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6B3812BF-77C1-3A54-7CDD-21BF1F3567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데이터를 가장 잘 표현하는 직선 찾기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CE5F6032-A996-D8D8-434D-9216C0DE1764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AD3B5805-0E80-AA9E-B24C-441314F145D4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16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81B517F-22EB-E37E-FB3C-E3451C193076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B6947C71-C2E2-BF17-40A3-2E3E1DAFECFC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3BF7C960-CFA0-71A3-F3EB-4FC64A47BB2F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Linear Regression/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선형회귀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CA20C4B-C430-3ABC-0211-FB16C014A1D8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022AD934-3FCF-1963-E8DE-0F1BC6BEAD91}"/>
              </a:ext>
            </a:extLst>
          </p:cNvPr>
          <p:cNvCxnSpPr>
            <a:cxnSpLocks/>
          </p:cNvCxnSpPr>
          <p:nvPr/>
        </p:nvCxnSpPr>
        <p:spPr>
          <a:xfrm>
            <a:off x="2855573" y="6386294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62484996-C610-246A-8560-B7ED24D073B3}"/>
              </a:ext>
            </a:extLst>
          </p:cNvPr>
          <p:cNvCxnSpPr>
            <a:cxnSpLocks/>
          </p:cNvCxnSpPr>
          <p:nvPr/>
        </p:nvCxnSpPr>
        <p:spPr>
          <a:xfrm flipV="1">
            <a:off x="2979398" y="2547719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D7FD3E1F-4176-9072-2A8D-5D6708E03D45}"/>
              </a:ext>
            </a:extLst>
          </p:cNvPr>
          <p:cNvSpPr/>
          <p:nvPr/>
        </p:nvSpPr>
        <p:spPr>
          <a:xfrm>
            <a:off x="3455648" y="610225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A05F4D7-6DD4-3DA8-54FD-525A267AE911}"/>
              </a:ext>
            </a:extLst>
          </p:cNvPr>
          <p:cNvSpPr/>
          <p:nvPr/>
        </p:nvSpPr>
        <p:spPr>
          <a:xfrm>
            <a:off x="3357988" y="562692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4AF6BD6-9335-FD86-028D-5E1DB719DE9E}"/>
              </a:ext>
            </a:extLst>
          </p:cNvPr>
          <p:cNvSpPr/>
          <p:nvPr/>
        </p:nvSpPr>
        <p:spPr>
          <a:xfrm>
            <a:off x="4361335" y="458017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E81FC71-FE09-544B-0C14-E925C29F656C}"/>
              </a:ext>
            </a:extLst>
          </p:cNvPr>
          <p:cNvSpPr/>
          <p:nvPr/>
        </p:nvSpPr>
        <p:spPr>
          <a:xfrm>
            <a:off x="4068792" y="556043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DBCFFC0-BDB9-0D3C-BCA8-AAFA395427CA}"/>
              </a:ext>
            </a:extLst>
          </p:cNvPr>
          <p:cNvSpPr/>
          <p:nvPr/>
        </p:nvSpPr>
        <p:spPr>
          <a:xfrm rot="19439823">
            <a:off x="5332074" y="489023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30B8533-C799-52D0-1A75-D21173CEB4D6}"/>
              </a:ext>
            </a:extLst>
          </p:cNvPr>
          <p:cNvSpPr/>
          <p:nvPr/>
        </p:nvSpPr>
        <p:spPr>
          <a:xfrm>
            <a:off x="6074136" y="492047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487D0553-96C6-A4AD-D3E4-2D70595F5C86}"/>
              </a:ext>
            </a:extLst>
          </p:cNvPr>
          <p:cNvSpPr/>
          <p:nvPr/>
        </p:nvSpPr>
        <p:spPr>
          <a:xfrm>
            <a:off x="5332073" y="309697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BDA69B19-93F1-FA4F-67C4-CFC63239E269}"/>
              </a:ext>
            </a:extLst>
          </p:cNvPr>
          <p:cNvSpPr/>
          <p:nvPr/>
        </p:nvSpPr>
        <p:spPr>
          <a:xfrm>
            <a:off x="7356434" y="394674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A44F091-DD3E-D09C-C77B-FC612F47FA71}"/>
              </a:ext>
            </a:extLst>
          </p:cNvPr>
          <p:cNvSpPr/>
          <p:nvPr/>
        </p:nvSpPr>
        <p:spPr>
          <a:xfrm>
            <a:off x="6660657" y="333432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9A22378B-5D2A-D2E2-21BA-7FEE5BCB4C69}"/>
              </a:ext>
            </a:extLst>
          </p:cNvPr>
          <p:cNvSpPr/>
          <p:nvPr/>
        </p:nvSpPr>
        <p:spPr>
          <a:xfrm>
            <a:off x="6048072" y="325298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EBA4234-4E7B-022C-F197-FD110B950CEA}"/>
              </a:ext>
            </a:extLst>
          </p:cNvPr>
          <p:cNvSpPr/>
          <p:nvPr/>
        </p:nvSpPr>
        <p:spPr>
          <a:xfrm rot="19439823">
            <a:off x="6584456" y="428151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B8C3B77-6EAE-A31F-A632-48922A50C1A1}"/>
              </a:ext>
            </a:extLst>
          </p:cNvPr>
          <p:cNvSpPr/>
          <p:nvPr/>
        </p:nvSpPr>
        <p:spPr>
          <a:xfrm>
            <a:off x="5966767" y="37742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EBA23137-1332-30B6-C899-25044D358BCB}"/>
              </a:ext>
            </a:extLst>
          </p:cNvPr>
          <p:cNvSpPr/>
          <p:nvPr/>
        </p:nvSpPr>
        <p:spPr>
          <a:xfrm>
            <a:off x="6883162" y="301912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AEB23F47-E00A-F691-36A3-25601E8B8EBC}"/>
              </a:ext>
            </a:extLst>
          </p:cNvPr>
          <p:cNvSpPr/>
          <p:nvPr/>
        </p:nvSpPr>
        <p:spPr>
          <a:xfrm rot="19439823">
            <a:off x="7539072" y="26707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43" name="직선 연결선[R] 42">
            <a:extLst>
              <a:ext uri="{FF2B5EF4-FFF2-40B4-BE49-F238E27FC236}">
                <a16:creationId xmlns:a16="http://schemas.microsoft.com/office/drawing/2014/main" id="{A2A17AA1-939C-D5A3-0923-F77BB827EA02}"/>
              </a:ext>
            </a:extLst>
          </p:cNvPr>
          <p:cNvCxnSpPr/>
          <p:nvPr/>
        </p:nvCxnSpPr>
        <p:spPr>
          <a:xfrm flipV="1">
            <a:off x="2855573" y="2612838"/>
            <a:ext cx="5731078" cy="361956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E469E54-55C7-E941-7817-1FB4DDB7EF0D}"/>
                  </a:ext>
                </a:extLst>
              </p:cNvPr>
              <p:cNvSpPr txBox="1"/>
              <p:nvPr/>
            </p:nvSpPr>
            <p:spPr>
              <a:xfrm>
                <a:off x="8358449" y="6222168"/>
                <a:ext cx="4051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𝑥</m:t>
                      </m:r>
                    </m:oMath>
                  </m:oMathPara>
                </a14:m>
                <a:endParaRPr kumimoji="1"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E469E54-55C7-E941-7817-1FB4DDB7E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449" y="6222168"/>
                <a:ext cx="40519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15497F-39DB-FA29-9E00-221522E90461}"/>
                  </a:ext>
                </a:extLst>
              </p:cNvPr>
              <p:cNvSpPr txBox="1"/>
              <p:nvPr/>
            </p:nvSpPr>
            <p:spPr>
              <a:xfrm>
                <a:off x="2544117" y="2439123"/>
                <a:ext cx="4051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</m:oMath>
                  </m:oMathPara>
                </a14:m>
                <a:endParaRPr kumimoji="1"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15497F-39DB-FA29-9E00-221522E90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117" y="2439123"/>
                <a:ext cx="405197" cy="307777"/>
              </a:xfrm>
              <a:prstGeom prst="rect">
                <a:avLst/>
              </a:prstGeom>
              <a:blipFill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FF2360-73F2-F6B8-EAC0-466CD6C5219B}"/>
                  </a:ext>
                </a:extLst>
              </p:cNvPr>
              <p:cNvSpPr txBox="1"/>
              <p:nvPr/>
            </p:nvSpPr>
            <p:spPr>
              <a:xfrm>
                <a:off x="8507877" y="2397709"/>
                <a:ext cx="12931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𝑎𝑥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+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𝑏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FF2360-73F2-F6B8-EAC0-466CD6C52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877" y="2397709"/>
                <a:ext cx="1293153" cy="338554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449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9F761285-B948-EC67-E32B-B2C84A0EB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B878F5A6-91FB-5D77-81FB-19F9E1978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데이터를 가장 잘 표현하는 직선 찾기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B4E5358C-193F-91FB-CE84-36BAA0B00025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05EF6F51-1F4D-019F-2F3E-10C298F028A9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17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3D22A0F-56F5-5676-117B-EB0B08F1EDED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A1EC246E-B7AC-6149-E108-6DD07C4D84D5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00918065-6703-280B-65F7-26495EBDBB10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Linear Regression/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선형회귀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75D57CE-A83B-E9C0-4067-C523A6A15551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81D21FB-61AF-E872-7E1A-693E9A49505D}"/>
              </a:ext>
            </a:extLst>
          </p:cNvPr>
          <p:cNvCxnSpPr>
            <a:cxnSpLocks/>
          </p:cNvCxnSpPr>
          <p:nvPr/>
        </p:nvCxnSpPr>
        <p:spPr>
          <a:xfrm>
            <a:off x="2855573" y="6386294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DA0420E-067D-CFBD-27A9-C167B1B08554}"/>
              </a:ext>
            </a:extLst>
          </p:cNvPr>
          <p:cNvCxnSpPr>
            <a:cxnSpLocks/>
          </p:cNvCxnSpPr>
          <p:nvPr/>
        </p:nvCxnSpPr>
        <p:spPr>
          <a:xfrm flipV="1">
            <a:off x="2979398" y="2547719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E81D780F-FA97-3420-0029-7E1D58FCAF65}"/>
              </a:ext>
            </a:extLst>
          </p:cNvPr>
          <p:cNvSpPr/>
          <p:nvPr/>
        </p:nvSpPr>
        <p:spPr>
          <a:xfrm>
            <a:off x="3455648" y="610225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FBC8BD6-8A8A-8A43-5D3C-E6F64E866C06}"/>
              </a:ext>
            </a:extLst>
          </p:cNvPr>
          <p:cNvSpPr/>
          <p:nvPr/>
        </p:nvSpPr>
        <p:spPr>
          <a:xfrm>
            <a:off x="3357988" y="562692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E441B63-9645-82A0-B6F8-41AF568C928F}"/>
              </a:ext>
            </a:extLst>
          </p:cNvPr>
          <p:cNvSpPr/>
          <p:nvPr/>
        </p:nvSpPr>
        <p:spPr>
          <a:xfrm>
            <a:off x="4361335" y="458017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E0EA99D-39F5-75D5-D90D-29C86F842275}"/>
              </a:ext>
            </a:extLst>
          </p:cNvPr>
          <p:cNvSpPr/>
          <p:nvPr/>
        </p:nvSpPr>
        <p:spPr>
          <a:xfrm>
            <a:off x="4068792" y="556043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94482E1-B64E-D212-B3AA-5A04CF2FB7DC}"/>
              </a:ext>
            </a:extLst>
          </p:cNvPr>
          <p:cNvSpPr/>
          <p:nvPr/>
        </p:nvSpPr>
        <p:spPr>
          <a:xfrm rot="19439823">
            <a:off x="5332074" y="489023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AC2DF19-985D-CCCE-5062-4DE60176DF8A}"/>
              </a:ext>
            </a:extLst>
          </p:cNvPr>
          <p:cNvSpPr/>
          <p:nvPr/>
        </p:nvSpPr>
        <p:spPr>
          <a:xfrm>
            <a:off x="6074136" y="492047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AE110BE-BE22-6DA0-724F-1FF4D0EB8EA0}"/>
              </a:ext>
            </a:extLst>
          </p:cNvPr>
          <p:cNvSpPr/>
          <p:nvPr/>
        </p:nvSpPr>
        <p:spPr>
          <a:xfrm>
            <a:off x="5332073" y="309697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3BE55FB-FAE6-7034-2946-A5B9A1E6A95A}"/>
              </a:ext>
            </a:extLst>
          </p:cNvPr>
          <p:cNvSpPr/>
          <p:nvPr/>
        </p:nvSpPr>
        <p:spPr>
          <a:xfrm>
            <a:off x="7356434" y="394674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113BCF9-B518-5BE4-79A4-E7BB8681AB1A}"/>
              </a:ext>
            </a:extLst>
          </p:cNvPr>
          <p:cNvSpPr/>
          <p:nvPr/>
        </p:nvSpPr>
        <p:spPr>
          <a:xfrm>
            <a:off x="6660657" y="333432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7B10CE1-E3CC-5334-79D1-8BEADFCCE21D}"/>
              </a:ext>
            </a:extLst>
          </p:cNvPr>
          <p:cNvSpPr/>
          <p:nvPr/>
        </p:nvSpPr>
        <p:spPr>
          <a:xfrm>
            <a:off x="6048072" y="325298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F449DCE-9D00-07E5-4D27-5927FFA01A3A}"/>
              </a:ext>
            </a:extLst>
          </p:cNvPr>
          <p:cNvSpPr/>
          <p:nvPr/>
        </p:nvSpPr>
        <p:spPr>
          <a:xfrm rot="19439823">
            <a:off x="6584456" y="428151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1F23BBD5-C2C2-3F8C-C885-4FA0251B033A}"/>
              </a:ext>
            </a:extLst>
          </p:cNvPr>
          <p:cNvSpPr/>
          <p:nvPr/>
        </p:nvSpPr>
        <p:spPr>
          <a:xfrm>
            <a:off x="5966767" y="37742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CCEB039-BAE3-6138-0260-B78E1724CBA6}"/>
              </a:ext>
            </a:extLst>
          </p:cNvPr>
          <p:cNvSpPr/>
          <p:nvPr/>
        </p:nvSpPr>
        <p:spPr>
          <a:xfrm>
            <a:off x="6883162" y="301912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AB68D065-FCFA-0A69-91BB-0CAEC042FFF1}"/>
              </a:ext>
            </a:extLst>
          </p:cNvPr>
          <p:cNvSpPr/>
          <p:nvPr/>
        </p:nvSpPr>
        <p:spPr>
          <a:xfrm rot="19439823">
            <a:off x="7539072" y="26707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43" name="직선 연결선[R] 42">
            <a:extLst>
              <a:ext uri="{FF2B5EF4-FFF2-40B4-BE49-F238E27FC236}">
                <a16:creationId xmlns:a16="http://schemas.microsoft.com/office/drawing/2014/main" id="{4E26994A-30D5-48EB-0B37-997EC79F7B50}"/>
              </a:ext>
            </a:extLst>
          </p:cNvPr>
          <p:cNvCxnSpPr/>
          <p:nvPr/>
        </p:nvCxnSpPr>
        <p:spPr>
          <a:xfrm flipV="1">
            <a:off x="2855573" y="2612838"/>
            <a:ext cx="5731078" cy="361956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9DFA09-D8B9-3DB3-7F36-692DB01AB315}"/>
                  </a:ext>
                </a:extLst>
              </p:cNvPr>
              <p:cNvSpPr txBox="1"/>
              <p:nvPr/>
            </p:nvSpPr>
            <p:spPr>
              <a:xfrm>
                <a:off x="8358449" y="6222168"/>
                <a:ext cx="4051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𝑥</m:t>
                      </m:r>
                    </m:oMath>
                  </m:oMathPara>
                </a14:m>
                <a:endParaRPr kumimoji="1"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9DFA09-D8B9-3DB3-7F36-692DB01AB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449" y="6222168"/>
                <a:ext cx="40519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E4E223-3277-C2BB-092C-7DFBFCEE17B0}"/>
                  </a:ext>
                </a:extLst>
              </p:cNvPr>
              <p:cNvSpPr txBox="1"/>
              <p:nvPr/>
            </p:nvSpPr>
            <p:spPr>
              <a:xfrm>
                <a:off x="2544117" y="2439123"/>
                <a:ext cx="4051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</m:oMath>
                  </m:oMathPara>
                </a14:m>
                <a:endParaRPr kumimoji="1"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E4E223-3277-C2BB-092C-7DFBFCEE1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117" y="2439123"/>
                <a:ext cx="405197" cy="307777"/>
              </a:xfrm>
              <a:prstGeom prst="rect">
                <a:avLst/>
              </a:prstGeom>
              <a:blipFill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CC699C-71B6-8AF0-AAE7-E3AC583E4FF7}"/>
                  </a:ext>
                </a:extLst>
              </p:cNvPr>
              <p:cNvSpPr txBox="1"/>
              <p:nvPr/>
            </p:nvSpPr>
            <p:spPr>
              <a:xfrm>
                <a:off x="8507877" y="2397709"/>
                <a:ext cx="12931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𝑎𝑥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+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𝑏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CC699C-71B6-8AF0-AAE7-E3AC583E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877" y="2397709"/>
                <a:ext cx="1293153" cy="338554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F0362F5D-B688-85AB-3875-686E4403FF39}"/>
              </a:ext>
            </a:extLst>
          </p:cNvPr>
          <p:cNvCxnSpPr>
            <a:cxnSpLocks/>
          </p:cNvCxnSpPr>
          <p:nvPr/>
        </p:nvCxnSpPr>
        <p:spPr>
          <a:xfrm>
            <a:off x="4437535" y="4732579"/>
            <a:ext cx="0" cy="50816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5A099A63-B333-5146-A81D-58E465ECF9E0}"/>
              </a:ext>
            </a:extLst>
          </p:cNvPr>
          <p:cNvCxnSpPr>
            <a:cxnSpLocks/>
          </p:cNvCxnSpPr>
          <p:nvPr/>
        </p:nvCxnSpPr>
        <p:spPr>
          <a:xfrm>
            <a:off x="3434188" y="5799800"/>
            <a:ext cx="0" cy="687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EF916032-DB54-7CE0-D16F-F699DA226051}"/>
              </a:ext>
            </a:extLst>
          </p:cNvPr>
          <p:cNvCxnSpPr>
            <a:cxnSpLocks/>
          </p:cNvCxnSpPr>
          <p:nvPr/>
        </p:nvCxnSpPr>
        <p:spPr>
          <a:xfrm>
            <a:off x="3533624" y="5779328"/>
            <a:ext cx="0" cy="32293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66BF5B73-2430-C43E-13C3-BCCF0229CFA0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4144992" y="5411337"/>
            <a:ext cx="0" cy="14909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id="{FB28D675-2428-1C4E-C51C-0F902A12A995}"/>
              </a:ext>
            </a:extLst>
          </p:cNvPr>
          <p:cNvCxnSpPr>
            <a:cxnSpLocks/>
          </p:cNvCxnSpPr>
          <p:nvPr/>
        </p:nvCxnSpPr>
        <p:spPr>
          <a:xfrm>
            <a:off x="5408273" y="3249371"/>
            <a:ext cx="0" cy="140700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[R] 31">
            <a:extLst>
              <a:ext uri="{FF2B5EF4-FFF2-40B4-BE49-F238E27FC236}">
                <a16:creationId xmlns:a16="http://schemas.microsoft.com/office/drawing/2014/main" id="{90E38B0B-FF2D-AB91-BFE9-A86560F150DB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6150336" y="4156494"/>
            <a:ext cx="2216" cy="7639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[R] 37">
            <a:extLst>
              <a:ext uri="{FF2B5EF4-FFF2-40B4-BE49-F238E27FC236}">
                <a16:creationId xmlns:a16="http://schemas.microsoft.com/office/drawing/2014/main" id="{17A9202B-AD74-ED73-F956-4815F2772D0C}"/>
              </a:ext>
            </a:extLst>
          </p:cNvPr>
          <p:cNvCxnSpPr>
            <a:cxnSpLocks/>
          </p:cNvCxnSpPr>
          <p:nvPr/>
        </p:nvCxnSpPr>
        <p:spPr>
          <a:xfrm>
            <a:off x="6744291" y="3486722"/>
            <a:ext cx="0" cy="31736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590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787ABE8B-8EEE-EDCF-3E4A-0DDD4BDE2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29E078A9-6B74-66EF-9002-92217122C0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Least/Mean Square Error</a:t>
            </a: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219CB8B6-EB32-3D20-F115-8AD560C3FEDD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189176DE-0E57-A769-EB5A-22DF237544EB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18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3F537E8-5DD4-E6EA-AB16-E650870DA14E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5F5A3604-30F6-18F4-6D61-0EF4A8D22D27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A184098D-DB80-9300-F7ED-744F088C7E67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Linear Regression/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선형회귀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FCCD427-D463-7947-D86A-12806058D2AC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DFF56A29-B13F-A7FB-3712-49645060B474}"/>
              </a:ext>
            </a:extLst>
          </p:cNvPr>
          <p:cNvCxnSpPr>
            <a:cxnSpLocks/>
          </p:cNvCxnSpPr>
          <p:nvPr/>
        </p:nvCxnSpPr>
        <p:spPr>
          <a:xfrm>
            <a:off x="2855573" y="6386294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470D7ABD-636F-72C6-93A6-251269D7B61B}"/>
              </a:ext>
            </a:extLst>
          </p:cNvPr>
          <p:cNvCxnSpPr>
            <a:cxnSpLocks/>
          </p:cNvCxnSpPr>
          <p:nvPr/>
        </p:nvCxnSpPr>
        <p:spPr>
          <a:xfrm flipV="1">
            <a:off x="2979398" y="2547719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641C7ABF-FDF3-C2AC-08EF-4340DCC4ABA2}"/>
              </a:ext>
            </a:extLst>
          </p:cNvPr>
          <p:cNvSpPr/>
          <p:nvPr/>
        </p:nvSpPr>
        <p:spPr>
          <a:xfrm>
            <a:off x="3455648" y="610225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B9CF02E-AB29-8765-B709-9245EF7624B3}"/>
              </a:ext>
            </a:extLst>
          </p:cNvPr>
          <p:cNvSpPr/>
          <p:nvPr/>
        </p:nvSpPr>
        <p:spPr>
          <a:xfrm>
            <a:off x="3357988" y="562692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1E4F03A-BAF5-954C-E856-B40B854AECF7}"/>
              </a:ext>
            </a:extLst>
          </p:cNvPr>
          <p:cNvSpPr/>
          <p:nvPr/>
        </p:nvSpPr>
        <p:spPr>
          <a:xfrm>
            <a:off x="4361335" y="458017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D889E55-FD6F-2F38-3649-18F2768F7DE1}"/>
              </a:ext>
            </a:extLst>
          </p:cNvPr>
          <p:cNvSpPr/>
          <p:nvPr/>
        </p:nvSpPr>
        <p:spPr>
          <a:xfrm>
            <a:off x="4068792" y="556043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E544880-AE81-2043-57AF-276FE3490A3B}"/>
              </a:ext>
            </a:extLst>
          </p:cNvPr>
          <p:cNvSpPr/>
          <p:nvPr/>
        </p:nvSpPr>
        <p:spPr>
          <a:xfrm rot="19439823">
            <a:off x="5332074" y="489023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4BA30B5-99D3-3DB7-A6DE-E71917CA79A0}"/>
              </a:ext>
            </a:extLst>
          </p:cNvPr>
          <p:cNvSpPr/>
          <p:nvPr/>
        </p:nvSpPr>
        <p:spPr>
          <a:xfrm>
            <a:off x="6074136" y="492047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A7A1E7C-0E5D-B613-A62A-1F82B384FDB3}"/>
              </a:ext>
            </a:extLst>
          </p:cNvPr>
          <p:cNvSpPr/>
          <p:nvPr/>
        </p:nvSpPr>
        <p:spPr>
          <a:xfrm>
            <a:off x="5332073" y="309697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A1F9548-EAB9-4067-A580-61CB159F5FF5}"/>
              </a:ext>
            </a:extLst>
          </p:cNvPr>
          <p:cNvSpPr/>
          <p:nvPr/>
        </p:nvSpPr>
        <p:spPr>
          <a:xfrm>
            <a:off x="7356434" y="394674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E25DADF3-F8C3-C854-43EC-E630E7567C76}"/>
              </a:ext>
            </a:extLst>
          </p:cNvPr>
          <p:cNvSpPr/>
          <p:nvPr/>
        </p:nvSpPr>
        <p:spPr>
          <a:xfrm>
            <a:off x="6660657" y="333432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0E6A81D-2FE0-3BCD-D4F7-D1C933A78D63}"/>
              </a:ext>
            </a:extLst>
          </p:cNvPr>
          <p:cNvSpPr/>
          <p:nvPr/>
        </p:nvSpPr>
        <p:spPr>
          <a:xfrm>
            <a:off x="6048072" y="325298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3CF7F60-7C6B-314A-6809-C9E464111BFD}"/>
              </a:ext>
            </a:extLst>
          </p:cNvPr>
          <p:cNvSpPr/>
          <p:nvPr/>
        </p:nvSpPr>
        <p:spPr>
          <a:xfrm rot="19439823">
            <a:off x="6584456" y="428151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6C356505-E1C3-92BE-3DCA-750BEDF0F104}"/>
              </a:ext>
            </a:extLst>
          </p:cNvPr>
          <p:cNvSpPr/>
          <p:nvPr/>
        </p:nvSpPr>
        <p:spPr>
          <a:xfrm>
            <a:off x="5966767" y="37742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F6253832-C823-690F-733F-CDC108B7F289}"/>
              </a:ext>
            </a:extLst>
          </p:cNvPr>
          <p:cNvSpPr/>
          <p:nvPr/>
        </p:nvSpPr>
        <p:spPr>
          <a:xfrm>
            <a:off x="6883162" y="301912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F929D722-9F53-D990-6C51-CB6799EE7ACD}"/>
              </a:ext>
            </a:extLst>
          </p:cNvPr>
          <p:cNvSpPr/>
          <p:nvPr/>
        </p:nvSpPr>
        <p:spPr>
          <a:xfrm rot="19439823">
            <a:off x="7539072" y="26707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cxnSp>
        <p:nvCxnSpPr>
          <p:cNvPr id="43" name="직선 연결선[R] 42">
            <a:extLst>
              <a:ext uri="{FF2B5EF4-FFF2-40B4-BE49-F238E27FC236}">
                <a16:creationId xmlns:a16="http://schemas.microsoft.com/office/drawing/2014/main" id="{E5501504-B9E3-0105-81A7-E55AAA01C060}"/>
              </a:ext>
            </a:extLst>
          </p:cNvPr>
          <p:cNvCxnSpPr/>
          <p:nvPr/>
        </p:nvCxnSpPr>
        <p:spPr>
          <a:xfrm flipV="1">
            <a:off x="2855573" y="2612838"/>
            <a:ext cx="5731078" cy="361956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EE6620-D4E2-F324-A5E9-0BA33A1E6BD4}"/>
                  </a:ext>
                </a:extLst>
              </p:cNvPr>
              <p:cNvSpPr txBox="1"/>
              <p:nvPr/>
            </p:nvSpPr>
            <p:spPr>
              <a:xfrm>
                <a:off x="8358449" y="6222168"/>
                <a:ext cx="40519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𝑥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EE6620-D4E2-F324-A5E9-0BA33A1E6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449" y="6222168"/>
                <a:ext cx="405197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A5F313-8C58-AF56-2A77-33AFEB1F008D}"/>
                  </a:ext>
                </a:extLst>
              </p:cNvPr>
              <p:cNvSpPr txBox="1"/>
              <p:nvPr/>
            </p:nvSpPr>
            <p:spPr>
              <a:xfrm>
                <a:off x="2544117" y="2439123"/>
                <a:ext cx="40519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A5F313-8C58-AF56-2A77-33AFEB1F0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117" y="2439123"/>
                <a:ext cx="405197" cy="338554"/>
              </a:xfrm>
              <a:prstGeom prst="rect">
                <a:avLst/>
              </a:prstGeom>
              <a:blipFill>
                <a:blip r:embed="rId4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25D37F-D7D7-B9C8-CCA1-4D54815D83FC}"/>
                  </a:ext>
                </a:extLst>
              </p:cNvPr>
              <p:cNvSpPr txBox="1"/>
              <p:nvPr/>
            </p:nvSpPr>
            <p:spPr>
              <a:xfrm>
                <a:off x="8507877" y="2397709"/>
                <a:ext cx="12931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𝑎𝑥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+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𝑏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25D37F-D7D7-B9C8-CCA1-4D54815D8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877" y="2397709"/>
                <a:ext cx="1293153" cy="338554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6D1FA370-255E-CE19-FC42-D14403813DE5}"/>
              </a:ext>
            </a:extLst>
          </p:cNvPr>
          <p:cNvCxnSpPr>
            <a:cxnSpLocks/>
          </p:cNvCxnSpPr>
          <p:nvPr/>
        </p:nvCxnSpPr>
        <p:spPr>
          <a:xfrm>
            <a:off x="4437535" y="4732579"/>
            <a:ext cx="0" cy="50816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D8561F98-2B13-8A91-F583-9F908EF29E44}"/>
              </a:ext>
            </a:extLst>
          </p:cNvPr>
          <p:cNvCxnSpPr>
            <a:cxnSpLocks/>
          </p:cNvCxnSpPr>
          <p:nvPr/>
        </p:nvCxnSpPr>
        <p:spPr>
          <a:xfrm>
            <a:off x="3434188" y="5799800"/>
            <a:ext cx="0" cy="687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E6F639E3-7B42-2FE2-1D45-AE8622CCE630}"/>
              </a:ext>
            </a:extLst>
          </p:cNvPr>
          <p:cNvCxnSpPr>
            <a:cxnSpLocks/>
          </p:cNvCxnSpPr>
          <p:nvPr/>
        </p:nvCxnSpPr>
        <p:spPr>
          <a:xfrm>
            <a:off x="3533624" y="5779328"/>
            <a:ext cx="0" cy="32293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FAA78B90-739E-AE63-CF98-92357A535D42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4144992" y="5411337"/>
            <a:ext cx="0" cy="14909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id="{175B4B04-3E1E-7662-4B42-2F68036B7A2D}"/>
              </a:ext>
            </a:extLst>
          </p:cNvPr>
          <p:cNvCxnSpPr>
            <a:cxnSpLocks/>
          </p:cNvCxnSpPr>
          <p:nvPr/>
        </p:nvCxnSpPr>
        <p:spPr>
          <a:xfrm>
            <a:off x="5408273" y="3249371"/>
            <a:ext cx="0" cy="140700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[R] 31">
            <a:extLst>
              <a:ext uri="{FF2B5EF4-FFF2-40B4-BE49-F238E27FC236}">
                <a16:creationId xmlns:a16="http://schemas.microsoft.com/office/drawing/2014/main" id="{1FA27531-E770-C3B4-34C2-2F87FE98034C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6150336" y="4156494"/>
            <a:ext cx="2216" cy="7639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[R] 37">
            <a:extLst>
              <a:ext uri="{FF2B5EF4-FFF2-40B4-BE49-F238E27FC236}">
                <a16:creationId xmlns:a16="http://schemas.microsoft.com/office/drawing/2014/main" id="{3259CFA5-EB74-C2F2-9252-CE9B077FD71F}"/>
              </a:ext>
            </a:extLst>
          </p:cNvPr>
          <p:cNvCxnSpPr>
            <a:cxnSpLocks/>
          </p:cNvCxnSpPr>
          <p:nvPr/>
        </p:nvCxnSpPr>
        <p:spPr>
          <a:xfrm>
            <a:off x="6744291" y="3486722"/>
            <a:ext cx="0" cy="31736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3CD88F-55F6-9473-F18F-E457586641B6}"/>
                  </a:ext>
                </a:extLst>
              </p:cNvPr>
              <p:cNvSpPr txBox="1"/>
              <p:nvPr/>
            </p:nvSpPr>
            <p:spPr>
              <a:xfrm>
                <a:off x="3035716" y="5284844"/>
                <a:ext cx="7870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,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3CD88F-55F6-9473-F18F-E45758664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716" y="5284844"/>
                <a:ext cx="787004" cy="338554"/>
              </a:xfrm>
              <a:prstGeom prst="rect">
                <a:avLst/>
              </a:prstGeom>
              <a:blipFill>
                <a:blip r:embed="rId6"/>
                <a:stretch>
                  <a:fillRect l="-1613" r="-6452" b="-18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FBEA72-B409-0E03-4453-DED89C471357}"/>
                  </a:ext>
                </a:extLst>
              </p:cNvPr>
              <p:cNvSpPr txBox="1"/>
              <p:nvPr/>
            </p:nvSpPr>
            <p:spPr>
              <a:xfrm>
                <a:off x="7356434" y="2295471"/>
                <a:ext cx="7870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,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FBEA72-B409-0E03-4453-DED89C471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434" y="2295471"/>
                <a:ext cx="787004" cy="338554"/>
              </a:xfrm>
              <a:prstGeom prst="rect">
                <a:avLst/>
              </a:prstGeom>
              <a:blipFill>
                <a:blip r:embed="rId7"/>
                <a:stretch>
                  <a:fillRect l="-1587" r="-7937" b="-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312B65DF-C6A1-48B5-B912-7A72EB344940}"/>
              </a:ext>
            </a:extLst>
          </p:cNvPr>
          <p:cNvCxnSpPr>
            <a:cxnSpLocks/>
          </p:cNvCxnSpPr>
          <p:nvPr/>
        </p:nvCxnSpPr>
        <p:spPr>
          <a:xfrm flipH="1">
            <a:off x="7615272" y="2824506"/>
            <a:ext cx="2216" cy="40972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74E8B22-2CB7-CA19-5BDF-4D2EF4E4B491}"/>
                  </a:ext>
                </a:extLst>
              </p:cNvPr>
              <p:cNvSpPr txBox="1"/>
              <p:nvPr/>
            </p:nvSpPr>
            <p:spPr>
              <a:xfrm>
                <a:off x="2974174" y="3687785"/>
                <a:ext cx="198822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𝑘</m:t>
                              </m:r>
                            </m:sub>
                          </m:s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−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kumimoji="1" lang="en-US" altLang="ko-KR" sz="1600" b="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=|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𝑘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−(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𝑎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𝑘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+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𝑏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)|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74E8B22-2CB7-CA19-5BDF-4D2EF4E4B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174" y="3687785"/>
                <a:ext cx="1988220" cy="584775"/>
              </a:xfrm>
              <a:prstGeom prst="rect">
                <a:avLst/>
              </a:prstGeom>
              <a:blipFill>
                <a:blip r:embed="rId8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914A09-82FB-BB60-E53E-704CB5DF3622}"/>
                  </a:ext>
                </a:extLst>
              </p:cNvPr>
              <p:cNvSpPr txBox="1"/>
              <p:nvPr/>
            </p:nvSpPr>
            <p:spPr>
              <a:xfrm>
                <a:off x="5014360" y="2766941"/>
                <a:ext cx="7870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𝑘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,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𝑘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914A09-82FB-BB60-E53E-704CB5DF3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360" y="2766941"/>
                <a:ext cx="787004" cy="338554"/>
              </a:xfrm>
              <a:prstGeom prst="rect">
                <a:avLst/>
              </a:prstGeom>
              <a:blipFill>
                <a:blip r:embed="rId9"/>
                <a:stretch>
                  <a:fillRect l="-1613" r="-9677" b="-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왼쪽 중괄호[L] 27">
            <a:extLst>
              <a:ext uri="{FF2B5EF4-FFF2-40B4-BE49-F238E27FC236}">
                <a16:creationId xmlns:a16="http://schemas.microsoft.com/office/drawing/2014/main" id="{A6DCC7ED-25EA-CD77-8ABB-FF4229FAECD7}"/>
              </a:ext>
            </a:extLst>
          </p:cNvPr>
          <p:cNvSpPr/>
          <p:nvPr/>
        </p:nvSpPr>
        <p:spPr>
          <a:xfrm>
            <a:off x="4887064" y="3234231"/>
            <a:ext cx="360886" cy="1422148"/>
          </a:xfrm>
          <a:prstGeom prst="leftBrac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7D3429-CD23-5568-256B-6DAB6DA179EE}"/>
                  </a:ext>
                </a:extLst>
              </p:cNvPr>
              <p:cNvSpPr txBox="1"/>
              <p:nvPr/>
            </p:nvSpPr>
            <p:spPr>
              <a:xfrm>
                <a:off x="8430782" y="3191133"/>
                <a:ext cx="210181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−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kumimoji="1" lang="en-US" altLang="ko-KR" sz="1600" b="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=|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−(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𝑎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+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𝑏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)|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7D3429-CD23-5568-256B-6DAB6DA17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0782" y="3191133"/>
                <a:ext cx="2101812" cy="584775"/>
              </a:xfrm>
              <a:prstGeom prst="rect">
                <a:avLst/>
              </a:prstGeom>
              <a:blipFill>
                <a:blip r:embed="rId10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구부러진 연결선[U] 32">
            <a:extLst>
              <a:ext uri="{FF2B5EF4-FFF2-40B4-BE49-F238E27FC236}">
                <a16:creationId xmlns:a16="http://schemas.microsoft.com/office/drawing/2014/main" id="{27C8C6BD-6C16-F63A-1941-C87238FD9DC4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7615272" y="3019123"/>
            <a:ext cx="815510" cy="464398"/>
          </a:xfrm>
          <a:prstGeom prst="curvedConnector3">
            <a:avLst>
              <a:gd name="adj1" fmla="val 50000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449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06D5B74E-FC14-0B8A-7BB5-CD5724BF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B459C4D3-4697-1711-E6B3-846D2A995B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데이터를 가장 잘 표현하는 직선 찾기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3AB7E4C5-B982-2E4D-8A0E-6913D8DA40F3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04125748-CBF1-4B12-512D-C827DD142B1D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19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E4CFF2C-EAB4-B95A-716B-9B5860802AEC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6ACCBE8D-E130-D276-8362-67AF2D43C92F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44BFD3BF-52CE-93C2-8406-4F8B773D7E99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Linear Regression/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선형회귀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E32AF3C-62BA-BAAA-11D6-EF3F9309F5A5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D3B96C-97AC-6DC9-640A-5A33AB8852BB}"/>
                  </a:ext>
                </a:extLst>
              </p:cNvPr>
              <p:cNvSpPr txBox="1"/>
              <p:nvPr/>
            </p:nvSpPr>
            <p:spPr>
              <a:xfrm>
                <a:off x="2813557" y="2529092"/>
                <a:ext cx="6432145" cy="1436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𝐿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𝑖</m:t>
                          </m:r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ko-KR" sz="32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ko-KR" sz="32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ko-KR" sz="32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𝑎</m:t>
                                      </m:r>
                                      <m:sSub>
                                        <m:sSubPr>
                                          <m:ctrlPr>
                                            <a:rPr kumimoji="1" lang="en-US" altLang="ko-KR" sz="32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sz="32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sz="32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+</m:t>
                                      </m:r>
                                      <m: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kumimoji="1" lang="en-US" altLang="ko-KR" sz="32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𝑔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(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𝑎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,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𝑏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</m:t>
                      </m:r>
                    </m:oMath>
                  </m:oMathPara>
                </a14:m>
                <a:endParaRPr kumimoji="1" lang="ko-KR" altLang="en-US" sz="32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D3B96C-97AC-6DC9-640A-5A33AB885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557" y="2529092"/>
                <a:ext cx="6432145" cy="1436675"/>
              </a:xfrm>
              <a:prstGeom prst="rect">
                <a:avLst/>
              </a:prstGeom>
              <a:blipFill>
                <a:blip r:embed="rId3"/>
                <a:stretch>
                  <a:fillRect l="-9449" t="-109649" b="-16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BD3A692-A1FC-ED7B-5D58-F9C0513C3BF0}"/>
                  </a:ext>
                </a:extLst>
              </p:cNvPr>
              <p:cNvSpPr txBox="1"/>
              <p:nvPr/>
            </p:nvSpPr>
            <p:spPr>
              <a:xfrm>
                <a:off x="3683154" y="4210465"/>
                <a:ext cx="4692951" cy="594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𝑔</m:t>
                      </m:r>
                      <m:d>
                        <m:dPr>
                          <m:ctrlP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dPr>
                        <m:e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𝑎</m:t>
                          </m:r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,</m:t>
                          </m:r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𝑏</m:t>
                          </m:r>
                        </m:e>
                      </m:d>
                      <m:r>
                        <a:rPr kumimoji="1" lang="ko-KR" altLang="en-US" sz="320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 </m:t>
                      </m:r>
                      <m:r>
                        <a:rPr kumimoji="1" lang="ko-KR" altLang="en-US" sz="3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최</m:t>
                      </m:r>
                      <m:r>
                        <a:rPr kumimoji="1" lang="ko-KR" altLang="en-US" sz="320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소</m:t>
                      </m:r>
                      <m:r>
                        <a:rPr kumimoji="1" lang="ko-KR" altLang="en-US" sz="3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가</m:t>
                      </m:r>
                      <m:r>
                        <a:rPr kumimoji="1" lang="ko-KR" altLang="en-US" sz="3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 </m:t>
                      </m:r>
                      <m:r>
                        <a:rPr kumimoji="1" lang="ko-KR" altLang="en-US" sz="320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되</m:t>
                      </m:r>
                      <m:r>
                        <a:rPr kumimoji="1" lang="ko-KR" altLang="en-US" sz="3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는</m:t>
                      </m:r>
                      <m:r>
                        <a:rPr kumimoji="1" lang="ko-KR" altLang="en-US" sz="3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 </m:t>
                      </m:r>
                      <m:r>
                        <a:rPr kumimoji="1" lang="ko-KR" altLang="en-US" sz="320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경</m:t>
                      </m:r>
                      <m:r>
                        <a:rPr kumimoji="1" lang="ko-KR" altLang="en-US" sz="3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우</m:t>
                      </m:r>
                    </m:oMath>
                  </m:oMathPara>
                </a14:m>
                <a:endParaRPr kumimoji="1" lang="ko-KR" altLang="en-US" sz="32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BD3A692-A1FC-ED7B-5D58-F9C0513C3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154" y="4210465"/>
                <a:ext cx="4692951" cy="594137"/>
              </a:xfrm>
              <a:prstGeom prst="rect">
                <a:avLst/>
              </a:prstGeom>
              <a:blipFill>
                <a:blip r:embed="rId4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0044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35258E39-0748-AF79-79F2-CEFB42969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FECECE53-8459-9D39-4B27-F88260BC06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데이터를 가장 잘 표현하는 직선 찾기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12955E00-969D-ABDA-4E79-282BC3B61DEB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B22FDFF0-DB2A-716D-F682-C3DDFCD60406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20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939A931-FE56-25E5-1214-85C1C35F3C06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54428DFF-1690-FAB6-CFB1-1FA61056B1EB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BAE94EE4-BB28-A515-C9D8-770977406F41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Linear Regression/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선형회귀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8C1724A-309E-7438-2CF2-7DC67DA5955D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D77090-7650-0DDF-F773-B4C789B9C333}"/>
                  </a:ext>
                </a:extLst>
              </p:cNvPr>
              <p:cNvSpPr txBox="1"/>
              <p:nvPr/>
            </p:nvSpPr>
            <p:spPr>
              <a:xfrm>
                <a:off x="2813557" y="2529092"/>
                <a:ext cx="6432145" cy="1436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𝐿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𝑖</m:t>
                          </m:r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ko-KR" sz="32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ko-KR" sz="32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ko-KR" sz="32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𝑎</m:t>
                                      </m:r>
                                      <m:sSub>
                                        <m:sSubPr>
                                          <m:ctrlPr>
                                            <a:rPr kumimoji="1" lang="en-US" altLang="ko-KR" sz="32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sz="32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sz="32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+</m:t>
                                      </m:r>
                                      <m: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kumimoji="1" lang="en-US" altLang="ko-KR" sz="32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𝑔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(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𝑎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,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𝑏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</m:t>
                      </m:r>
                    </m:oMath>
                  </m:oMathPara>
                </a14:m>
                <a:endParaRPr kumimoji="1" lang="ko-KR" altLang="en-US" sz="32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D77090-7650-0DDF-F773-B4C789B9C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557" y="2529092"/>
                <a:ext cx="6432145" cy="1436675"/>
              </a:xfrm>
              <a:prstGeom prst="rect">
                <a:avLst/>
              </a:prstGeom>
              <a:blipFill>
                <a:blip r:embed="rId3"/>
                <a:stretch>
                  <a:fillRect l="-9449" t="-109649" b="-16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E1CDA3-9583-D89E-6584-BCFDFC94956E}"/>
                  </a:ext>
                </a:extLst>
              </p:cNvPr>
              <p:cNvSpPr txBox="1"/>
              <p:nvPr/>
            </p:nvSpPr>
            <p:spPr>
              <a:xfrm>
                <a:off x="1406408" y="5236478"/>
                <a:ext cx="9246442" cy="8163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sz="32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⇒</m:t>
                    </m:r>
                    <m:r>
                      <a:rPr kumimoji="1" lang="en-US" altLang="ko-KR" sz="3200" i="1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 </m:t>
                    </m:r>
                    <m:f>
                      <m:fPr>
                        <m:ctrlPr>
                          <a:rPr kumimoji="1" lang="en-US" altLang="ko-KR" sz="32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fPr>
                      <m:num>
                        <m:r>
                          <a:rPr kumimoji="1" lang="en-US" altLang="ko-KR" sz="32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𝜕</m:t>
                        </m:r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𝑔</m:t>
                        </m:r>
                      </m:num>
                      <m:den>
                        <m:r>
                          <a:rPr kumimoji="1" lang="en-US" altLang="ko-KR" sz="32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𝜕</m:t>
                        </m:r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𝑎</m:t>
                        </m:r>
                      </m:den>
                    </m:f>
                    <m:r>
                      <a:rPr kumimoji="1" lang="en-US" altLang="ko-KR" sz="32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=0,  </m:t>
                    </m:r>
                    <m:f>
                      <m:fPr>
                        <m:ctrlPr>
                          <a:rPr kumimoji="1" lang="en-US" altLang="ko-KR" sz="32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fPr>
                      <m:num>
                        <m:r>
                          <a:rPr kumimoji="1" lang="en-US" altLang="ko-KR" sz="32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𝜕</m:t>
                        </m:r>
                        <m:r>
                          <a:rPr kumimoji="1" lang="en-US" altLang="ko-KR" sz="32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𝑔</m:t>
                        </m:r>
                      </m:num>
                      <m:den>
                        <m:r>
                          <a:rPr kumimoji="1" lang="en-US" altLang="ko-KR" sz="32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𝜕</m:t>
                        </m:r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𝑏</m:t>
                        </m:r>
                      </m:den>
                    </m:f>
                    <m:r>
                      <a:rPr kumimoji="1" lang="en-US" altLang="ko-KR" sz="3200" i="1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=0</m:t>
                    </m:r>
                  </m:oMath>
                </a14:m>
                <a:r>
                  <a:rPr kumimoji="1" lang="en-US" altLang="ko-KR" sz="32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kumimoji="1" lang="ko-KR" altLang="en-US" sz="3200" dirty="0" err="1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를</a:t>
                </a:r>
                <a:r>
                  <a:rPr kumimoji="1" lang="ko-KR" altLang="en-US" sz="32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만족시키는 연립방정식의 해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E1CDA3-9583-D89E-6584-BCFDFC949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408" y="5236478"/>
                <a:ext cx="9246442" cy="816377"/>
              </a:xfrm>
              <a:prstGeom prst="rect">
                <a:avLst/>
              </a:prstGeom>
              <a:blipFill>
                <a:blip r:embed="rId4"/>
                <a:stretch>
                  <a:fillRect l="-137" r="-548" b="-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9F15F6-3B69-0454-BBCF-1A051D4A5A9F}"/>
                  </a:ext>
                </a:extLst>
              </p:cNvPr>
              <p:cNvSpPr txBox="1"/>
              <p:nvPr/>
            </p:nvSpPr>
            <p:spPr>
              <a:xfrm>
                <a:off x="3683154" y="4210465"/>
                <a:ext cx="4692951" cy="594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𝑔</m:t>
                      </m:r>
                      <m:d>
                        <m:dPr>
                          <m:ctrlP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dPr>
                        <m:e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𝑎</m:t>
                          </m:r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,</m:t>
                          </m:r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𝑏</m:t>
                          </m:r>
                        </m:e>
                      </m:d>
                      <m:r>
                        <a:rPr kumimoji="1" lang="ko-KR" altLang="en-US" sz="320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 </m:t>
                      </m:r>
                      <m:r>
                        <a:rPr kumimoji="1" lang="ko-KR" altLang="en-US" sz="3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최</m:t>
                      </m:r>
                      <m:r>
                        <a:rPr kumimoji="1" lang="ko-KR" altLang="en-US" sz="320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소</m:t>
                      </m:r>
                      <m:r>
                        <a:rPr kumimoji="1" lang="ko-KR" altLang="en-US" sz="3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가</m:t>
                      </m:r>
                      <m:r>
                        <a:rPr kumimoji="1" lang="ko-KR" altLang="en-US" sz="3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 </m:t>
                      </m:r>
                      <m:r>
                        <a:rPr kumimoji="1" lang="ko-KR" altLang="en-US" sz="320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되</m:t>
                      </m:r>
                      <m:r>
                        <a:rPr kumimoji="1" lang="ko-KR" altLang="en-US" sz="3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는</m:t>
                      </m:r>
                      <m:r>
                        <a:rPr kumimoji="1" lang="ko-KR" altLang="en-US" sz="3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 </m:t>
                      </m:r>
                      <m:r>
                        <a:rPr kumimoji="1" lang="ko-KR" altLang="en-US" sz="320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경</m:t>
                      </m:r>
                      <m:r>
                        <a:rPr kumimoji="1" lang="ko-KR" altLang="en-US" sz="3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우</m:t>
                      </m:r>
                    </m:oMath>
                  </m:oMathPara>
                </a14:m>
                <a:endParaRPr kumimoji="1" lang="ko-KR" altLang="en-US" sz="32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9F15F6-3B69-0454-BBCF-1A051D4A5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154" y="4210465"/>
                <a:ext cx="4692951" cy="594137"/>
              </a:xfrm>
              <a:prstGeom prst="rect">
                <a:avLst/>
              </a:prstGeom>
              <a:blipFill>
                <a:blip r:embed="rId5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7999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339D4656-717A-F415-6759-BB60CE9BB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4EDE6F73-30BD-DD45-5857-EFD75A295D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관계를 구하려는 데이터의 정답이 두가지 종류로 구분될 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82731E3A-8BFC-9AA9-CC45-C615804EA97C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28B0BEC3-FBA6-D476-6792-ACC31FA46871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21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CFEE5F2-D10B-6135-A5B3-DA58CC9B75D8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1B20C9AA-30A8-A685-8831-C203F6A4702C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CBC137E2-9FE8-491D-145D-5B89A8A2E5A1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Logistic Regression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0F3F798-D2B9-6CEA-4700-87C782482DAB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4C4F346-8843-65E7-C368-B9156CD680FF}"/>
              </a:ext>
            </a:extLst>
          </p:cNvPr>
          <p:cNvCxnSpPr>
            <a:cxnSpLocks/>
          </p:cNvCxnSpPr>
          <p:nvPr/>
        </p:nvCxnSpPr>
        <p:spPr>
          <a:xfrm>
            <a:off x="2855573" y="6142187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8C21607E-9946-541B-01EA-FE4D502CBBF6}"/>
              </a:ext>
            </a:extLst>
          </p:cNvPr>
          <p:cNvCxnSpPr>
            <a:cxnSpLocks/>
          </p:cNvCxnSpPr>
          <p:nvPr/>
        </p:nvCxnSpPr>
        <p:spPr>
          <a:xfrm flipV="1">
            <a:off x="2979398" y="2303612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07240C-8AEE-630B-D33F-CF2CFE06F787}"/>
              </a:ext>
            </a:extLst>
          </p:cNvPr>
          <p:cNvSpPr txBox="1"/>
          <p:nvPr/>
        </p:nvSpPr>
        <p:spPr>
          <a:xfrm>
            <a:off x="8434918" y="6007465"/>
            <a:ext cx="180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(mm)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E1EEFB-DDEA-201A-BE47-75CD9093E514}"/>
              </a:ext>
            </a:extLst>
          </p:cNvPr>
          <p:cNvSpPr txBox="1"/>
          <p:nvPr/>
        </p:nvSpPr>
        <p:spPr>
          <a:xfrm>
            <a:off x="2190179" y="2293324"/>
            <a:ext cx="95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성별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2C1D409-835B-71AB-5822-DFAC525E0A35}"/>
              </a:ext>
            </a:extLst>
          </p:cNvPr>
          <p:cNvSpPr/>
          <p:nvPr/>
        </p:nvSpPr>
        <p:spPr>
          <a:xfrm>
            <a:off x="301205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E4C231-5055-5855-D4D7-80938E0E0D63}"/>
              </a:ext>
            </a:extLst>
          </p:cNvPr>
          <p:cNvSpPr txBox="1"/>
          <p:nvPr/>
        </p:nvSpPr>
        <p:spPr>
          <a:xfrm>
            <a:off x="3088935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220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02DB15-AE77-6290-CBC5-DE20DF1EF058}"/>
              </a:ext>
            </a:extLst>
          </p:cNvPr>
          <p:cNvSpPr txBox="1"/>
          <p:nvPr/>
        </p:nvSpPr>
        <p:spPr>
          <a:xfrm>
            <a:off x="6736857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290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EA3529-1568-B4F3-C1E6-74FD0F7CDC13}"/>
              </a:ext>
            </a:extLst>
          </p:cNvPr>
          <p:cNvSpPr txBox="1"/>
          <p:nvPr/>
        </p:nvSpPr>
        <p:spPr>
          <a:xfrm>
            <a:off x="1872343" y="5999378"/>
            <a:ext cx="1208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여성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3CD680-A48E-F7D2-8A0D-8C398B43E3B2}"/>
              </a:ext>
            </a:extLst>
          </p:cNvPr>
          <p:cNvSpPr txBox="1"/>
          <p:nvPr/>
        </p:nvSpPr>
        <p:spPr>
          <a:xfrm>
            <a:off x="2026474" y="2715240"/>
            <a:ext cx="891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남성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0908B0F6-2AA3-A306-B228-4D16AA78ADB4}"/>
              </a:ext>
            </a:extLst>
          </p:cNvPr>
          <p:cNvSpPr/>
          <p:nvPr/>
        </p:nvSpPr>
        <p:spPr>
          <a:xfrm>
            <a:off x="3272433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CFC91D3-DD69-FD89-5718-FDA5B5EF511A}"/>
              </a:ext>
            </a:extLst>
          </p:cNvPr>
          <p:cNvSpPr/>
          <p:nvPr/>
        </p:nvSpPr>
        <p:spPr>
          <a:xfrm>
            <a:off x="3477158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1DD48F60-056C-9B8A-F0FD-C3B3F85562D5}"/>
              </a:ext>
            </a:extLst>
          </p:cNvPr>
          <p:cNvSpPr/>
          <p:nvPr/>
        </p:nvSpPr>
        <p:spPr>
          <a:xfrm>
            <a:off x="341042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6DC9FAC1-4128-7C29-7658-E7116A66EA39}"/>
              </a:ext>
            </a:extLst>
          </p:cNvPr>
          <p:cNvSpPr/>
          <p:nvPr/>
        </p:nvSpPr>
        <p:spPr>
          <a:xfrm>
            <a:off x="356989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DBF25FC1-9230-EB46-CBB5-63D98D7E65D0}"/>
              </a:ext>
            </a:extLst>
          </p:cNvPr>
          <p:cNvSpPr/>
          <p:nvPr/>
        </p:nvSpPr>
        <p:spPr>
          <a:xfrm>
            <a:off x="365933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136ACEE8-C540-0834-F671-176B170B8492}"/>
              </a:ext>
            </a:extLst>
          </p:cNvPr>
          <p:cNvSpPr/>
          <p:nvPr/>
        </p:nvSpPr>
        <p:spPr>
          <a:xfrm>
            <a:off x="3744434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2828DB2C-65B4-1571-DC67-97766C055086}"/>
              </a:ext>
            </a:extLst>
          </p:cNvPr>
          <p:cNvSpPr/>
          <p:nvPr/>
        </p:nvSpPr>
        <p:spPr>
          <a:xfrm>
            <a:off x="400386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07904BE0-585B-98CE-E479-067D6BDD004F}"/>
              </a:ext>
            </a:extLst>
          </p:cNvPr>
          <p:cNvSpPr/>
          <p:nvPr/>
        </p:nvSpPr>
        <p:spPr>
          <a:xfrm>
            <a:off x="3929491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5101BB6C-037C-5167-6227-726C2CA5769E}"/>
              </a:ext>
            </a:extLst>
          </p:cNvPr>
          <p:cNvSpPr/>
          <p:nvPr/>
        </p:nvSpPr>
        <p:spPr>
          <a:xfrm>
            <a:off x="411247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4BF13358-D379-10D9-D652-BF0934F44A2A}"/>
              </a:ext>
            </a:extLst>
          </p:cNvPr>
          <p:cNvSpPr/>
          <p:nvPr/>
        </p:nvSpPr>
        <p:spPr>
          <a:xfrm>
            <a:off x="402542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D3A82C8A-3B32-2F1C-2461-1D7DE1C54FD4}"/>
              </a:ext>
            </a:extLst>
          </p:cNvPr>
          <p:cNvSpPr/>
          <p:nvPr/>
        </p:nvSpPr>
        <p:spPr>
          <a:xfrm>
            <a:off x="4243142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17DD4BC2-3F14-4526-5D83-266CBFF6F238}"/>
              </a:ext>
            </a:extLst>
          </p:cNvPr>
          <p:cNvSpPr/>
          <p:nvPr/>
        </p:nvSpPr>
        <p:spPr>
          <a:xfrm>
            <a:off x="4482592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CE186305-3B56-BD43-82F7-AC94CF319CE4}"/>
              </a:ext>
            </a:extLst>
          </p:cNvPr>
          <p:cNvSpPr/>
          <p:nvPr/>
        </p:nvSpPr>
        <p:spPr>
          <a:xfrm>
            <a:off x="4368933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74F0B10-9ED4-37D3-5BCA-DDA54FCCB32D}"/>
              </a:ext>
            </a:extLst>
          </p:cNvPr>
          <p:cNvSpPr/>
          <p:nvPr/>
        </p:nvSpPr>
        <p:spPr>
          <a:xfrm>
            <a:off x="4587730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8745EB94-3621-C2DE-9C99-0910941A7D1F}"/>
              </a:ext>
            </a:extLst>
          </p:cNvPr>
          <p:cNvSpPr/>
          <p:nvPr/>
        </p:nvSpPr>
        <p:spPr>
          <a:xfrm rot="19439823">
            <a:off x="4829540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3BCA9667-AA40-EF44-0E0C-437641C00310}"/>
              </a:ext>
            </a:extLst>
          </p:cNvPr>
          <p:cNvSpPr/>
          <p:nvPr/>
        </p:nvSpPr>
        <p:spPr>
          <a:xfrm rot="19439823">
            <a:off x="5101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AB8B41D8-4DB1-FB44-3DB4-ED3FD05CEFC6}"/>
              </a:ext>
            </a:extLst>
          </p:cNvPr>
          <p:cNvSpPr/>
          <p:nvPr/>
        </p:nvSpPr>
        <p:spPr>
          <a:xfrm rot="19439823">
            <a:off x="5039333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389A0EC4-0CE2-DA8E-0EE5-DD65DE016565}"/>
              </a:ext>
            </a:extLst>
          </p:cNvPr>
          <p:cNvSpPr/>
          <p:nvPr/>
        </p:nvSpPr>
        <p:spPr>
          <a:xfrm rot="19439823">
            <a:off x="5266912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7E923934-8A35-2288-BB28-025EC098A984}"/>
              </a:ext>
            </a:extLst>
          </p:cNvPr>
          <p:cNvSpPr/>
          <p:nvPr/>
        </p:nvSpPr>
        <p:spPr>
          <a:xfrm rot="19439823">
            <a:off x="5690101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8E8CEA2-1E4C-56FC-AA8D-F947F66A3DBE}"/>
              </a:ext>
            </a:extLst>
          </p:cNvPr>
          <p:cNvSpPr/>
          <p:nvPr/>
        </p:nvSpPr>
        <p:spPr>
          <a:xfrm rot="19439823">
            <a:off x="5558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333D69EA-588D-CCE0-B248-9FC3011B1E48}"/>
              </a:ext>
            </a:extLst>
          </p:cNvPr>
          <p:cNvSpPr/>
          <p:nvPr/>
        </p:nvSpPr>
        <p:spPr>
          <a:xfrm rot="19439823">
            <a:off x="5384500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3A7A2C2C-70B3-4A27-0A62-BAE1C7107ABB}"/>
              </a:ext>
            </a:extLst>
          </p:cNvPr>
          <p:cNvSpPr/>
          <p:nvPr/>
        </p:nvSpPr>
        <p:spPr>
          <a:xfrm rot="19439823">
            <a:off x="584680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9A1C1700-BA37-9D04-0B3E-AA632203A569}"/>
              </a:ext>
            </a:extLst>
          </p:cNvPr>
          <p:cNvSpPr/>
          <p:nvPr/>
        </p:nvSpPr>
        <p:spPr>
          <a:xfrm rot="19439823">
            <a:off x="613662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875331D5-320F-6BD0-00F5-CA1AE63696C4}"/>
              </a:ext>
            </a:extLst>
          </p:cNvPr>
          <p:cNvSpPr/>
          <p:nvPr/>
        </p:nvSpPr>
        <p:spPr>
          <a:xfrm rot="19439823">
            <a:off x="6028728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E5ED2080-84C3-014E-B066-1F0DB6EB98D9}"/>
              </a:ext>
            </a:extLst>
          </p:cNvPr>
          <p:cNvSpPr/>
          <p:nvPr/>
        </p:nvSpPr>
        <p:spPr>
          <a:xfrm rot="19439823">
            <a:off x="6283587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482A897A-2268-E524-CBD2-D6272181A51D}"/>
              </a:ext>
            </a:extLst>
          </p:cNvPr>
          <p:cNvSpPr/>
          <p:nvPr/>
        </p:nvSpPr>
        <p:spPr>
          <a:xfrm rot="19439823">
            <a:off x="6426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7660C1EB-E478-8996-ED89-71F11585095A}"/>
              </a:ext>
            </a:extLst>
          </p:cNvPr>
          <p:cNvSpPr/>
          <p:nvPr/>
        </p:nvSpPr>
        <p:spPr>
          <a:xfrm rot="19439823">
            <a:off x="6607740" y="292750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A1B9A55D-DC30-6CAA-9CAF-B18E10AE6C38}"/>
              </a:ext>
            </a:extLst>
          </p:cNvPr>
          <p:cNvSpPr/>
          <p:nvPr/>
        </p:nvSpPr>
        <p:spPr>
          <a:xfrm rot="19439823">
            <a:off x="6771561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F811A3A0-DFFF-A1A6-F670-72511A1425F8}"/>
              </a:ext>
            </a:extLst>
          </p:cNvPr>
          <p:cNvSpPr/>
          <p:nvPr/>
        </p:nvSpPr>
        <p:spPr>
          <a:xfrm rot="19439823">
            <a:off x="6666770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5688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322BCF23-3764-EA9D-DF97-DECAEEFFF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F239F880-6964-5C3F-A2EF-5D8E623631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관계를 구하려는 데이터의 정답이 두가지 종류로 구분될 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595164CC-EB2B-3A5B-32C5-CA5C8C4A3E73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C031B8A4-D40F-2287-BD25-1F4502433CC6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22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400B408-F52D-87FC-FE2C-A9DFD8E7FAEA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87295A92-13BA-C424-9DD6-A1051FC611DD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DCAD7B0C-2CCC-27E0-F8EA-10F43DC815A0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이진 분류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/ Logistic Regression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6231943-84CE-4B90-CBB7-AEA0C3435D41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B1ACA6F-5ABF-CF1F-AA36-8A897F635489}"/>
              </a:ext>
            </a:extLst>
          </p:cNvPr>
          <p:cNvCxnSpPr>
            <a:cxnSpLocks/>
          </p:cNvCxnSpPr>
          <p:nvPr/>
        </p:nvCxnSpPr>
        <p:spPr>
          <a:xfrm>
            <a:off x="2855573" y="6142187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0F284BC-70CA-74FB-04FE-31D9054120B8}"/>
              </a:ext>
            </a:extLst>
          </p:cNvPr>
          <p:cNvCxnSpPr>
            <a:cxnSpLocks/>
          </p:cNvCxnSpPr>
          <p:nvPr/>
        </p:nvCxnSpPr>
        <p:spPr>
          <a:xfrm flipV="1">
            <a:off x="2979398" y="2303612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EA1488E-E3F2-299E-DFCE-4970C6FE0B58}"/>
              </a:ext>
            </a:extLst>
          </p:cNvPr>
          <p:cNvSpPr txBox="1"/>
          <p:nvPr/>
        </p:nvSpPr>
        <p:spPr>
          <a:xfrm>
            <a:off x="8434918" y="6007465"/>
            <a:ext cx="180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(mm)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70586C-A5BA-1E82-86B3-6CBF5355B3BE}"/>
              </a:ext>
            </a:extLst>
          </p:cNvPr>
          <p:cNvSpPr txBox="1"/>
          <p:nvPr/>
        </p:nvSpPr>
        <p:spPr>
          <a:xfrm>
            <a:off x="2190179" y="2293324"/>
            <a:ext cx="95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성별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770D68-5850-9BC8-98A6-E64751F854E2}"/>
              </a:ext>
            </a:extLst>
          </p:cNvPr>
          <p:cNvSpPr txBox="1"/>
          <p:nvPr/>
        </p:nvSpPr>
        <p:spPr>
          <a:xfrm>
            <a:off x="3088935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220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D2BA92-2D60-A3B3-8579-358D1808F4D0}"/>
              </a:ext>
            </a:extLst>
          </p:cNvPr>
          <p:cNvSpPr txBox="1"/>
          <p:nvPr/>
        </p:nvSpPr>
        <p:spPr>
          <a:xfrm>
            <a:off x="6736857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290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131C01-9C6C-A9F1-AA86-31114278AB74}"/>
              </a:ext>
            </a:extLst>
          </p:cNvPr>
          <p:cNvSpPr txBox="1"/>
          <p:nvPr/>
        </p:nvSpPr>
        <p:spPr>
          <a:xfrm>
            <a:off x="1872343" y="5999378"/>
            <a:ext cx="1208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여성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960BB8-007A-451D-E792-947D3F5090FD}"/>
              </a:ext>
            </a:extLst>
          </p:cNvPr>
          <p:cNvSpPr txBox="1"/>
          <p:nvPr/>
        </p:nvSpPr>
        <p:spPr>
          <a:xfrm>
            <a:off x="2026474" y="2715240"/>
            <a:ext cx="891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남성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A6EC636E-E305-F753-C317-5C563012BE66}"/>
              </a:ext>
            </a:extLst>
          </p:cNvPr>
          <p:cNvCxnSpPr>
            <a:cxnSpLocks/>
          </p:cNvCxnSpPr>
          <p:nvPr/>
        </p:nvCxnSpPr>
        <p:spPr>
          <a:xfrm flipV="1">
            <a:off x="3681883" y="2447212"/>
            <a:ext cx="2423045" cy="38838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27310E1-B337-CBD2-8987-8DF692BD1CF6}"/>
              </a:ext>
            </a:extLst>
          </p:cNvPr>
          <p:cNvSpPr txBox="1"/>
          <p:nvPr/>
        </p:nvSpPr>
        <p:spPr>
          <a:xfrm>
            <a:off x="5766300" y="4284812"/>
            <a:ext cx="2668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Linear regression -&gt;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부적합</a:t>
            </a: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B6AE9521-C0B9-B72D-1CCB-8F15856A055C}"/>
              </a:ext>
            </a:extLst>
          </p:cNvPr>
          <p:cNvSpPr/>
          <p:nvPr/>
        </p:nvSpPr>
        <p:spPr>
          <a:xfrm rot="19439823">
            <a:off x="5690101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E9C3DD3F-E0D2-7A66-9195-5859462E98DB}"/>
              </a:ext>
            </a:extLst>
          </p:cNvPr>
          <p:cNvSpPr/>
          <p:nvPr/>
        </p:nvSpPr>
        <p:spPr>
          <a:xfrm rot="19439823">
            <a:off x="5558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494F3F13-ED08-7294-D29F-8AC64EA8E549}"/>
              </a:ext>
            </a:extLst>
          </p:cNvPr>
          <p:cNvSpPr/>
          <p:nvPr/>
        </p:nvSpPr>
        <p:spPr>
          <a:xfrm rot="19439823">
            <a:off x="584680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C4A084F5-CFAC-B901-C3E6-989447ADFE57}"/>
              </a:ext>
            </a:extLst>
          </p:cNvPr>
          <p:cNvSpPr/>
          <p:nvPr/>
        </p:nvSpPr>
        <p:spPr>
          <a:xfrm rot="19439823">
            <a:off x="613662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1CAD6A52-3F98-89EA-E7B6-4C95F8613661}"/>
              </a:ext>
            </a:extLst>
          </p:cNvPr>
          <p:cNvSpPr/>
          <p:nvPr/>
        </p:nvSpPr>
        <p:spPr>
          <a:xfrm rot="19439823">
            <a:off x="6028728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1ACD0B88-2E21-2065-1F14-917BA642F576}"/>
              </a:ext>
            </a:extLst>
          </p:cNvPr>
          <p:cNvSpPr/>
          <p:nvPr/>
        </p:nvSpPr>
        <p:spPr>
          <a:xfrm rot="19439823">
            <a:off x="6283587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881AF5E6-EE41-E349-A039-68986F1E2C00}"/>
              </a:ext>
            </a:extLst>
          </p:cNvPr>
          <p:cNvSpPr/>
          <p:nvPr/>
        </p:nvSpPr>
        <p:spPr>
          <a:xfrm rot="19439823">
            <a:off x="6426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A5AB23E2-C4A7-A49D-7024-C7B8BCF309B8}"/>
              </a:ext>
            </a:extLst>
          </p:cNvPr>
          <p:cNvSpPr/>
          <p:nvPr/>
        </p:nvSpPr>
        <p:spPr>
          <a:xfrm rot="19439823">
            <a:off x="6607740" y="292750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6BF31EBB-40E9-BE78-B0C7-CFAB4EDF9C4A}"/>
              </a:ext>
            </a:extLst>
          </p:cNvPr>
          <p:cNvSpPr/>
          <p:nvPr/>
        </p:nvSpPr>
        <p:spPr>
          <a:xfrm rot="19439823">
            <a:off x="6771561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1051404E-2647-A547-65B1-7A4126FB198F}"/>
              </a:ext>
            </a:extLst>
          </p:cNvPr>
          <p:cNvSpPr/>
          <p:nvPr/>
        </p:nvSpPr>
        <p:spPr>
          <a:xfrm rot="19439823">
            <a:off x="6666770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B72ACDCA-5A8A-F680-38C1-A84862960192}"/>
              </a:ext>
            </a:extLst>
          </p:cNvPr>
          <p:cNvSpPr/>
          <p:nvPr/>
        </p:nvSpPr>
        <p:spPr>
          <a:xfrm>
            <a:off x="301205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4DFF867F-94E2-05F0-926A-809A42C35E82}"/>
              </a:ext>
            </a:extLst>
          </p:cNvPr>
          <p:cNvSpPr/>
          <p:nvPr/>
        </p:nvSpPr>
        <p:spPr>
          <a:xfrm>
            <a:off x="3272433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DEFC37E5-119F-4ED2-7F11-98721B4CE29C}"/>
              </a:ext>
            </a:extLst>
          </p:cNvPr>
          <p:cNvSpPr/>
          <p:nvPr/>
        </p:nvSpPr>
        <p:spPr>
          <a:xfrm>
            <a:off x="3477158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0D2DBA09-FAF0-A3BD-F6A4-6EA831C227D2}"/>
              </a:ext>
            </a:extLst>
          </p:cNvPr>
          <p:cNvSpPr/>
          <p:nvPr/>
        </p:nvSpPr>
        <p:spPr>
          <a:xfrm>
            <a:off x="341042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DB03B966-8EC4-DA4C-686C-8ED18C097A8B}"/>
              </a:ext>
            </a:extLst>
          </p:cNvPr>
          <p:cNvSpPr/>
          <p:nvPr/>
        </p:nvSpPr>
        <p:spPr>
          <a:xfrm>
            <a:off x="356989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791D665A-F230-F26A-369D-18CCE8C9D5B7}"/>
              </a:ext>
            </a:extLst>
          </p:cNvPr>
          <p:cNvSpPr/>
          <p:nvPr/>
        </p:nvSpPr>
        <p:spPr>
          <a:xfrm>
            <a:off x="365933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C292F86F-5570-537E-3BC8-14260D15F73A}"/>
              </a:ext>
            </a:extLst>
          </p:cNvPr>
          <p:cNvSpPr/>
          <p:nvPr/>
        </p:nvSpPr>
        <p:spPr>
          <a:xfrm>
            <a:off x="3744434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F2ADF7D1-6B2C-1E06-36AC-479D0FBBE034}"/>
              </a:ext>
            </a:extLst>
          </p:cNvPr>
          <p:cNvSpPr/>
          <p:nvPr/>
        </p:nvSpPr>
        <p:spPr>
          <a:xfrm>
            <a:off x="400386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875AF8BE-F011-A9D4-F6AD-7E6E554E3426}"/>
              </a:ext>
            </a:extLst>
          </p:cNvPr>
          <p:cNvSpPr/>
          <p:nvPr/>
        </p:nvSpPr>
        <p:spPr>
          <a:xfrm>
            <a:off x="3929491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693676A6-7513-17CD-4AB1-FE2A597ACCC9}"/>
              </a:ext>
            </a:extLst>
          </p:cNvPr>
          <p:cNvSpPr/>
          <p:nvPr/>
        </p:nvSpPr>
        <p:spPr>
          <a:xfrm>
            <a:off x="411247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7542A951-014D-5187-9524-C22A3315D701}"/>
              </a:ext>
            </a:extLst>
          </p:cNvPr>
          <p:cNvSpPr/>
          <p:nvPr/>
        </p:nvSpPr>
        <p:spPr>
          <a:xfrm>
            <a:off x="402542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36400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3B4B4EE8-3ECE-4F2D-73AD-29EF3D453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9D7E39BE-8979-E7BA-844A-DA6E506691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관계를 구하려는 데이터의 정답이 두가지 종류로 구분될 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27BBF6A7-AFB7-A2DF-D557-07BD0D6A9C7C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D42D0113-098C-5CC9-FFEC-C96140CDE8FE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23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D94F7D5-325A-DEEC-A8EB-D06E31DEAEC5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52451B0A-3F04-AA95-20A7-FF2F76ADDAF7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AA215131-F22D-FC94-F1D7-5E9044E520D6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이진 분류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/ Logistic Regression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F9175C4-1B7C-9D39-5B9D-74FA9F6F4050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985F92F-3C91-AB38-7032-BA98287DAB4C}"/>
              </a:ext>
            </a:extLst>
          </p:cNvPr>
          <p:cNvCxnSpPr>
            <a:cxnSpLocks/>
          </p:cNvCxnSpPr>
          <p:nvPr/>
        </p:nvCxnSpPr>
        <p:spPr>
          <a:xfrm>
            <a:off x="2855573" y="6142187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234FA4CD-D023-B705-3771-3D0E6DF3F888}"/>
              </a:ext>
            </a:extLst>
          </p:cNvPr>
          <p:cNvCxnSpPr>
            <a:cxnSpLocks/>
          </p:cNvCxnSpPr>
          <p:nvPr/>
        </p:nvCxnSpPr>
        <p:spPr>
          <a:xfrm flipV="1">
            <a:off x="2979398" y="2303612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F91659F-B90B-0C2E-FAE4-D586DD2A2E1F}"/>
              </a:ext>
            </a:extLst>
          </p:cNvPr>
          <p:cNvSpPr txBox="1"/>
          <p:nvPr/>
        </p:nvSpPr>
        <p:spPr>
          <a:xfrm>
            <a:off x="8434918" y="6007465"/>
            <a:ext cx="180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(mm)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0F34D9-0293-295D-2B05-D0C130F1A901}"/>
              </a:ext>
            </a:extLst>
          </p:cNvPr>
          <p:cNvSpPr txBox="1"/>
          <p:nvPr/>
        </p:nvSpPr>
        <p:spPr>
          <a:xfrm>
            <a:off x="2190179" y="2293324"/>
            <a:ext cx="95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성별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682FD53-6575-306C-1D46-BAD1CF516FDA}"/>
              </a:ext>
            </a:extLst>
          </p:cNvPr>
          <p:cNvSpPr/>
          <p:nvPr/>
        </p:nvSpPr>
        <p:spPr>
          <a:xfrm>
            <a:off x="301205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75933D-65A2-BCBB-B813-FF480DC177F3}"/>
              </a:ext>
            </a:extLst>
          </p:cNvPr>
          <p:cNvSpPr txBox="1"/>
          <p:nvPr/>
        </p:nvSpPr>
        <p:spPr>
          <a:xfrm>
            <a:off x="3088935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220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09A0BF-7586-4895-50ED-9A2D907B42EA}"/>
              </a:ext>
            </a:extLst>
          </p:cNvPr>
          <p:cNvSpPr txBox="1"/>
          <p:nvPr/>
        </p:nvSpPr>
        <p:spPr>
          <a:xfrm>
            <a:off x="6736857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290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8B01AF-1A8B-36C3-F181-14560A0DC8FD}"/>
              </a:ext>
            </a:extLst>
          </p:cNvPr>
          <p:cNvSpPr txBox="1"/>
          <p:nvPr/>
        </p:nvSpPr>
        <p:spPr>
          <a:xfrm>
            <a:off x="1872343" y="5999378"/>
            <a:ext cx="1208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여성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E36022-0CF8-0452-D179-7822E61EB0EA}"/>
              </a:ext>
            </a:extLst>
          </p:cNvPr>
          <p:cNvSpPr txBox="1"/>
          <p:nvPr/>
        </p:nvSpPr>
        <p:spPr>
          <a:xfrm>
            <a:off x="2026474" y="2715240"/>
            <a:ext cx="891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남성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4917C1D-339B-EC07-B53E-86F2FD125DC8}"/>
              </a:ext>
            </a:extLst>
          </p:cNvPr>
          <p:cNvSpPr/>
          <p:nvPr/>
        </p:nvSpPr>
        <p:spPr>
          <a:xfrm>
            <a:off x="3272433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1F59BD0E-7758-6E1B-B154-5CDC8C259921}"/>
              </a:ext>
            </a:extLst>
          </p:cNvPr>
          <p:cNvSpPr/>
          <p:nvPr/>
        </p:nvSpPr>
        <p:spPr>
          <a:xfrm>
            <a:off x="3477158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1A43DEF8-663C-9245-D2F0-B7FA76D037EF}"/>
              </a:ext>
            </a:extLst>
          </p:cNvPr>
          <p:cNvSpPr/>
          <p:nvPr/>
        </p:nvSpPr>
        <p:spPr>
          <a:xfrm>
            <a:off x="341042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995468E8-5877-8F35-FD52-48097C4E608F}"/>
              </a:ext>
            </a:extLst>
          </p:cNvPr>
          <p:cNvSpPr/>
          <p:nvPr/>
        </p:nvSpPr>
        <p:spPr>
          <a:xfrm>
            <a:off x="356989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0214E546-C9FA-683B-DD53-6A7C4C389381}"/>
              </a:ext>
            </a:extLst>
          </p:cNvPr>
          <p:cNvSpPr/>
          <p:nvPr/>
        </p:nvSpPr>
        <p:spPr>
          <a:xfrm>
            <a:off x="365933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F05B0485-ADFC-201D-7EF6-08C480E3E041}"/>
              </a:ext>
            </a:extLst>
          </p:cNvPr>
          <p:cNvSpPr/>
          <p:nvPr/>
        </p:nvSpPr>
        <p:spPr>
          <a:xfrm>
            <a:off x="3744434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DF70B1EA-AB14-8E0B-E6A2-1F384AA6B4B5}"/>
              </a:ext>
            </a:extLst>
          </p:cNvPr>
          <p:cNvSpPr/>
          <p:nvPr/>
        </p:nvSpPr>
        <p:spPr>
          <a:xfrm>
            <a:off x="400386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A90F010B-2757-7BFE-469F-B2434C646775}"/>
              </a:ext>
            </a:extLst>
          </p:cNvPr>
          <p:cNvSpPr/>
          <p:nvPr/>
        </p:nvSpPr>
        <p:spPr>
          <a:xfrm>
            <a:off x="3929491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52658B9A-F11B-4809-03A2-AF328AB70447}"/>
              </a:ext>
            </a:extLst>
          </p:cNvPr>
          <p:cNvSpPr/>
          <p:nvPr/>
        </p:nvSpPr>
        <p:spPr>
          <a:xfrm>
            <a:off x="411247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00B24619-B51A-22B1-CC5E-2A00EF56D0FD}"/>
              </a:ext>
            </a:extLst>
          </p:cNvPr>
          <p:cNvSpPr/>
          <p:nvPr/>
        </p:nvSpPr>
        <p:spPr>
          <a:xfrm>
            <a:off x="402542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92FFBF3-9A75-A334-B0CC-D6C5E2D062EA}"/>
              </a:ext>
            </a:extLst>
          </p:cNvPr>
          <p:cNvSpPr/>
          <p:nvPr/>
        </p:nvSpPr>
        <p:spPr>
          <a:xfrm rot="19439823">
            <a:off x="5690101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F29660A-1206-6BD1-2410-FD0DEC09031C}"/>
              </a:ext>
            </a:extLst>
          </p:cNvPr>
          <p:cNvSpPr/>
          <p:nvPr/>
        </p:nvSpPr>
        <p:spPr>
          <a:xfrm rot="19439823">
            <a:off x="5558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98F4416-A2E6-2E2F-56AF-986C23F97EB5}"/>
              </a:ext>
            </a:extLst>
          </p:cNvPr>
          <p:cNvSpPr/>
          <p:nvPr/>
        </p:nvSpPr>
        <p:spPr>
          <a:xfrm rot="19439823">
            <a:off x="584680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605BF90B-3F23-623F-5AB6-480AFCC0E21B}"/>
              </a:ext>
            </a:extLst>
          </p:cNvPr>
          <p:cNvSpPr/>
          <p:nvPr/>
        </p:nvSpPr>
        <p:spPr>
          <a:xfrm rot="19439823">
            <a:off x="613662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DF0FC30A-54C8-E05A-40FC-DFCF3EBF6A1A}"/>
              </a:ext>
            </a:extLst>
          </p:cNvPr>
          <p:cNvSpPr/>
          <p:nvPr/>
        </p:nvSpPr>
        <p:spPr>
          <a:xfrm rot="19439823">
            <a:off x="6028728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F4C54EC2-6900-903A-6B5D-4DF2F525D144}"/>
              </a:ext>
            </a:extLst>
          </p:cNvPr>
          <p:cNvSpPr/>
          <p:nvPr/>
        </p:nvSpPr>
        <p:spPr>
          <a:xfrm rot="19439823">
            <a:off x="6283587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C4A1B98-58DD-AB19-97C5-F83AB014750F}"/>
              </a:ext>
            </a:extLst>
          </p:cNvPr>
          <p:cNvSpPr/>
          <p:nvPr/>
        </p:nvSpPr>
        <p:spPr>
          <a:xfrm rot="19439823">
            <a:off x="6426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3757144B-373C-25FC-D415-EC2C1DFEC3CD}"/>
              </a:ext>
            </a:extLst>
          </p:cNvPr>
          <p:cNvSpPr/>
          <p:nvPr/>
        </p:nvSpPr>
        <p:spPr>
          <a:xfrm rot="19439823">
            <a:off x="6607740" y="292750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B4F4F471-E626-4099-6EB1-E7350A38C1EF}"/>
              </a:ext>
            </a:extLst>
          </p:cNvPr>
          <p:cNvSpPr/>
          <p:nvPr/>
        </p:nvSpPr>
        <p:spPr>
          <a:xfrm rot="19439823">
            <a:off x="6771561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D0ABEE3-2D13-A14C-2874-6FE365638953}"/>
              </a:ext>
            </a:extLst>
          </p:cNvPr>
          <p:cNvSpPr/>
          <p:nvPr/>
        </p:nvSpPr>
        <p:spPr>
          <a:xfrm rot="19439823">
            <a:off x="6666770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A32A6ED1-B7F2-8D9F-94E1-79E52A501B46}"/>
              </a:ext>
            </a:extLst>
          </p:cNvPr>
          <p:cNvGrpSpPr/>
          <p:nvPr/>
        </p:nvGrpSpPr>
        <p:grpSpPr>
          <a:xfrm>
            <a:off x="2675171" y="3023017"/>
            <a:ext cx="4684668" cy="3063256"/>
            <a:chOff x="2190179" y="3154033"/>
            <a:chExt cx="5705302" cy="2564991"/>
          </a:xfrm>
        </p:grpSpPr>
        <p:cxnSp>
          <p:nvCxnSpPr>
            <p:cNvPr id="11" name="구부러진 연결선[U] 10">
              <a:extLst>
                <a:ext uri="{FF2B5EF4-FFF2-40B4-BE49-F238E27FC236}">
                  <a16:creationId xmlns:a16="http://schemas.microsoft.com/office/drawing/2014/main" id="{B15AD8BB-8E78-94A6-21B3-9D39DF1701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6287" y="3154033"/>
              <a:ext cx="3390570" cy="2564991"/>
            </a:xfrm>
            <a:prstGeom prst="curved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[R] 49">
              <a:extLst>
                <a:ext uri="{FF2B5EF4-FFF2-40B4-BE49-F238E27FC236}">
                  <a16:creationId xmlns:a16="http://schemas.microsoft.com/office/drawing/2014/main" id="{C68FA6AE-66E7-511B-B6A8-B285F6FBE790}"/>
                </a:ext>
              </a:extLst>
            </p:cNvPr>
            <p:cNvCxnSpPr/>
            <p:nvPr/>
          </p:nvCxnSpPr>
          <p:spPr>
            <a:xfrm flipH="1">
              <a:off x="2190179" y="5719024"/>
              <a:ext cx="12202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[R] 50">
              <a:extLst>
                <a:ext uri="{FF2B5EF4-FFF2-40B4-BE49-F238E27FC236}">
                  <a16:creationId xmlns:a16="http://schemas.microsoft.com/office/drawing/2014/main" id="{1C586E04-3013-4CF5-4EBF-22E460E8F1EE}"/>
                </a:ext>
              </a:extLst>
            </p:cNvPr>
            <p:cNvCxnSpPr/>
            <p:nvPr/>
          </p:nvCxnSpPr>
          <p:spPr>
            <a:xfrm flipH="1">
              <a:off x="6675231" y="3154033"/>
              <a:ext cx="12202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EB2DFEB-96C7-518B-CD2C-2D0AFBDF1396}"/>
                  </a:ext>
                </a:extLst>
              </p:cNvPr>
              <p:cNvSpPr txBox="1"/>
              <p:nvPr/>
            </p:nvSpPr>
            <p:spPr>
              <a:xfrm>
                <a:off x="4849078" y="3994025"/>
                <a:ext cx="2360731" cy="675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fPr>
                        <m:num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−</m:t>
                              </m:r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ko-KR" altLang="en-US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EB2DFEB-96C7-518B-CD2C-2D0AFBDF1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078" y="3994025"/>
                <a:ext cx="2360731" cy="675698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108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09040274-E81C-E8D2-8E92-C2DCBE069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456FB6B5-F797-DFA7-C5E6-D3DD56C05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관계를 구하려는 데이터의 정답이 두가지 종류로 구분될 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2F1793A0-6C1F-D9B9-AAD4-3AA2E2FAB198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8424A8D4-9E21-6FB2-F68E-1588086332F8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24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DA97EB0-2808-C604-CDBB-D59CC3CAFFD1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F9027F73-326C-5804-5E82-E4E30900B5AF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800E8C58-CDBF-F0A4-43D0-5F3389AB20BE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이진 분류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/ Logistic Regression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DB2ABBA-BA53-A0E2-386D-C91F31E9C002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D6991F5D-C072-94EA-0583-BD4820710D57}"/>
              </a:ext>
            </a:extLst>
          </p:cNvPr>
          <p:cNvCxnSpPr>
            <a:cxnSpLocks/>
          </p:cNvCxnSpPr>
          <p:nvPr/>
        </p:nvCxnSpPr>
        <p:spPr>
          <a:xfrm>
            <a:off x="2855573" y="6142187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888BD1DF-4E91-132A-44B4-2D84544F83A5}"/>
              </a:ext>
            </a:extLst>
          </p:cNvPr>
          <p:cNvCxnSpPr>
            <a:cxnSpLocks/>
          </p:cNvCxnSpPr>
          <p:nvPr/>
        </p:nvCxnSpPr>
        <p:spPr>
          <a:xfrm flipV="1">
            <a:off x="2979398" y="2303612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45843D4-A43D-5598-65CB-D48DE0AA7645}"/>
              </a:ext>
            </a:extLst>
          </p:cNvPr>
          <p:cNvSpPr txBox="1"/>
          <p:nvPr/>
        </p:nvSpPr>
        <p:spPr>
          <a:xfrm>
            <a:off x="8434918" y="6007465"/>
            <a:ext cx="180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(mm)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D90E9E-A430-441A-7BEB-DCDD107B1253}"/>
              </a:ext>
            </a:extLst>
          </p:cNvPr>
          <p:cNvSpPr txBox="1"/>
          <p:nvPr/>
        </p:nvSpPr>
        <p:spPr>
          <a:xfrm>
            <a:off x="2190179" y="2293324"/>
            <a:ext cx="95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성별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CC57DD7-65BC-7FB2-A7B4-3B03148F97AA}"/>
              </a:ext>
            </a:extLst>
          </p:cNvPr>
          <p:cNvSpPr/>
          <p:nvPr/>
        </p:nvSpPr>
        <p:spPr>
          <a:xfrm>
            <a:off x="301205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8EDCC7-CC3F-C6CD-94F5-4D795558DDBA}"/>
              </a:ext>
            </a:extLst>
          </p:cNvPr>
          <p:cNvSpPr txBox="1"/>
          <p:nvPr/>
        </p:nvSpPr>
        <p:spPr>
          <a:xfrm>
            <a:off x="3088935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220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04AE5B-EEE5-A21F-49C3-C25AF2BD2CEE}"/>
              </a:ext>
            </a:extLst>
          </p:cNvPr>
          <p:cNvSpPr txBox="1"/>
          <p:nvPr/>
        </p:nvSpPr>
        <p:spPr>
          <a:xfrm>
            <a:off x="6736857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290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835726-BCE7-B3C6-6874-BAF87A276AC4}"/>
              </a:ext>
            </a:extLst>
          </p:cNvPr>
          <p:cNvSpPr txBox="1"/>
          <p:nvPr/>
        </p:nvSpPr>
        <p:spPr>
          <a:xfrm>
            <a:off x="1872343" y="5999378"/>
            <a:ext cx="1208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여성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ECF903-F911-518C-F88C-C40608881B8D}"/>
              </a:ext>
            </a:extLst>
          </p:cNvPr>
          <p:cNvSpPr txBox="1"/>
          <p:nvPr/>
        </p:nvSpPr>
        <p:spPr>
          <a:xfrm>
            <a:off x="2026474" y="2715240"/>
            <a:ext cx="891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남성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DEEC447D-1DEA-8DB6-6035-AD35ED2CA3E8}"/>
              </a:ext>
            </a:extLst>
          </p:cNvPr>
          <p:cNvSpPr/>
          <p:nvPr/>
        </p:nvSpPr>
        <p:spPr>
          <a:xfrm>
            <a:off x="3272433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4FC5C6D-45FD-B3CA-4FC7-1AEF6AF479C9}"/>
              </a:ext>
            </a:extLst>
          </p:cNvPr>
          <p:cNvSpPr/>
          <p:nvPr/>
        </p:nvSpPr>
        <p:spPr>
          <a:xfrm>
            <a:off x="3477158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0C9EFA2-9F86-A500-1BFA-B34CB95173D0}"/>
              </a:ext>
            </a:extLst>
          </p:cNvPr>
          <p:cNvSpPr/>
          <p:nvPr/>
        </p:nvSpPr>
        <p:spPr>
          <a:xfrm>
            <a:off x="341042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083C1D95-7349-7835-F634-9515011BE677}"/>
              </a:ext>
            </a:extLst>
          </p:cNvPr>
          <p:cNvSpPr/>
          <p:nvPr/>
        </p:nvSpPr>
        <p:spPr>
          <a:xfrm>
            <a:off x="356989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1A70387-2B54-491F-19CE-DBB3E98ED2F3}"/>
              </a:ext>
            </a:extLst>
          </p:cNvPr>
          <p:cNvSpPr/>
          <p:nvPr/>
        </p:nvSpPr>
        <p:spPr>
          <a:xfrm>
            <a:off x="365933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0FF214F-7B0B-32ED-ED6F-47ADA24F65B7}"/>
              </a:ext>
            </a:extLst>
          </p:cNvPr>
          <p:cNvSpPr/>
          <p:nvPr/>
        </p:nvSpPr>
        <p:spPr>
          <a:xfrm>
            <a:off x="3744434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F524CA6-43A0-1DEA-398E-82FED30CD23C}"/>
              </a:ext>
            </a:extLst>
          </p:cNvPr>
          <p:cNvSpPr/>
          <p:nvPr/>
        </p:nvSpPr>
        <p:spPr>
          <a:xfrm>
            <a:off x="400386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E4F6C2DE-A624-5170-E97E-742A0E8A48F8}"/>
              </a:ext>
            </a:extLst>
          </p:cNvPr>
          <p:cNvSpPr/>
          <p:nvPr/>
        </p:nvSpPr>
        <p:spPr>
          <a:xfrm>
            <a:off x="3929491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A2F864CC-7E67-5688-E76C-B9F601DFB5E3}"/>
              </a:ext>
            </a:extLst>
          </p:cNvPr>
          <p:cNvSpPr/>
          <p:nvPr/>
        </p:nvSpPr>
        <p:spPr>
          <a:xfrm>
            <a:off x="411247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9DEFF125-723F-BE3F-138A-6DAFCB1F2E92}"/>
              </a:ext>
            </a:extLst>
          </p:cNvPr>
          <p:cNvSpPr/>
          <p:nvPr/>
        </p:nvSpPr>
        <p:spPr>
          <a:xfrm>
            <a:off x="402542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8972238-9C5E-7AF0-D54E-8F0F0659E4DF}"/>
              </a:ext>
            </a:extLst>
          </p:cNvPr>
          <p:cNvSpPr/>
          <p:nvPr/>
        </p:nvSpPr>
        <p:spPr>
          <a:xfrm rot="19439823">
            <a:off x="5690101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6A03922-EB5C-3DAD-D993-07F482093D03}"/>
              </a:ext>
            </a:extLst>
          </p:cNvPr>
          <p:cNvSpPr/>
          <p:nvPr/>
        </p:nvSpPr>
        <p:spPr>
          <a:xfrm rot="19439823">
            <a:off x="5558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A16A1B9-33E1-7AC4-14FB-A59A539013E3}"/>
              </a:ext>
            </a:extLst>
          </p:cNvPr>
          <p:cNvSpPr/>
          <p:nvPr/>
        </p:nvSpPr>
        <p:spPr>
          <a:xfrm rot="19439823">
            <a:off x="584680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00DC593D-1569-E892-0855-64430B298545}"/>
              </a:ext>
            </a:extLst>
          </p:cNvPr>
          <p:cNvSpPr/>
          <p:nvPr/>
        </p:nvSpPr>
        <p:spPr>
          <a:xfrm rot="19439823">
            <a:off x="613662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4032900-9545-2DE5-D163-D0A45A974932}"/>
              </a:ext>
            </a:extLst>
          </p:cNvPr>
          <p:cNvSpPr/>
          <p:nvPr/>
        </p:nvSpPr>
        <p:spPr>
          <a:xfrm rot="19439823">
            <a:off x="6028728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AB5B56AF-D735-05CC-673E-D0E359C1AC11}"/>
              </a:ext>
            </a:extLst>
          </p:cNvPr>
          <p:cNvSpPr/>
          <p:nvPr/>
        </p:nvSpPr>
        <p:spPr>
          <a:xfrm rot="19439823">
            <a:off x="6283587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32A6D7AD-A699-84EC-47AB-360FDDF76421}"/>
              </a:ext>
            </a:extLst>
          </p:cNvPr>
          <p:cNvSpPr/>
          <p:nvPr/>
        </p:nvSpPr>
        <p:spPr>
          <a:xfrm rot="19439823">
            <a:off x="6426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C31EEB8-FABB-0234-643B-05E0F8552A02}"/>
              </a:ext>
            </a:extLst>
          </p:cNvPr>
          <p:cNvSpPr/>
          <p:nvPr/>
        </p:nvSpPr>
        <p:spPr>
          <a:xfrm rot="19439823">
            <a:off x="6607740" y="292750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83AC353A-18F1-2BFB-F7F4-9F6FF6A314B4}"/>
              </a:ext>
            </a:extLst>
          </p:cNvPr>
          <p:cNvSpPr/>
          <p:nvPr/>
        </p:nvSpPr>
        <p:spPr>
          <a:xfrm rot="19439823">
            <a:off x="6771561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1702E8A9-E256-0B33-D0EC-27BD8523057B}"/>
              </a:ext>
            </a:extLst>
          </p:cNvPr>
          <p:cNvSpPr/>
          <p:nvPr/>
        </p:nvSpPr>
        <p:spPr>
          <a:xfrm rot="19439823">
            <a:off x="6666770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9193B3A-9444-A8A8-025A-F26A63FBE06F}"/>
              </a:ext>
            </a:extLst>
          </p:cNvPr>
          <p:cNvGrpSpPr/>
          <p:nvPr/>
        </p:nvGrpSpPr>
        <p:grpSpPr>
          <a:xfrm>
            <a:off x="2675171" y="3023017"/>
            <a:ext cx="4684668" cy="3063256"/>
            <a:chOff x="2190179" y="3154033"/>
            <a:chExt cx="5705302" cy="2564991"/>
          </a:xfrm>
        </p:grpSpPr>
        <p:cxnSp>
          <p:nvCxnSpPr>
            <p:cNvPr id="11" name="구부러진 연결선[U] 10">
              <a:extLst>
                <a:ext uri="{FF2B5EF4-FFF2-40B4-BE49-F238E27FC236}">
                  <a16:creationId xmlns:a16="http://schemas.microsoft.com/office/drawing/2014/main" id="{0BFBA3F5-842D-2B8E-D5B8-7FD3938F73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6287" y="3154033"/>
              <a:ext cx="3390570" cy="2564991"/>
            </a:xfrm>
            <a:prstGeom prst="curved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[R] 49">
              <a:extLst>
                <a:ext uri="{FF2B5EF4-FFF2-40B4-BE49-F238E27FC236}">
                  <a16:creationId xmlns:a16="http://schemas.microsoft.com/office/drawing/2014/main" id="{D814E559-F038-7798-99C2-1110201AB96C}"/>
                </a:ext>
              </a:extLst>
            </p:cNvPr>
            <p:cNvCxnSpPr/>
            <p:nvPr/>
          </p:nvCxnSpPr>
          <p:spPr>
            <a:xfrm flipH="1">
              <a:off x="2190179" y="5719024"/>
              <a:ext cx="12202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[R] 50">
              <a:extLst>
                <a:ext uri="{FF2B5EF4-FFF2-40B4-BE49-F238E27FC236}">
                  <a16:creationId xmlns:a16="http://schemas.microsoft.com/office/drawing/2014/main" id="{E62F492F-BFAF-BE7D-2DF6-AB34AA61E670}"/>
                </a:ext>
              </a:extLst>
            </p:cNvPr>
            <p:cNvCxnSpPr/>
            <p:nvPr/>
          </p:nvCxnSpPr>
          <p:spPr>
            <a:xfrm flipH="1">
              <a:off x="6675231" y="3154033"/>
              <a:ext cx="12202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BBD2D4-D4E8-2C22-666A-F414F98B64B7}"/>
                  </a:ext>
                </a:extLst>
              </p:cNvPr>
              <p:cNvSpPr txBox="1"/>
              <p:nvPr/>
            </p:nvSpPr>
            <p:spPr>
              <a:xfrm>
                <a:off x="4849078" y="3994025"/>
                <a:ext cx="2360731" cy="675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fPr>
                        <m:num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−</m:t>
                              </m:r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∎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ko-KR" altLang="en-US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BBD2D4-D4E8-2C22-666A-F414F98B6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078" y="3994025"/>
                <a:ext cx="2360731" cy="675698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A7219E-96CF-90D1-F368-C43463F81DFE}"/>
                  </a:ext>
                </a:extLst>
              </p:cNvPr>
              <p:cNvSpPr txBox="1"/>
              <p:nvPr/>
            </p:nvSpPr>
            <p:spPr>
              <a:xfrm>
                <a:off x="2887315" y="5704272"/>
                <a:ext cx="7870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,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A7219E-96CF-90D1-F368-C43463F81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315" y="5704272"/>
                <a:ext cx="787004" cy="338554"/>
              </a:xfrm>
              <a:prstGeom prst="rect">
                <a:avLst/>
              </a:prstGeom>
              <a:blipFill>
                <a:blip r:embed="rId4"/>
                <a:stretch>
                  <a:fillRect r="-4762" b="-18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3AC5C2-0D65-8BE4-7B45-9A7EF319694C}"/>
                  </a:ext>
                </a:extLst>
              </p:cNvPr>
              <p:cNvSpPr txBox="1"/>
              <p:nvPr/>
            </p:nvSpPr>
            <p:spPr>
              <a:xfrm>
                <a:off x="6502645" y="2566634"/>
                <a:ext cx="7870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,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3AC5C2-0D65-8BE4-7B45-9A7EF3196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645" y="2566634"/>
                <a:ext cx="787004" cy="338554"/>
              </a:xfrm>
              <a:prstGeom prst="rect">
                <a:avLst/>
              </a:prstGeom>
              <a:blipFill>
                <a:blip r:embed="rId5"/>
                <a:stretch>
                  <a:fillRect l="-1587" r="-6349" b="-18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C6D639-242F-E0DE-93BB-2F836CA2651A}"/>
                  </a:ext>
                </a:extLst>
              </p:cNvPr>
              <p:cNvSpPr txBox="1"/>
              <p:nvPr/>
            </p:nvSpPr>
            <p:spPr>
              <a:xfrm>
                <a:off x="5126333" y="2566634"/>
                <a:ext cx="7870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𝑘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,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𝑘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C6D639-242F-E0DE-93BB-2F836CA26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333" y="2566634"/>
                <a:ext cx="787004" cy="338554"/>
              </a:xfrm>
              <a:prstGeom prst="rect">
                <a:avLst/>
              </a:prstGeom>
              <a:blipFill>
                <a:blip r:embed="rId6"/>
                <a:stretch>
                  <a:fillRect r="-7937" b="-18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87464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B2AB51EB-CFDC-AB31-944B-351520E96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69C9D126-10C9-C15D-8D29-4EFCF550DE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관계를 구하려는 데이터의 정답이 두가지 종류로 구분될 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489792B6-A223-D672-B140-BFB4132A3349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4A301F01-13A6-08CA-D450-A2E730C8CDA7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25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3366B8E-AEAD-8066-B57D-F53DF54A4DAA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BAB2FA66-75FC-A270-FB5A-6606344565F2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B6178E81-7B3F-8EC6-1959-81617034B438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이진 분류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/ Logistic Regression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8563BCE-A6E4-C108-A264-0B087AAA9545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7B662F-FA53-9799-DCE9-2BEF8BB475CD}"/>
                  </a:ext>
                </a:extLst>
              </p:cNvPr>
              <p:cNvSpPr txBox="1"/>
              <p:nvPr/>
            </p:nvSpPr>
            <p:spPr>
              <a:xfrm>
                <a:off x="4075611" y="3262239"/>
                <a:ext cx="3213463" cy="792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acc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</m:acc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fPr>
                        <m:num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−(</m:t>
                              </m:r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kumimoji="1" lang="en-US" altLang="ko-KR" sz="24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4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sz="24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+</m:t>
                              </m:r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𝑏</m:t>
                              </m:r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7B662F-FA53-9799-DCE9-2BEF8BB47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611" y="3262239"/>
                <a:ext cx="3213463" cy="792396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7236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8BDD9BB6-EAC4-7751-DD4B-719742778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6A603785-5740-E54F-686B-D2A158DEE6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관계를 구하려는 데이터의 정답이 두가지 종류로 구분될 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A2F861DF-D604-9AED-756B-9954722FB8D2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B7AB5797-73BF-8811-05DB-6EA04BE3F4ED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26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CC451CA-DBD3-8067-E803-878DE540CD18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E10C95CA-80BF-6CBB-C21C-0162CF9E466E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E4A3C64E-B694-09FB-304D-F400603809F9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이진 분류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/ Logistic Regression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DCD39E1-E2F4-16CE-C92F-BFAD35037771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333F0F-D717-E582-6F73-023F8DAECE6A}"/>
                  </a:ext>
                </a:extLst>
              </p:cNvPr>
              <p:cNvSpPr txBox="1"/>
              <p:nvPr/>
            </p:nvSpPr>
            <p:spPr>
              <a:xfrm>
                <a:off x="4075611" y="3262239"/>
                <a:ext cx="3213463" cy="792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acc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</m:acc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fPr>
                        <m:num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−(</m:t>
                              </m:r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kumimoji="1" lang="en-US" altLang="ko-KR" sz="24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4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sz="24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+</m:t>
                              </m:r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𝑏</m:t>
                              </m:r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333F0F-D717-E582-6F73-023F8DAEC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611" y="3262239"/>
                <a:ext cx="3213463" cy="792396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8BC7CF-154D-9D03-FA23-2B6D5E9CC9F4}"/>
                  </a:ext>
                </a:extLst>
              </p:cNvPr>
              <p:cNvSpPr txBox="1"/>
              <p:nvPr/>
            </p:nvSpPr>
            <p:spPr>
              <a:xfrm>
                <a:off x="3448594" y="4477184"/>
                <a:ext cx="5425440" cy="751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sz="2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𝐿</m:t>
                    </m:r>
                    <m:r>
                      <a:rPr kumimoji="1" lang="en-US" altLang="ko-KR" sz="2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ko-KR" altLang="en-US" sz="240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𝑖</m:t>
                        </m:r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=1</m:t>
                        </m:r>
                      </m:sub>
                      <m:sup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𝑦</m:t>
                                </m:r>
                                <m: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kumimoji="1"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kumimoji="1"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  <m:t>−</m:t>
                                        </m:r>
                                        <m:d>
                                          <m:dPr>
                                            <m:ctrlPr>
                                              <a:rPr kumimoji="1" lang="en-US" altLang="ko-KR" sz="2400" i="1">
                                                <a:latin typeface="Cambria Math" panose="02040503050406030204" pitchFamily="18" charset="0"/>
                                                <a:ea typeface="나눔스퀘어" panose="020B0600000101010101" pitchFamily="50" charset="-127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1" lang="en-US" altLang="ko-KR" sz="2400" i="1">
                                                <a:latin typeface="Cambria Math" panose="02040503050406030204" pitchFamily="18" charset="0"/>
                                                <a:ea typeface="나눔스퀘어" panose="020B0600000101010101" pitchFamily="50" charset="-127"/>
                                              </a:rPr>
                                              <m:t>𝑎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kumimoji="1" lang="en-US" altLang="ko-KR" sz="2400" i="1">
                                                    <a:latin typeface="Cambria Math" panose="02040503050406030204" pitchFamily="18" charset="0"/>
                                                    <a:ea typeface="나눔스퀘어" panose="020B0600000101010101" pitchFamily="50" charset="-127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ko-KR" sz="2400" i="1">
                                                    <a:latin typeface="Cambria Math" panose="02040503050406030204" pitchFamily="18" charset="0"/>
                                                    <a:ea typeface="나눔스퀘어" panose="020B0600000101010101" pitchFamily="50" charset="-127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ko-KR" sz="2400" i="1">
                                                    <a:latin typeface="Cambria Math" panose="02040503050406030204" pitchFamily="18" charset="0"/>
                                                    <a:ea typeface="나눔스퀘어" panose="020B0600000101010101" pitchFamily="50" charset="-127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kumimoji="1" lang="en-US" altLang="ko-KR" sz="2400" i="1">
                                                <a:latin typeface="Cambria Math" panose="02040503050406030204" pitchFamily="18" charset="0"/>
                                                <a:ea typeface="나눔스퀘어" panose="020B0600000101010101" pitchFamily="50" charset="-127"/>
                                              </a:rPr>
                                              <m:t>+</m:t>
                                            </m:r>
                                            <m:r>
                                              <a:rPr kumimoji="1" lang="en-US" altLang="ko-KR" sz="2400" i="1">
                                                <a:latin typeface="Cambria Math" panose="02040503050406030204" pitchFamily="18" charset="0"/>
                                                <a:ea typeface="나눔스퀘어" panose="020B0600000101010101" pitchFamily="50" charset="-127"/>
                                              </a:rPr>
                                              <m:t>𝑏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den>
                                </m:f>
                                <m:r>
                                  <m:rPr>
                                    <m:nor/>
                                  </m:rPr>
                                  <a:rPr kumimoji="1" lang="ko-KR" altLang="en-US" sz="2400" dirty="0">
                                    <a:latin typeface="나눔스퀘어" panose="020B0600000101010101" pitchFamily="50" charset="-127"/>
                                    <a:ea typeface="나눔스퀘어" panose="020B0600000101010101" pitchFamily="50" charset="-127"/>
                                  </a:rPr>
                                  <m:t> 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kumimoji="1" lang="en-US" altLang="ko-KR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kumimoji="1" lang="ko-KR" altLang="en-US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최소화</a:t>
                </a:r>
                <a:r>
                  <a:rPr kumimoji="1" lang="en-US" altLang="ko-KR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?</a:t>
                </a:r>
                <a:endPara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8BC7CF-154D-9D03-FA23-2B6D5E9CC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594" y="4477184"/>
                <a:ext cx="5425440" cy="751424"/>
              </a:xfrm>
              <a:prstGeom prst="rect">
                <a:avLst/>
              </a:prstGeom>
              <a:blipFill>
                <a:blip r:embed="rId4"/>
                <a:stretch>
                  <a:fillRect l="-234" t="-56667" b="-10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86652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DEC7B92E-F171-F92F-56AE-BE688030B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C50B99E4-4111-0BC8-7145-FF3F6E9BE2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관계를 구하려는 데이터의 정답이 두가지 종류로 구분될 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E2BBC0D2-B36F-646D-61CC-26231C9FD45E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9C48ABE3-B02A-0AE7-B795-E58E7CA02E68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27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4CD7EC0-BFFD-F1D4-6168-79E0398507FF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0046202A-0AF2-80EA-4A08-B7387562A625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EF4FB049-0DF2-AF17-E7E8-C11CCF5A996D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이진 분류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/ Logistic Regression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AEF01A3-A0E7-758F-9ECA-723F73DD0423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E616EC-39B5-D487-5E79-51EF88BBF58A}"/>
                  </a:ext>
                </a:extLst>
              </p:cNvPr>
              <p:cNvSpPr txBox="1"/>
              <p:nvPr/>
            </p:nvSpPr>
            <p:spPr>
              <a:xfrm>
                <a:off x="3383279" y="2610713"/>
                <a:ext cx="5425440" cy="798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0&lt;</m:t>
                      </m:r>
                      <m:f>
                        <m:f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fPr>
                        <m:num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−(</m:t>
                              </m:r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kumimoji="1" lang="en-US" altLang="ko-KR" sz="24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4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sz="24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+</m:t>
                              </m:r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𝑏</m:t>
                              </m:r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&lt;1</m:t>
                      </m:r>
                    </m:oMath>
                  </m:oMathPara>
                </a14:m>
                <a:endPara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E616EC-39B5-D487-5E79-51EF88BBF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279" y="2610713"/>
                <a:ext cx="5425440" cy="798552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419388-E3B6-A41E-12A4-96B54C78D0E0}"/>
                  </a:ext>
                </a:extLst>
              </p:cNvPr>
              <p:cNvSpPr txBox="1"/>
              <p:nvPr/>
            </p:nvSpPr>
            <p:spPr>
              <a:xfrm>
                <a:off x="3383279" y="3976693"/>
                <a:ext cx="54254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2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⇒</m:t>
                    </m:r>
                  </m:oMath>
                </a14:m>
                <a:r>
                  <a:rPr kumimoji="1" lang="ko-KR" altLang="en-US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확률로 간주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419388-E3B6-A41E-12A4-96B54C78D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279" y="3976693"/>
                <a:ext cx="5425440" cy="461665"/>
              </a:xfrm>
              <a:prstGeom prst="rect">
                <a:avLst/>
              </a:prstGeom>
              <a:blipFill>
                <a:blip r:embed="rId4"/>
                <a:stretch>
                  <a:fillRect t="-10526" b="-26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01DBE8-39F9-B083-55ED-8EECB6A2B646}"/>
                  </a:ext>
                </a:extLst>
              </p:cNvPr>
              <p:cNvSpPr txBox="1"/>
              <p:nvPr/>
            </p:nvSpPr>
            <p:spPr>
              <a:xfrm>
                <a:off x="1598022" y="5102302"/>
                <a:ext cx="5425440" cy="468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p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𝑝</m:t>
                          </m:r>
                        </m:e>
                        <m:sup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dPr>
                            <m:e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1−</m:t>
                              </m:r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1−</m:t>
                          </m:r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01DBE8-39F9-B083-55ED-8EECB6A2B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022" y="5102302"/>
                <a:ext cx="5425440" cy="46820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88E7B0-AC37-1B1C-BCE6-24962AB6CB05}"/>
                  </a:ext>
                </a:extLst>
              </p:cNvPr>
              <p:cNvSpPr txBox="1"/>
              <p:nvPr/>
            </p:nvSpPr>
            <p:spPr>
              <a:xfrm>
                <a:off x="5965369" y="4809924"/>
                <a:ext cx="5425440" cy="1215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𝑘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:0 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𝑜𝑟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 1 </m:t>
                      </m:r>
                      <m:d>
                        <m:d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dPr>
                        <m:e>
                          <m:r>
                            <a:rPr kumimoji="1" lang="ko-KR" altLang="en-US" sz="2400" i="1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여</m:t>
                          </m:r>
                          <m:r>
                            <a:rPr kumimoji="1" lang="ko-KR" altLang="en-US" sz="240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성</m:t>
                          </m:r>
                          <m:r>
                            <a:rPr kumimoji="1" lang="en-US" altLang="ko-KR" sz="2400" i="1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 </m:t>
                          </m:r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𝑜𝑟</m:t>
                          </m:r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 </m:t>
                          </m:r>
                          <m:r>
                            <a:rPr kumimoji="1" lang="ko-KR" altLang="en-US" sz="2400" i="1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남</m:t>
                          </m:r>
                          <m:r>
                            <a:rPr kumimoji="1" lang="ko-KR" altLang="en-US" sz="240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성</m:t>
                          </m:r>
                        </m:e>
                      </m:d>
                    </m:oMath>
                  </m:oMathPara>
                </a14:m>
                <a:endParaRPr kumimoji="1" lang="en-US" altLang="ko-KR" sz="2400" b="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𝑝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:</m:t>
                      </m:r>
                      <m:f>
                        <m:f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fPr>
                        <m:num>
                          <m:r>
                            <a:rPr kumimoji="1" lang="en-US" altLang="ko-KR" sz="2400" i="1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ko-KR" sz="2400" i="1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4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ko-KR" sz="24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−(</m:t>
                              </m:r>
                              <m:r>
                                <a:rPr kumimoji="1" lang="en-US" altLang="ko-KR" sz="24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kumimoji="1" lang="en-US" altLang="ko-KR" sz="24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4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sz="24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ko-KR" sz="24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+</m:t>
                              </m:r>
                              <m:r>
                                <a:rPr kumimoji="1" lang="en-US" altLang="ko-KR" sz="24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𝑏</m:t>
                              </m:r>
                              <m:r>
                                <a:rPr kumimoji="1" lang="en-US" altLang="ko-KR" sz="24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88E7B0-AC37-1B1C-BCE6-24962AB6C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369" y="4809924"/>
                <a:ext cx="5425440" cy="1215397"/>
              </a:xfrm>
              <a:prstGeom prst="rect">
                <a:avLst/>
              </a:prstGeom>
              <a:blipFill>
                <a:blip r:embed="rId6"/>
                <a:stretch>
                  <a:fillRect b="-30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8052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30FB81C8-877B-41FF-E493-CA4972F3C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B65A4CA5-3D9B-5D3E-6A8F-105616E217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관계를 구하려는 데이터의 정답이 두가지 종류로 구분될 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B734C353-0ACF-9AEC-72A6-EB51971531D6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D3782A88-C397-1919-7F56-11B45EA93E54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28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8C3070F-637A-0765-883C-119C5F382641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3C13DAF4-D22C-9FFF-14F8-9F6AC32FA1C3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02CEA862-4F88-B074-AF58-E9E23970D8AC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이진 분류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/ Logistic Regression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9049ABB-A908-EC3A-BD3B-A04D68FD15CC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10ECAD-7C0E-2616-4527-C8F154F05C17}"/>
                  </a:ext>
                </a:extLst>
              </p:cNvPr>
              <p:cNvSpPr txBox="1"/>
              <p:nvPr/>
            </p:nvSpPr>
            <p:spPr>
              <a:xfrm>
                <a:off x="5194662" y="2221951"/>
                <a:ext cx="5425440" cy="624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fPr>
                      <m:num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1</m:t>
                        </m:r>
                      </m:num>
                      <m:den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1+</m:t>
                        </m:r>
                        <m:sSup>
                          <m:sSupPr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pPr>
                          <m:e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𝑒</m:t>
                            </m:r>
                          </m:e>
                          <m:sup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−(</m:t>
                            </m:r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𝑎</m:t>
                            </m:r>
                            <m:sSub>
                              <m:sSubPr>
                                <m:ctrlP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+</m:t>
                            </m:r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𝑏</m:t>
                            </m:r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kumimoji="1" lang="en-US" altLang="ko-KR" sz="2400" i="1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 </m:t>
                    </m:r>
                    <m:r>
                      <a:rPr kumimoji="1" lang="en-US" altLang="ko-KR" sz="2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→1</m:t>
                    </m:r>
                  </m:oMath>
                </a14:m>
                <a:r>
                  <a:rPr kumimoji="1" lang="ko-KR" altLang="en-US" sz="2400" dirty="0" err="1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에</a:t>
                </a:r>
                <a:r>
                  <a:rPr kumimoji="1" lang="ko-KR" altLang="en-US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가까워졌으면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10ECAD-7C0E-2616-4527-C8F154F05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662" y="2221951"/>
                <a:ext cx="5425440" cy="624466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353298-2FAD-5827-5BB0-52F7C4A4A951}"/>
                  </a:ext>
                </a:extLst>
              </p:cNvPr>
              <p:cNvSpPr txBox="1"/>
              <p:nvPr/>
            </p:nvSpPr>
            <p:spPr>
              <a:xfrm>
                <a:off x="2425336" y="2336781"/>
                <a:ext cx="2551612" cy="468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,</m:t>
                    </m:r>
                    <m:sSub>
                      <m:sSubPr>
                        <m:ctrlP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𝑦</m:t>
                        </m:r>
                      </m:e>
                      <m:sub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ko-KR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 </a:t>
                </a:r>
                <a:r>
                  <a:rPr kumimoji="1" lang="ko-KR" altLang="en-US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남성일 때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353298-2FAD-5827-5BB0-52F7C4A4A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336" y="2336781"/>
                <a:ext cx="2551612" cy="468590"/>
              </a:xfrm>
              <a:prstGeom prst="rect">
                <a:avLst/>
              </a:prstGeom>
              <a:blipFill>
                <a:blip r:embed="rId4"/>
                <a:stretch>
                  <a:fillRect t="-10526" b="-26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170425-5EE5-43DA-9BF7-2904D082742B}"/>
                  </a:ext>
                </a:extLst>
              </p:cNvPr>
              <p:cNvSpPr txBox="1"/>
              <p:nvPr/>
            </p:nvSpPr>
            <p:spPr>
              <a:xfrm>
                <a:off x="5194662" y="4088043"/>
                <a:ext cx="5425440" cy="624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fPr>
                      <m:num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1</m:t>
                        </m:r>
                      </m:num>
                      <m:den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1+</m:t>
                        </m:r>
                        <m:sSup>
                          <m:sSupPr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pPr>
                          <m:e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𝑒</m:t>
                            </m:r>
                          </m:e>
                          <m:sup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−(</m:t>
                            </m:r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𝑎</m:t>
                            </m:r>
                            <m:sSub>
                              <m:sSubPr>
                                <m:ctrlP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+</m:t>
                            </m:r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𝑏</m:t>
                            </m:r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kumimoji="1" lang="en-US" altLang="ko-KR" sz="2400" i="1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 </m:t>
                    </m:r>
                    <m:r>
                      <a:rPr kumimoji="1" lang="en-US" altLang="ko-KR" sz="2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→0</m:t>
                    </m:r>
                  </m:oMath>
                </a14:m>
                <a:r>
                  <a:rPr kumimoji="1" lang="ko-KR" altLang="en-US" sz="2400" dirty="0" err="1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에</a:t>
                </a:r>
                <a:r>
                  <a:rPr kumimoji="1" lang="ko-KR" altLang="en-US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가까워졌으면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170425-5EE5-43DA-9BF7-2904D0827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662" y="4088043"/>
                <a:ext cx="5425440" cy="624466"/>
              </a:xfrm>
              <a:prstGeom prst="rect">
                <a:avLst/>
              </a:prstGeom>
              <a:blipFill>
                <a:blip r:embed="rId5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63C2AA-6026-9B61-C2C2-1CF3C465F549}"/>
                  </a:ext>
                </a:extLst>
              </p:cNvPr>
              <p:cNvSpPr txBox="1"/>
              <p:nvPr/>
            </p:nvSpPr>
            <p:spPr>
              <a:xfrm>
                <a:off x="2425336" y="4202873"/>
                <a:ext cx="2551612" cy="468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𝑖</m:t>
                        </m:r>
                      </m:sub>
                    </m:sSub>
                    <m:r>
                      <a:rPr kumimoji="1" lang="en-US" altLang="ko-KR" sz="2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,</m:t>
                    </m:r>
                    <m:sSub>
                      <m:sSubPr>
                        <m:ctrlP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𝑦</m:t>
                        </m:r>
                      </m:e>
                      <m:sub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ko-KR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 </a:t>
                </a:r>
                <a:r>
                  <a:rPr kumimoji="1" lang="ko-KR" altLang="en-US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여성일 때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63C2AA-6026-9B61-C2C2-1CF3C465F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336" y="4202873"/>
                <a:ext cx="2551612" cy="468590"/>
              </a:xfrm>
              <a:prstGeom prst="rect">
                <a:avLst/>
              </a:prstGeom>
              <a:blipFill>
                <a:blip r:embed="rId6"/>
                <a:stretch>
                  <a:fillRect t="-13158" b="-26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AD861A-E863-661A-C62C-D40DEB63B93E}"/>
                  </a:ext>
                </a:extLst>
              </p:cNvPr>
              <p:cNvSpPr txBox="1"/>
              <p:nvPr/>
            </p:nvSpPr>
            <p:spPr>
              <a:xfrm>
                <a:off x="3788225" y="3134474"/>
                <a:ext cx="5425440" cy="624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sz="2400" i="1" dirty="0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→</m:t>
                    </m:r>
                  </m:oMath>
                </a14:m>
                <a:r>
                  <a:rPr kumimoji="1" lang="en-US" altLang="ko-KR" sz="2400" dirty="0">
                    <a:ea typeface="나눔스퀘어" panose="020B0600000101010101" pitchFamily="50" charset="-127"/>
                  </a:rPr>
                  <a:t> Maximize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fPr>
                      <m:num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1</m:t>
                        </m:r>
                      </m:num>
                      <m:den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1+</m:t>
                        </m:r>
                        <m:sSup>
                          <m:sSupPr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pPr>
                          <m:e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𝑒</m:t>
                            </m:r>
                          </m:e>
                          <m:sup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−(</m:t>
                            </m:r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𝑎</m:t>
                            </m:r>
                            <m:sSub>
                              <m:sSubPr>
                                <m:ctrlP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+</m:t>
                            </m:r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𝑏</m:t>
                            </m:r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AD861A-E863-661A-C62C-D40DEB63B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225" y="3134474"/>
                <a:ext cx="5425440" cy="624466"/>
              </a:xfrm>
              <a:prstGeom prst="rect">
                <a:avLst/>
              </a:prstGeom>
              <a:blipFill>
                <a:blip r:embed="rId7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1C11E1-9DEC-AD2D-16AF-875841017F58}"/>
                  </a:ext>
                </a:extLst>
              </p:cNvPr>
              <p:cNvSpPr txBox="1"/>
              <p:nvPr/>
            </p:nvSpPr>
            <p:spPr>
              <a:xfrm>
                <a:off x="3788225" y="4791169"/>
                <a:ext cx="5425440" cy="624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sz="2400" i="1" dirty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→ </m:t>
                    </m:r>
                  </m:oMath>
                </a14:m>
                <a:r>
                  <a:rPr kumimoji="1" lang="en-US" altLang="ko-KR" sz="2400" dirty="0">
                    <a:ea typeface="나눔스퀘어" panose="020B0600000101010101" pitchFamily="50" charset="-127"/>
                  </a:rPr>
                  <a:t>Minimize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fPr>
                      <m:num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1</m:t>
                        </m:r>
                      </m:num>
                      <m:den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1+</m:t>
                        </m:r>
                        <m:sSup>
                          <m:sSupPr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pPr>
                          <m:e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𝑒</m:t>
                            </m:r>
                          </m:e>
                          <m:sup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−(</m:t>
                            </m:r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𝑎</m:t>
                            </m:r>
                            <m:sSub>
                              <m:sSubPr>
                                <m:ctrlP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+</m:t>
                            </m:r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𝑏</m:t>
                            </m:r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1C11E1-9DEC-AD2D-16AF-875841017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225" y="4791169"/>
                <a:ext cx="5425440" cy="624466"/>
              </a:xfrm>
              <a:prstGeom prst="rect">
                <a:avLst/>
              </a:prstGeom>
              <a:blipFill>
                <a:blip r:embed="rId8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9B6E3BC-F0C7-4714-58F7-0C0233388AFB}"/>
                  </a:ext>
                </a:extLst>
              </p:cNvPr>
              <p:cNvSpPr txBox="1"/>
              <p:nvPr/>
            </p:nvSpPr>
            <p:spPr>
              <a:xfrm>
                <a:off x="2190179" y="5722216"/>
                <a:ext cx="8307980" cy="725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2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⇒</m:t>
                    </m:r>
                    <m:sSup>
                      <m:sSupPr>
                        <m:ctrlP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pPr>
                      <m:e>
                        <m:f>
                          <m:fPr>
                            <m:ctrlPr>
                              <a:rPr kumimoji="1" lang="en-US" altLang="ko-KR" sz="24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fPr>
                          <m:num>
                            <m:r>
                              <a:rPr kumimoji="1" lang="en-US" altLang="ko-KR" sz="24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ko-KR" sz="24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kumimoji="1"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kumimoji="1"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−(</m:t>
                                </m:r>
                                <m:r>
                                  <a:rPr kumimoji="1"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𝑎</m:t>
                                </m:r>
                                <m:sSub>
                                  <m:sSubPr>
                                    <m:ctrlP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+</m:t>
                                </m:r>
                                <m:r>
                                  <a:rPr kumimoji="1"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𝑏</m:t>
                                </m:r>
                                <m:r>
                                  <a:rPr kumimoji="1"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)</m:t>
                                </m:r>
                              </m:sup>
                            </m:sSup>
                          </m:den>
                        </m:f>
                      </m:e>
                      <m:sup>
                        <m:sSub>
                          <m:sSubPr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𝑖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dPr>
                          <m:e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kumimoji="1"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−(</m:t>
                                    </m:r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𝑎</m:t>
                                    </m:r>
                                    <m:sSub>
                                      <m:sSubPr>
                                        <m:ctrlPr>
                                          <a:rPr kumimoji="1"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1"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+</m:t>
                                    </m:r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𝑏</m:t>
                                    </m:r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)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1−</m:t>
                        </m:r>
                        <m:sSub>
                          <m:sSubPr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kumimoji="1" lang="en-US" altLang="ko-KR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kumimoji="1" lang="ko-KR" altLang="en-US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최대화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9B6E3BC-F0C7-4714-58F7-0C0233388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179" y="5722216"/>
                <a:ext cx="8307980" cy="725648"/>
              </a:xfrm>
              <a:prstGeom prst="rect">
                <a:avLst/>
              </a:prstGeom>
              <a:blipFill>
                <a:blip r:embed="rId9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8397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92BD64CB-3787-3A3F-FC16-82185EB5B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20B71327-F0A1-82F4-CFD8-26FBA2258A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관계를 구하려는 데이터의 정답이 두가지 종류로 구분될 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DC64FA19-4D40-61CD-5BDD-D5229DB27BDC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6CF739F6-1265-95BB-0C83-C4CA525B70B6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29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9BE02-9909-AB75-4FE7-2DACB6C0F798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09DB6644-AA7A-3930-2730-27DBF4D8E95C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3D9509F3-F701-F09B-D77C-26BFB7344051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이진 분류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/ Logistic Regression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D4C49CF-FD34-DADE-70C2-D82C723E4F19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55B48CA-27A0-DBA4-E248-75A20523E5F1}"/>
                  </a:ext>
                </a:extLst>
              </p:cNvPr>
              <p:cNvSpPr txBox="1"/>
              <p:nvPr/>
            </p:nvSpPr>
            <p:spPr>
              <a:xfrm>
                <a:off x="2812869" y="2228770"/>
                <a:ext cx="6905898" cy="1604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𝑖</m:t>
                          </m:r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18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𝑖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bSup>
                          <m:sSup>
                            <m:sSupPr>
                              <m:ctrlPr>
                                <a:rPr kumimoji="1" lang="en-US" altLang="ko-KR" sz="18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1" lang="en-US" altLang="ko-KR" sz="18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ko-KR" sz="18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kumimoji="1" lang="ko-KR" altLang="en-US" sz="1800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kumimoji="1" lang="en-US" altLang="ko-KR" sz="1800" b="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𝑖</m:t>
                          </m:r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kumimoji="1"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kumimoji="1" lang="en-US" altLang="ko-KR" sz="1800" b="0" i="1" smtClean="0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kumimoji="1" lang="en-US" altLang="ko-KR" sz="1800" b="0" i="1" smtClean="0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𝑎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kumimoji="1" lang="en-US" altLang="ko-KR" sz="1800" b="0" i="1" smtClean="0">
                                                      <a:latin typeface="Cambria Math" panose="02040503050406030204" pitchFamily="18" charset="0"/>
                                                      <a:ea typeface="나눔스퀘어" panose="020B0600000101010101" pitchFamily="50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en-US" altLang="ko-KR" sz="1800" b="0" i="1" smtClean="0">
                                                      <a:latin typeface="Cambria Math" panose="02040503050406030204" pitchFamily="18" charset="0"/>
                                                      <a:ea typeface="나눔스퀘어" panose="020B0600000101010101" pitchFamily="50" charset="-127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en-US" altLang="ko-KR" sz="1800" b="0" i="1" smtClean="0">
                                                      <a:latin typeface="Cambria Math" panose="02040503050406030204" pitchFamily="18" charset="0"/>
                                                      <a:ea typeface="나눔스퀘어" panose="020B0600000101010101" pitchFamily="50" charset="-127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kumimoji="1" lang="en-US" altLang="ko-KR" sz="1800" b="0" i="1" smtClean="0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kumimoji="1" lang="en-US" altLang="ko-KR" sz="1800" b="0" i="1" smtClean="0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𝑏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kumimoji="1" lang="en-US" altLang="ko-KR" sz="18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𝑎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kumimoji="1" lang="en-US" altLang="ko-KR" sz="1800" i="1">
                                                      <a:latin typeface="Cambria Math" panose="02040503050406030204" pitchFamily="18" charset="0"/>
                                                      <a:ea typeface="나눔스퀘어" panose="020B0600000101010101" pitchFamily="50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en-US" altLang="ko-KR" sz="1800" i="1">
                                                      <a:latin typeface="Cambria Math" panose="02040503050406030204" pitchFamily="18" charset="0"/>
                                                      <a:ea typeface="나눔스퀘어" panose="020B0600000101010101" pitchFamily="50" charset="-127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en-US" altLang="ko-KR" sz="1800" i="1">
                                                      <a:latin typeface="Cambria Math" panose="02040503050406030204" pitchFamily="18" charset="0"/>
                                                      <a:ea typeface="나눔스퀘어" panose="020B0600000101010101" pitchFamily="50" charset="-127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𝑏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en-US" altLang="ko-KR" sz="18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ko-KR" sz="18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kumimoji="1" lang="ko-KR" altLang="en-US" sz="1800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kumimoji="1" lang="ko-KR" altLang="en-US" sz="18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55B48CA-27A0-DBA4-E248-75A20523E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869" y="2228770"/>
                <a:ext cx="6905898" cy="1604798"/>
              </a:xfrm>
              <a:prstGeom prst="rect">
                <a:avLst/>
              </a:prstGeom>
              <a:blipFill>
                <a:blip r:embed="rId3"/>
                <a:stretch>
                  <a:fillRect t="-52756" b="-81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74762B3-CA1C-2F62-D74C-7AE38623B367}"/>
                  </a:ext>
                </a:extLst>
              </p:cNvPr>
              <p:cNvSpPr txBox="1"/>
              <p:nvPr/>
            </p:nvSpPr>
            <p:spPr>
              <a:xfrm>
                <a:off x="2812869" y="3859313"/>
                <a:ext cx="6905898" cy="848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𝑖</m:t>
                          </m:r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ko-KR" sz="1800" b="0" i="0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−(</m:t>
                                      </m:r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𝑎</m:t>
                                      </m:r>
                                      <m:sSub>
                                        <m:sSubPr>
                                          <m:ctrlPr>
                                            <a:rPr kumimoji="1"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+</m:t>
                                      </m:r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𝑏</m:t>
                                      </m:r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)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e>
                          </m:func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+</m:t>
                          </m:r>
                          <m:d>
                            <m:dPr>
                              <m:ctrlP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ko-KR" sz="1800" b="0" i="0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(1−</m:t>
                              </m:r>
                              <m:f>
                                <m:f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𝑎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+</m:t>
                                          </m:r>
                                          <m: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𝑏</m:t>
                                          </m:r>
                                        </m:e>
                                      </m:d>
                                    </m:sup>
                                  </m:sSup>
                                </m:den>
                              </m:f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kumimoji="1" lang="ko-KR" altLang="en-US" sz="18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74762B3-CA1C-2F62-D74C-7AE38623B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869" y="3859313"/>
                <a:ext cx="6905898" cy="848566"/>
              </a:xfrm>
              <a:prstGeom prst="rect">
                <a:avLst/>
              </a:prstGeom>
              <a:blipFill>
                <a:blip r:embed="rId4"/>
                <a:stretch>
                  <a:fillRect t="-98529" b="-152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3CCC0C1-84FC-9BAC-1E04-2108F77F4D6D}"/>
                  </a:ext>
                </a:extLst>
              </p:cNvPr>
              <p:cNvSpPr txBox="1"/>
              <p:nvPr/>
            </p:nvSpPr>
            <p:spPr>
              <a:xfrm>
                <a:off x="2812869" y="4901683"/>
                <a:ext cx="6905898" cy="848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𝑖</m:t>
                          </m:r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ko-KR" sz="1800" b="0" i="0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−(</m:t>
                                      </m:r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𝑎</m:t>
                                      </m:r>
                                      <m:sSub>
                                        <m:sSubPr>
                                          <m:ctrlPr>
                                            <a:rPr kumimoji="1"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+</m:t>
                                      </m:r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𝑏</m:t>
                                      </m:r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)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e>
                          </m:func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+</m:t>
                          </m:r>
                          <m:func>
                            <m:funcPr>
                              <m:ctrlP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ko-KR" sz="1800" b="0" i="0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(1−</m:t>
                              </m:r>
                              <m:f>
                                <m:f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𝑎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+</m:t>
                                          </m:r>
                                          <m: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𝑏</m:t>
                                          </m:r>
                                        </m:e>
                                      </m:d>
                                    </m:sup>
                                  </m:sSup>
                                </m:den>
                              </m:f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𝑔</m:t>
                      </m:r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(</m:t>
                      </m:r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𝑎</m:t>
                      </m:r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,</m:t>
                      </m:r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𝑏</m:t>
                      </m:r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</m:t>
                      </m:r>
                    </m:oMath>
                  </m:oMathPara>
                </a14:m>
                <a:endParaRPr kumimoji="1" lang="ko-KR" altLang="en-US" sz="18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3CCC0C1-84FC-9BAC-1E04-2108F77F4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869" y="4901683"/>
                <a:ext cx="6905898" cy="848566"/>
              </a:xfrm>
              <a:prstGeom prst="rect">
                <a:avLst/>
              </a:prstGeom>
              <a:blipFill>
                <a:blip r:embed="rId5"/>
                <a:stretch>
                  <a:fillRect t="-98529" b="-152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148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89A93390-6735-13A7-CCBB-8EFC8D814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219478DF-A904-FB84-2BB9-45EF23F8BB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관계를 구하려는 데이터의 정답이 두가지 종류로 구분될 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CBE30704-D2C7-F0D2-4D40-D471F1C63C21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D25673FD-5EE9-ADD9-5F3A-65404D2C9CE6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30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BF0384A-24C7-9EC1-E4D7-A5FF7BEEE773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8EB37206-AAA0-8306-9B3E-BE333DC02AE7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246BA09B-B9FF-864F-A458-03C916DD147B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이진 분류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/ Logistic Regression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572F38A-B45D-CA4B-DC97-CDFDDE5BD11F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02D183-4812-0064-09EE-DDE4FFFFA8AC}"/>
                  </a:ext>
                </a:extLst>
              </p:cNvPr>
              <p:cNvSpPr txBox="1"/>
              <p:nvPr/>
            </p:nvSpPr>
            <p:spPr>
              <a:xfrm>
                <a:off x="2812869" y="2228770"/>
                <a:ext cx="6905898" cy="1604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𝑖</m:t>
                          </m:r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18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𝑖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bSup>
                          <m:sSup>
                            <m:sSupPr>
                              <m:ctrlPr>
                                <a:rPr kumimoji="1" lang="en-US" altLang="ko-KR" sz="18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1" lang="en-US" altLang="ko-KR" sz="18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ko-KR" sz="18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kumimoji="1" lang="ko-KR" altLang="en-US" sz="1800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kumimoji="1" lang="en-US" altLang="ko-KR" sz="1800" b="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𝑖</m:t>
                          </m:r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kumimoji="1"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kumimoji="1" lang="en-US" altLang="ko-KR" sz="1800" b="0" i="1" smtClean="0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kumimoji="1" lang="en-US" altLang="ko-KR" sz="1800" b="0" i="1" smtClean="0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𝑎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kumimoji="1" lang="en-US" altLang="ko-KR" sz="1800" b="0" i="1" smtClean="0">
                                                      <a:latin typeface="Cambria Math" panose="02040503050406030204" pitchFamily="18" charset="0"/>
                                                      <a:ea typeface="나눔스퀘어" panose="020B0600000101010101" pitchFamily="50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en-US" altLang="ko-KR" sz="1800" b="0" i="1" smtClean="0">
                                                      <a:latin typeface="Cambria Math" panose="02040503050406030204" pitchFamily="18" charset="0"/>
                                                      <a:ea typeface="나눔스퀘어" panose="020B0600000101010101" pitchFamily="50" charset="-127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en-US" altLang="ko-KR" sz="1800" b="0" i="1" smtClean="0">
                                                      <a:latin typeface="Cambria Math" panose="02040503050406030204" pitchFamily="18" charset="0"/>
                                                      <a:ea typeface="나눔스퀘어" panose="020B0600000101010101" pitchFamily="50" charset="-127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kumimoji="1" lang="en-US" altLang="ko-KR" sz="1800" b="0" i="1" smtClean="0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kumimoji="1" lang="en-US" altLang="ko-KR" sz="1800" b="0" i="1" smtClean="0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𝑏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kumimoji="1" lang="en-US" altLang="ko-KR" sz="18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𝑎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kumimoji="1" lang="en-US" altLang="ko-KR" sz="1800" i="1">
                                                      <a:latin typeface="Cambria Math" panose="02040503050406030204" pitchFamily="18" charset="0"/>
                                                      <a:ea typeface="나눔스퀘어" panose="020B0600000101010101" pitchFamily="50" charset="-127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en-US" altLang="ko-KR" sz="1800" i="1">
                                                      <a:latin typeface="Cambria Math" panose="02040503050406030204" pitchFamily="18" charset="0"/>
                                                      <a:ea typeface="나눔스퀘어" panose="020B0600000101010101" pitchFamily="50" charset="-127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en-US" altLang="ko-KR" sz="1800" i="1">
                                                      <a:latin typeface="Cambria Math" panose="02040503050406030204" pitchFamily="18" charset="0"/>
                                                      <a:ea typeface="나눔스퀘어" panose="020B0600000101010101" pitchFamily="50" charset="-127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𝑏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en-US" altLang="ko-KR" sz="18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ko-KR" sz="18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kumimoji="1" lang="ko-KR" altLang="en-US" sz="1800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kumimoji="1" lang="ko-KR" altLang="en-US" sz="18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02D183-4812-0064-09EE-DDE4FFFFA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869" y="2228770"/>
                <a:ext cx="6905898" cy="1604798"/>
              </a:xfrm>
              <a:prstGeom prst="rect">
                <a:avLst/>
              </a:prstGeom>
              <a:blipFill>
                <a:blip r:embed="rId3"/>
                <a:stretch>
                  <a:fillRect t="-52756" b="-81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2F969F-DC5C-F08E-8070-BBB29D6CCBFB}"/>
                  </a:ext>
                </a:extLst>
              </p:cNvPr>
              <p:cNvSpPr txBox="1"/>
              <p:nvPr/>
            </p:nvSpPr>
            <p:spPr>
              <a:xfrm>
                <a:off x="2812869" y="3859313"/>
                <a:ext cx="6905898" cy="848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𝑖</m:t>
                          </m:r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ko-KR" sz="1800" b="0" i="0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−(</m:t>
                                      </m:r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𝑎</m:t>
                                      </m:r>
                                      <m:sSub>
                                        <m:sSubPr>
                                          <m:ctrlPr>
                                            <a:rPr kumimoji="1"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+</m:t>
                                      </m:r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𝑏</m:t>
                                      </m:r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)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e>
                          </m:func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+</m:t>
                          </m:r>
                          <m:d>
                            <m:dPr>
                              <m:ctrlP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ko-KR" sz="1800" b="0" i="0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(1−</m:t>
                              </m:r>
                              <m:f>
                                <m:f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𝑎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+</m:t>
                                          </m:r>
                                          <m: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𝑏</m:t>
                                          </m:r>
                                        </m:e>
                                      </m:d>
                                    </m:sup>
                                  </m:sSup>
                                </m:den>
                              </m:f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kumimoji="1" lang="ko-KR" altLang="en-US" sz="18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2F969F-DC5C-F08E-8070-BBB29D6CC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869" y="3859313"/>
                <a:ext cx="6905898" cy="848566"/>
              </a:xfrm>
              <a:prstGeom prst="rect">
                <a:avLst/>
              </a:prstGeom>
              <a:blipFill>
                <a:blip r:embed="rId4"/>
                <a:stretch>
                  <a:fillRect t="-98529" b="-152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77D2CE-D178-C17B-7687-2613F2987899}"/>
                  </a:ext>
                </a:extLst>
              </p:cNvPr>
              <p:cNvSpPr txBox="1"/>
              <p:nvPr/>
            </p:nvSpPr>
            <p:spPr>
              <a:xfrm>
                <a:off x="2812869" y="4901683"/>
                <a:ext cx="6905898" cy="848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𝑖</m:t>
                          </m:r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ko-KR" sz="1800" b="0" i="0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−(</m:t>
                                      </m:r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𝑎</m:t>
                                      </m:r>
                                      <m:sSub>
                                        <m:sSubPr>
                                          <m:ctrlPr>
                                            <a:rPr kumimoji="1"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+</m:t>
                                      </m:r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𝑏</m:t>
                                      </m:r>
                                      <m:r>
                                        <a:rPr kumimoji="1"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)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e>
                          </m:func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+</m:t>
                          </m:r>
                          <m:func>
                            <m:funcPr>
                              <m:ctrlP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ko-KR" sz="1800" b="0" i="0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(1−</m:t>
                              </m:r>
                              <m:f>
                                <m:f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𝑎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ko-KR" sz="1800" i="1">
                                                  <a:latin typeface="Cambria Math" panose="02040503050406030204" pitchFamily="18" charset="0"/>
                                                  <a:ea typeface="나눔스퀘어" panose="020B0600000101010101" pitchFamily="50" charset="-127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+</m:t>
                                          </m:r>
                                          <m:r>
                                            <a:rPr kumimoji="1" lang="en-US" altLang="ko-KR" sz="1800" i="1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𝑏</m:t>
                                          </m:r>
                                        </m:e>
                                      </m:d>
                                    </m:sup>
                                  </m:sSup>
                                </m:den>
                              </m:f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𝑔</m:t>
                      </m:r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(</m:t>
                      </m:r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𝑎</m:t>
                      </m:r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,</m:t>
                      </m:r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𝑏</m:t>
                      </m:r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</m:t>
                      </m:r>
                    </m:oMath>
                  </m:oMathPara>
                </a14:m>
                <a:endParaRPr kumimoji="1" lang="ko-KR" altLang="en-US" sz="18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77D2CE-D178-C17B-7687-2613F2987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869" y="4901683"/>
                <a:ext cx="6905898" cy="848566"/>
              </a:xfrm>
              <a:prstGeom prst="rect">
                <a:avLst/>
              </a:prstGeom>
              <a:blipFill>
                <a:blip r:embed="rId5"/>
                <a:stretch>
                  <a:fillRect t="-98529" b="-152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3A7817-4CA4-0B4E-79CA-93ADC3AEC97E}"/>
                  </a:ext>
                </a:extLst>
              </p:cNvPr>
              <p:cNvSpPr txBox="1"/>
              <p:nvPr/>
            </p:nvSpPr>
            <p:spPr>
              <a:xfrm>
                <a:off x="2050842" y="5824216"/>
                <a:ext cx="9246442" cy="8163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sz="32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⇒</m:t>
                    </m:r>
                    <m:r>
                      <a:rPr kumimoji="1" lang="en-US" altLang="ko-KR" sz="3200" i="1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 </m:t>
                    </m:r>
                    <m:f>
                      <m:fPr>
                        <m:ctrlPr>
                          <a:rPr kumimoji="1" lang="en-US" altLang="ko-KR" sz="32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fPr>
                      <m:num>
                        <m:r>
                          <a:rPr kumimoji="1" lang="en-US" altLang="ko-KR" sz="32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𝜕</m:t>
                        </m:r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𝑔</m:t>
                        </m:r>
                      </m:num>
                      <m:den>
                        <m:r>
                          <a:rPr kumimoji="1" lang="en-US" altLang="ko-KR" sz="32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𝜕</m:t>
                        </m:r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𝑎</m:t>
                        </m:r>
                      </m:den>
                    </m:f>
                    <m:r>
                      <a:rPr kumimoji="1" lang="en-US" altLang="ko-KR" sz="32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=0,  </m:t>
                    </m:r>
                    <m:f>
                      <m:fPr>
                        <m:ctrlPr>
                          <a:rPr kumimoji="1" lang="en-US" altLang="ko-KR" sz="32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fPr>
                      <m:num>
                        <m:r>
                          <a:rPr kumimoji="1" lang="en-US" altLang="ko-KR" sz="32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𝜕</m:t>
                        </m:r>
                        <m:r>
                          <a:rPr kumimoji="1" lang="en-US" altLang="ko-KR" sz="32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𝑔</m:t>
                        </m:r>
                      </m:num>
                      <m:den>
                        <m:r>
                          <a:rPr kumimoji="1" lang="en-US" altLang="ko-KR" sz="32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𝜕</m:t>
                        </m:r>
                        <m:r>
                          <a:rPr kumimoji="1" lang="en-US" altLang="ko-KR" sz="32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𝑏</m:t>
                        </m:r>
                      </m:den>
                    </m:f>
                    <m:r>
                      <a:rPr kumimoji="1" lang="en-US" altLang="ko-KR" sz="3200" i="1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=0</m:t>
                    </m:r>
                  </m:oMath>
                </a14:m>
                <a:r>
                  <a:rPr kumimoji="1" lang="en-US" altLang="ko-KR" sz="32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kumimoji="1" lang="ko-KR" altLang="en-US" sz="3200" dirty="0" err="1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를</a:t>
                </a:r>
                <a:r>
                  <a:rPr kumimoji="1" lang="ko-KR" altLang="en-US" sz="32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만족시키는 연립방정식의 해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3A7817-4CA4-0B4E-79CA-93ADC3AEC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842" y="5824216"/>
                <a:ext cx="9246442" cy="816377"/>
              </a:xfrm>
              <a:prstGeom prst="rect">
                <a:avLst/>
              </a:prstGeom>
              <a:blipFill>
                <a:blip r:embed="rId6"/>
                <a:stretch>
                  <a:fillRect l="-274" r="-686" b="-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8648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1FD09EDB-96B6-0273-8DFD-C66D54466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AB8DCF02-DCED-41FA-AD76-5AA959554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관계를 구하려는 데이터의 정답이 두가지 종류로 구분될 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65B98C63-739C-00CD-8B4A-2C9F564A9986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ECB3A564-C0B8-B347-EA32-C6DCFAA7ED96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31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D3C8CFE-C9C8-9A48-EE3D-2256E821F344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673C9BC7-594D-4317-22B9-E416CA1AC72D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C9941605-82AA-C4C9-0BC6-2CF3F724A3C2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이진 분류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/ Logistic Regression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364ADC7-9E74-598B-E40D-14FE3C847A77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CFD0E55-9D8C-75F2-D5E2-2F22434DDCD4}"/>
              </a:ext>
            </a:extLst>
          </p:cNvPr>
          <p:cNvCxnSpPr>
            <a:cxnSpLocks/>
          </p:cNvCxnSpPr>
          <p:nvPr/>
        </p:nvCxnSpPr>
        <p:spPr>
          <a:xfrm>
            <a:off x="2855573" y="6142187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4A93B7BC-C53C-FFC7-B612-1CB2B039B179}"/>
              </a:ext>
            </a:extLst>
          </p:cNvPr>
          <p:cNvCxnSpPr>
            <a:cxnSpLocks/>
          </p:cNvCxnSpPr>
          <p:nvPr/>
        </p:nvCxnSpPr>
        <p:spPr>
          <a:xfrm flipV="1">
            <a:off x="2979398" y="2303612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C956D02-85BF-8E1F-048A-718EE669AFFB}"/>
              </a:ext>
            </a:extLst>
          </p:cNvPr>
          <p:cNvSpPr txBox="1"/>
          <p:nvPr/>
        </p:nvSpPr>
        <p:spPr>
          <a:xfrm>
            <a:off x="8434918" y="6007465"/>
            <a:ext cx="180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(mm)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C34C41-50AC-C21B-7895-493BAB526734}"/>
              </a:ext>
            </a:extLst>
          </p:cNvPr>
          <p:cNvSpPr txBox="1"/>
          <p:nvPr/>
        </p:nvSpPr>
        <p:spPr>
          <a:xfrm>
            <a:off x="2190179" y="2293324"/>
            <a:ext cx="95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성별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891316A-5DB3-99C7-2638-20663B191B5A}"/>
              </a:ext>
            </a:extLst>
          </p:cNvPr>
          <p:cNvSpPr/>
          <p:nvPr/>
        </p:nvSpPr>
        <p:spPr>
          <a:xfrm>
            <a:off x="301205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057D28-2309-51A3-9018-CCCD31B90036}"/>
              </a:ext>
            </a:extLst>
          </p:cNvPr>
          <p:cNvSpPr txBox="1"/>
          <p:nvPr/>
        </p:nvSpPr>
        <p:spPr>
          <a:xfrm>
            <a:off x="3088935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220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A5ED3D-9CA8-3D74-4337-39D9BCB34F61}"/>
              </a:ext>
            </a:extLst>
          </p:cNvPr>
          <p:cNvSpPr txBox="1"/>
          <p:nvPr/>
        </p:nvSpPr>
        <p:spPr>
          <a:xfrm>
            <a:off x="6736857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290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5C3BC0-2DBC-84F4-DB44-99F388D9F0E9}"/>
              </a:ext>
            </a:extLst>
          </p:cNvPr>
          <p:cNvSpPr txBox="1"/>
          <p:nvPr/>
        </p:nvSpPr>
        <p:spPr>
          <a:xfrm>
            <a:off x="1872343" y="5999378"/>
            <a:ext cx="1208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여성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BD8FE1-A771-1C59-5219-9144BE292F1F}"/>
              </a:ext>
            </a:extLst>
          </p:cNvPr>
          <p:cNvSpPr txBox="1"/>
          <p:nvPr/>
        </p:nvSpPr>
        <p:spPr>
          <a:xfrm>
            <a:off x="2026474" y="2715240"/>
            <a:ext cx="891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남성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78F86A32-A014-AA9D-13F0-B5F681E09A0A}"/>
              </a:ext>
            </a:extLst>
          </p:cNvPr>
          <p:cNvSpPr/>
          <p:nvPr/>
        </p:nvSpPr>
        <p:spPr>
          <a:xfrm>
            <a:off x="3272433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99A490B-7F60-AA16-060E-98D7352FB993}"/>
              </a:ext>
            </a:extLst>
          </p:cNvPr>
          <p:cNvSpPr/>
          <p:nvPr/>
        </p:nvSpPr>
        <p:spPr>
          <a:xfrm>
            <a:off x="3477158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99DE7E57-26BE-8EAC-FDB9-3A3AA036592C}"/>
              </a:ext>
            </a:extLst>
          </p:cNvPr>
          <p:cNvSpPr/>
          <p:nvPr/>
        </p:nvSpPr>
        <p:spPr>
          <a:xfrm>
            <a:off x="341042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A9F6760-2447-DFFF-5B5E-F051AA52664E}"/>
              </a:ext>
            </a:extLst>
          </p:cNvPr>
          <p:cNvSpPr/>
          <p:nvPr/>
        </p:nvSpPr>
        <p:spPr>
          <a:xfrm>
            <a:off x="356989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1C7E620F-F1FD-2C58-25B3-54A7CDA9340A}"/>
              </a:ext>
            </a:extLst>
          </p:cNvPr>
          <p:cNvSpPr/>
          <p:nvPr/>
        </p:nvSpPr>
        <p:spPr>
          <a:xfrm>
            <a:off x="365933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D95EF50-8F2C-7D9B-868B-D2A621A36AF7}"/>
              </a:ext>
            </a:extLst>
          </p:cNvPr>
          <p:cNvSpPr/>
          <p:nvPr/>
        </p:nvSpPr>
        <p:spPr>
          <a:xfrm>
            <a:off x="3744434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02DE3F50-CD7F-0B51-6207-9CE21A29335F}"/>
              </a:ext>
            </a:extLst>
          </p:cNvPr>
          <p:cNvSpPr/>
          <p:nvPr/>
        </p:nvSpPr>
        <p:spPr>
          <a:xfrm>
            <a:off x="400386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D104E169-218F-B2BC-83A0-4FECDA7BACA0}"/>
              </a:ext>
            </a:extLst>
          </p:cNvPr>
          <p:cNvSpPr/>
          <p:nvPr/>
        </p:nvSpPr>
        <p:spPr>
          <a:xfrm>
            <a:off x="3929491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BB3822E9-7C7F-CCD7-3C5F-8C8ECFE25D49}"/>
              </a:ext>
            </a:extLst>
          </p:cNvPr>
          <p:cNvSpPr/>
          <p:nvPr/>
        </p:nvSpPr>
        <p:spPr>
          <a:xfrm>
            <a:off x="411247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6685A6D3-CDD0-11E4-16B5-863E92FB0A8A}"/>
              </a:ext>
            </a:extLst>
          </p:cNvPr>
          <p:cNvSpPr/>
          <p:nvPr/>
        </p:nvSpPr>
        <p:spPr>
          <a:xfrm>
            <a:off x="402542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5B9F55B-DDCB-7C08-1180-97C8EB3BF8EB}"/>
              </a:ext>
            </a:extLst>
          </p:cNvPr>
          <p:cNvSpPr/>
          <p:nvPr/>
        </p:nvSpPr>
        <p:spPr>
          <a:xfrm rot="19439823">
            <a:off x="5690101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7C33C97-FE85-C4EA-63B1-EB884D15A455}"/>
              </a:ext>
            </a:extLst>
          </p:cNvPr>
          <p:cNvSpPr/>
          <p:nvPr/>
        </p:nvSpPr>
        <p:spPr>
          <a:xfrm rot="19439823">
            <a:off x="5558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08C26D8-A12A-BB80-E42E-A51DFA7F6151}"/>
              </a:ext>
            </a:extLst>
          </p:cNvPr>
          <p:cNvSpPr/>
          <p:nvPr/>
        </p:nvSpPr>
        <p:spPr>
          <a:xfrm rot="19439823">
            <a:off x="584680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7499AB4-3B2A-EE32-2BDD-19CB79C70C61}"/>
              </a:ext>
            </a:extLst>
          </p:cNvPr>
          <p:cNvSpPr/>
          <p:nvPr/>
        </p:nvSpPr>
        <p:spPr>
          <a:xfrm rot="19439823">
            <a:off x="613662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308EC884-8D3C-8863-541B-D86A7319A93B}"/>
              </a:ext>
            </a:extLst>
          </p:cNvPr>
          <p:cNvSpPr/>
          <p:nvPr/>
        </p:nvSpPr>
        <p:spPr>
          <a:xfrm rot="19439823">
            <a:off x="6028728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FCA41566-C714-5B81-D442-9E30461BFD23}"/>
              </a:ext>
            </a:extLst>
          </p:cNvPr>
          <p:cNvSpPr/>
          <p:nvPr/>
        </p:nvSpPr>
        <p:spPr>
          <a:xfrm rot="19439823">
            <a:off x="6283587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FBDAFFE-CBF8-87E6-E240-4D6B93077D35}"/>
              </a:ext>
            </a:extLst>
          </p:cNvPr>
          <p:cNvSpPr/>
          <p:nvPr/>
        </p:nvSpPr>
        <p:spPr>
          <a:xfrm rot="19439823">
            <a:off x="6426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43F63B0-D005-0915-9236-123B632998BD}"/>
              </a:ext>
            </a:extLst>
          </p:cNvPr>
          <p:cNvSpPr/>
          <p:nvPr/>
        </p:nvSpPr>
        <p:spPr>
          <a:xfrm rot="19439823">
            <a:off x="6607740" y="292750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ABF37E0D-EC45-9572-7A58-AFA9E654173A}"/>
              </a:ext>
            </a:extLst>
          </p:cNvPr>
          <p:cNvSpPr/>
          <p:nvPr/>
        </p:nvSpPr>
        <p:spPr>
          <a:xfrm rot="19439823">
            <a:off x="6771561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7F58C148-F818-25EC-CDD0-FF90EBA24020}"/>
              </a:ext>
            </a:extLst>
          </p:cNvPr>
          <p:cNvSpPr/>
          <p:nvPr/>
        </p:nvSpPr>
        <p:spPr>
          <a:xfrm rot="19439823">
            <a:off x="6666770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F386504D-703D-CA63-3083-E99C1AAA5B69}"/>
              </a:ext>
            </a:extLst>
          </p:cNvPr>
          <p:cNvGrpSpPr/>
          <p:nvPr/>
        </p:nvGrpSpPr>
        <p:grpSpPr>
          <a:xfrm>
            <a:off x="2675171" y="3023017"/>
            <a:ext cx="4684668" cy="3063256"/>
            <a:chOff x="2190179" y="3154033"/>
            <a:chExt cx="5705302" cy="2564991"/>
          </a:xfrm>
        </p:grpSpPr>
        <p:cxnSp>
          <p:nvCxnSpPr>
            <p:cNvPr id="11" name="구부러진 연결선[U] 10">
              <a:extLst>
                <a:ext uri="{FF2B5EF4-FFF2-40B4-BE49-F238E27FC236}">
                  <a16:creationId xmlns:a16="http://schemas.microsoft.com/office/drawing/2014/main" id="{2FBDBA87-639C-7176-FCBE-C48494F2A6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6287" y="3154033"/>
              <a:ext cx="3390570" cy="2564991"/>
            </a:xfrm>
            <a:prstGeom prst="curved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[R] 49">
              <a:extLst>
                <a:ext uri="{FF2B5EF4-FFF2-40B4-BE49-F238E27FC236}">
                  <a16:creationId xmlns:a16="http://schemas.microsoft.com/office/drawing/2014/main" id="{341E63BC-2F44-D9C1-8EBF-438DC6435080}"/>
                </a:ext>
              </a:extLst>
            </p:cNvPr>
            <p:cNvCxnSpPr/>
            <p:nvPr/>
          </p:nvCxnSpPr>
          <p:spPr>
            <a:xfrm flipH="1">
              <a:off x="2190179" y="5719024"/>
              <a:ext cx="12202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[R] 50">
              <a:extLst>
                <a:ext uri="{FF2B5EF4-FFF2-40B4-BE49-F238E27FC236}">
                  <a16:creationId xmlns:a16="http://schemas.microsoft.com/office/drawing/2014/main" id="{11A080E1-7B28-23A2-8F66-F54553DB0BD6}"/>
                </a:ext>
              </a:extLst>
            </p:cNvPr>
            <p:cNvCxnSpPr/>
            <p:nvPr/>
          </p:nvCxnSpPr>
          <p:spPr>
            <a:xfrm flipH="1">
              <a:off x="6675231" y="3154033"/>
              <a:ext cx="12202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2D4722-6913-DBE4-4867-79A3F7A8EB30}"/>
                  </a:ext>
                </a:extLst>
              </p:cNvPr>
              <p:cNvSpPr txBox="1"/>
              <p:nvPr/>
            </p:nvSpPr>
            <p:spPr>
              <a:xfrm>
                <a:off x="5375419" y="3321264"/>
                <a:ext cx="2360731" cy="698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fPr>
                        <m:num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−(</m:t>
                              </m:r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𝑎𝑥</m:t>
                              </m:r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+</m:t>
                              </m:r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𝑏</m:t>
                              </m:r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ko-KR" altLang="en-US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2D4722-6913-DBE4-4867-79A3F7A8E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419" y="3321264"/>
                <a:ext cx="2360731" cy="698781"/>
              </a:xfrm>
              <a:prstGeom prst="rect">
                <a:avLst/>
              </a:prstGeom>
              <a:blipFill>
                <a:blip r:embed="rId3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B9E0AA05-A07C-466B-0314-474BBC517C4D}"/>
              </a:ext>
            </a:extLst>
          </p:cNvPr>
          <p:cNvCxnSpPr/>
          <p:nvPr/>
        </p:nvCxnSpPr>
        <p:spPr>
          <a:xfrm>
            <a:off x="1733005" y="4380411"/>
            <a:ext cx="87259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4666F7F-49E9-6D38-1488-0A0F0144A073}"/>
              </a:ext>
            </a:extLst>
          </p:cNvPr>
          <p:cNvSpPr txBox="1"/>
          <p:nvPr/>
        </p:nvSpPr>
        <p:spPr>
          <a:xfrm>
            <a:off x="1803209" y="4429144"/>
            <a:ext cx="1208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0.5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0EF63D-0D8E-7DD4-0948-A7CCB9A81962}"/>
                  </a:ext>
                </a:extLst>
              </p:cNvPr>
              <p:cNvSpPr txBox="1"/>
              <p:nvPr/>
            </p:nvSpPr>
            <p:spPr>
              <a:xfrm>
                <a:off x="8434918" y="4868091"/>
                <a:ext cx="248563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acc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𝑦</m:t>
                        </m:r>
                      </m:e>
                    </m:acc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≥0.5</m:t>
                    </m:r>
                  </m:oMath>
                </a14:m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-&gt;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남성</a:t>
                </a:r>
                <a:endParaRPr kumimoji="1"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endParaRPr kumimoji="1" lang="en-US" altLang="ko-KR" b="0" i="1" dirty="0">
                  <a:latin typeface="Cambria Math" panose="02040503050406030204" pitchFamily="18" charset="0"/>
                  <a:ea typeface="나눔스퀘어" panose="020B0600000101010101" pitchFamily="50" charset="-127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acc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𝑦</m:t>
                        </m:r>
                      </m:e>
                    </m:acc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&lt;0.5</m:t>
                    </m:r>
                  </m:oMath>
                </a14:m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-&gt;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여성</a:t>
                </a:r>
                <a:endParaRPr kumimoji="1"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0EF63D-0D8E-7DD4-0948-A7CCB9A81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4918" y="4868091"/>
                <a:ext cx="2485631" cy="738664"/>
              </a:xfrm>
              <a:prstGeom prst="rect">
                <a:avLst/>
              </a:prstGeom>
              <a:blipFill>
                <a:blip r:embed="rId4"/>
                <a:stretch>
                  <a:fillRect t="-1695" b="-67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3335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 글꼴 테마">
      <a:majorFont>
        <a:latin typeface="나눔스퀘어"/>
        <a:ea typeface="나눔스퀘어"/>
        <a:cs typeface=""/>
      </a:majorFont>
      <a:minorFont>
        <a:latin typeface="나눔스퀘어"/>
        <a:ea typeface="나눔스퀘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>
            <a:latin typeface="나눔스퀘어" panose="020B0600000101010101" pitchFamily="50" charset="-127"/>
            <a:ea typeface="나눔스퀘어" panose="020B0600000101010101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1304</Words>
  <Application>Microsoft Macintosh PowerPoint</Application>
  <PresentationFormat>와이드스크린</PresentationFormat>
  <Paragraphs>294</Paragraphs>
  <Slides>31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6" baseType="lpstr">
      <vt:lpstr>나눔스퀘어</vt:lpstr>
      <vt:lpstr>Malgun Gothic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임재형(인공지능대학원)</dc:creator>
  <cp:lastModifiedBy>임재형(인공지능대학원)</cp:lastModifiedBy>
  <cp:revision>214</cp:revision>
  <dcterms:created xsi:type="dcterms:W3CDTF">2023-06-27T07:53:35Z</dcterms:created>
  <dcterms:modified xsi:type="dcterms:W3CDTF">2026-05-15T14:05:58Z</dcterms:modified>
</cp:coreProperties>
</file>