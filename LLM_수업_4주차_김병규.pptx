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charts/chart1.xml" ContentType="application/vnd.openxmlformats-officedocument.drawingml.chart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84" r:id="rId13"/>
    <p:sldId id="267" r:id="rId14"/>
    <p:sldId id="268" r:id="rId15"/>
    <p:sldId id="269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3" r:id="rId2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604"/>
    <p:restoredTop sz="94610"/>
  </p:normalViewPr>
  <p:slideViewPr>
    <p:cSldViewPr snapToGrid="0" snapToObjects="1">
      <p:cViewPr varScale="1">
        <p:scale>
          <a:sx n="205" d="100"/>
          <a:sy n="205" d="100"/>
        </p:scale>
        <p:origin x="78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_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확률(%)</c:v>
                </c:pt>
              </c:strCache>
            </c:strRef>
          </c:tx>
          <c:spPr>
            <a:solidFill>
              <a:srgbClr val="065A82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바나나</c:v>
                </c:pt>
                <c:pt idx="1">
                  <c:v>흐리다</c:v>
                </c:pt>
                <c:pt idx="2">
                  <c:v>춥다</c:v>
                </c:pt>
                <c:pt idx="3">
                  <c:v>덥다</c:v>
                </c:pt>
                <c:pt idx="4">
                  <c:v>좋다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1E-3</c:v>
                </c:pt>
                <c:pt idx="1">
                  <c:v>10</c:v>
                </c:pt>
                <c:pt idx="2">
                  <c:v>15</c:v>
                </c:pt>
                <c:pt idx="3">
                  <c:v>25</c:v>
                </c:pt>
                <c:pt idx="4">
                  <c:v>35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DF5-B540-92AE-618CD42B9F82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E293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121598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450A77-A0EF-C819-2EA7-A3165B4A74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FCDA7FA-48D9-30FF-3106-649EC9E1A94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77934DE-9EA1-FD67-96CC-2C6C90884BC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822016-E679-8EA7-783E-00EBFD1B204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646776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914400"/>
            <a:ext cx="3657600" cy="3657600"/>
          </a:xfrm>
          <a:prstGeom prst="ellipse">
            <a:avLst/>
          </a:prstGeom>
          <a:solidFill>
            <a:srgbClr val="065A82">
              <a:alpha val="70000"/>
            </a:srgbClr>
          </a:solidFill>
          <a:ln/>
        </p:spPr>
        <p:txBody>
          <a:bodyPr/>
          <a:lstStyle/>
          <a:p>
            <a:endParaRPr lang="ko-KR" altLang="en-US">
              <a:latin typeface="+mj-ea"/>
              <a:ea typeface="+mj-ea"/>
            </a:endParaRPr>
          </a:p>
        </p:txBody>
      </p:sp>
      <p:sp>
        <p:nvSpPr>
          <p:cNvPr id="3" name="Shape 1"/>
          <p:cNvSpPr/>
          <p:nvPr/>
        </p:nvSpPr>
        <p:spPr>
          <a:xfrm>
            <a:off x="7772400" y="2743200"/>
            <a:ext cx="2743200" cy="2743200"/>
          </a:xfrm>
          <a:prstGeom prst="ellipse">
            <a:avLst/>
          </a:prstGeom>
          <a:solidFill>
            <a:srgbClr val="1C7293">
              <a:alpha val="60000"/>
            </a:srgbClr>
          </a:solidFill>
          <a:ln/>
        </p:spPr>
        <p:txBody>
          <a:bodyPr/>
          <a:lstStyle/>
          <a:p>
            <a:endParaRPr lang="ko-KR" altLang="en-US">
              <a:latin typeface="+mj-ea"/>
              <a:ea typeface="+mj-ea"/>
            </a:endParaRPr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kern="0" dirty="0" err="1">
                <a:solidFill>
                  <a:srgbClr val="F59E0B"/>
                </a:solidFill>
                <a:latin typeface="+mj-ea"/>
                <a:ea typeface="+mj-ea"/>
                <a:cs typeface="Arial" pitchFamily="34" charset="-120"/>
              </a:rPr>
              <a:t>수리</a:t>
            </a:r>
            <a:r>
              <a:rPr lang="en-US" sz="1800" b="1" kern="0" dirty="0">
                <a:solidFill>
                  <a:srgbClr val="F59E0B"/>
                </a:solidFill>
                <a:latin typeface="+mj-ea"/>
                <a:ea typeface="+mj-ea"/>
                <a:cs typeface="Arial" pitchFamily="34" charset="-120"/>
              </a:rPr>
              <a:t> </a:t>
            </a:r>
            <a:r>
              <a:rPr lang="en-US" sz="1800" b="1" kern="0" dirty="0" err="1">
                <a:solidFill>
                  <a:srgbClr val="F59E0B"/>
                </a:solidFill>
                <a:latin typeface="+mj-ea"/>
                <a:ea typeface="+mj-ea"/>
                <a:cs typeface="Arial" pitchFamily="34" charset="-120"/>
              </a:rPr>
              <a:t>인공지능아카데미</a:t>
            </a:r>
            <a:r>
              <a:rPr lang="en-US" sz="1800" b="1" kern="0" dirty="0">
                <a:solidFill>
                  <a:srgbClr val="F59E0B"/>
                </a:solidFill>
                <a:latin typeface="+mj-ea"/>
                <a:ea typeface="+mj-ea"/>
                <a:cs typeface="Arial" pitchFamily="34" charset="-120"/>
              </a:rPr>
              <a:t> </a:t>
            </a:r>
            <a:r>
              <a:rPr lang="en-US" altLang="ko-KR" sz="1800" b="1" kern="0" dirty="0">
                <a:solidFill>
                  <a:srgbClr val="F59E0B"/>
                </a:solidFill>
                <a:latin typeface="+mj-ea"/>
                <a:ea typeface="+mj-ea"/>
                <a:cs typeface="Arial" pitchFamily="34" charset="-120"/>
              </a:rPr>
              <a:t>4</a:t>
            </a:r>
            <a:r>
              <a:rPr lang="ko-KR" altLang="en-US" sz="1800" b="1" kern="0" dirty="0">
                <a:solidFill>
                  <a:srgbClr val="F59E0B"/>
                </a:solidFill>
                <a:latin typeface="+mj-ea"/>
                <a:ea typeface="+mj-ea"/>
                <a:cs typeface="Arial" pitchFamily="34" charset="-120"/>
              </a:rPr>
              <a:t>주차</a:t>
            </a:r>
            <a:endParaRPr lang="en-US" sz="1800" dirty="0">
              <a:latin typeface="+mj-ea"/>
              <a:ea typeface="+mj-ea"/>
            </a:endParaRPr>
          </a:p>
        </p:txBody>
      </p:sp>
      <p:sp>
        <p:nvSpPr>
          <p:cNvPr id="5" name="Text 3"/>
          <p:cNvSpPr/>
          <p:nvPr/>
        </p:nvSpPr>
        <p:spPr>
          <a:xfrm>
            <a:off x="640080" y="155448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+mj-ea"/>
                <a:ea typeface="+mj-ea"/>
                <a:cs typeface="Arial" pitchFamily="34" charset="-120"/>
              </a:rPr>
              <a:t>LLM은 어떻게</a:t>
            </a:r>
            <a:endParaRPr lang="en-US" sz="4800" dirty="0">
              <a:latin typeface="+mj-ea"/>
              <a:ea typeface="+mj-ea"/>
            </a:endParaRPr>
          </a:p>
        </p:txBody>
      </p:sp>
      <p:sp>
        <p:nvSpPr>
          <p:cNvPr id="6" name="Text 4"/>
          <p:cNvSpPr/>
          <p:nvPr/>
        </p:nvSpPr>
        <p:spPr>
          <a:xfrm>
            <a:off x="640080" y="237744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+mj-ea"/>
                <a:ea typeface="+mj-ea"/>
                <a:cs typeface="Arial" pitchFamily="34" charset="-120"/>
              </a:rPr>
              <a:t>말을 만들어낼까?</a:t>
            </a:r>
            <a:endParaRPr lang="en-US" sz="4800" dirty="0">
              <a:latin typeface="+mj-ea"/>
              <a:ea typeface="+mj-ea"/>
            </a:endParaRPr>
          </a:p>
        </p:txBody>
      </p:sp>
      <p:sp>
        <p:nvSpPr>
          <p:cNvPr id="7" name="Text 5"/>
          <p:cNvSpPr/>
          <p:nvPr/>
        </p:nvSpPr>
        <p:spPr>
          <a:xfrm>
            <a:off x="640080" y="3474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F5F9FC"/>
                </a:solidFill>
                <a:latin typeface="+mj-ea"/>
                <a:ea typeface="+mj-ea"/>
                <a:cs typeface="Arial" pitchFamily="34" charset="-120"/>
              </a:rPr>
              <a:t>Transformer 구조부터 ChatGPT의 비밀까지</a:t>
            </a:r>
            <a:endParaRPr lang="en-US" sz="1800" dirty="0">
              <a:latin typeface="+mj-ea"/>
              <a:ea typeface="+mj-ea"/>
            </a:endParaRPr>
          </a:p>
        </p:txBody>
      </p:sp>
      <p:sp>
        <p:nvSpPr>
          <p:cNvPr id="8" name="Shape 6"/>
          <p:cNvSpPr/>
          <p:nvPr/>
        </p:nvSpPr>
        <p:spPr>
          <a:xfrm>
            <a:off x="640080" y="4297680"/>
            <a:ext cx="457200" cy="4572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ko-KR" altLang="en-US">
              <a:latin typeface="+mj-ea"/>
              <a:ea typeface="+mj-ea"/>
            </a:endParaRPr>
          </a:p>
        </p:txBody>
      </p:sp>
      <p:sp>
        <p:nvSpPr>
          <p:cNvPr id="9" name="Text 7"/>
          <p:cNvSpPr/>
          <p:nvPr/>
        </p:nvSpPr>
        <p:spPr>
          <a:xfrm>
            <a:off x="640080" y="44348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5F9FC"/>
                </a:solidFill>
                <a:latin typeface="+mj-ea"/>
                <a:ea typeface="+mj-ea"/>
                <a:cs typeface="Arial" pitchFamily="34" charset="-120"/>
              </a:rPr>
              <a:t>Computer Science </a:t>
            </a:r>
            <a:r>
              <a:rPr lang="en-US" altLang="ko-KR" sz="1400" dirty="0">
                <a:solidFill>
                  <a:srgbClr val="F5F9FC"/>
                </a:solidFill>
                <a:latin typeface="+mj-ea"/>
                <a:ea typeface="+mj-ea"/>
                <a:cs typeface="Arial" pitchFamily="34" charset="-120"/>
              </a:rPr>
              <a:t>&amp; Engineering M.S. </a:t>
            </a:r>
            <a:r>
              <a:rPr lang="en-US" altLang="ko-KR" sz="1400" dirty="0" err="1">
                <a:solidFill>
                  <a:srgbClr val="F5F9FC"/>
                </a:solidFill>
                <a:latin typeface="+mj-ea"/>
                <a:ea typeface="+mj-ea"/>
                <a:cs typeface="Arial" pitchFamily="34" charset="-120"/>
              </a:rPr>
              <a:t>Byeonggyu</a:t>
            </a:r>
            <a:r>
              <a:rPr lang="en-US" altLang="ko-KR" sz="1400" dirty="0">
                <a:solidFill>
                  <a:srgbClr val="F5F9FC"/>
                </a:solidFill>
                <a:latin typeface="+mj-ea"/>
                <a:ea typeface="+mj-ea"/>
                <a:cs typeface="Arial" pitchFamily="34" charset="-120"/>
              </a:rPr>
              <a:t> Kim</a:t>
            </a:r>
            <a:endParaRPr lang="en-US" sz="1400" dirty="0">
              <a:latin typeface="+mj-ea"/>
              <a:ea typeface="+mj-e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93B"/>
                </a:solidFill>
                <a:latin typeface="+mj-ea"/>
                <a:ea typeface="+mj-ea"/>
                <a:cs typeface="Arial" pitchFamily="34" charset="-120"/>
              </a:rPr>
              <a:t>지난 시간에 배운 것</a:t>
            </a:r>
            <a:endParaRPr lang="en-US" sz="3200" dirty="0">
              <a:latin typeface="+mj-ea"/>
              <a:ea typeface="+mj-ea"/>
            </a:endParaRPr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600" dirty="0">
              <a:latin typeface="+mj-ea"/>
              <a:ea typeface="+mj-ea"/>
            </a:endParaRPr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3749040" cy="2560320"/>
          </a:xfrm>
          <a:prstGeom prst="rect">
            <a:avLst/>
          </a:prstGeom>
          <a:solidFill>
            <a:srgbClr val="F5F9FC"/>
          </a:solidFill>
          <a:ln/>
        </p:spPr>
        <p:txBody>
          <a:bodyPr/>
          <a:lstStyle/>
          <a:p>
            <a:endParaRPr lang="ko-KR" altLang="en-US">
              <a:latin typeface="+mj-ea"/>
              <a:ea typeface="+mj-ea"/>
            </a:endParaRPr>
          </a:p>
        </p:txBody>
      </p:sp>
      <p:sp>
        <p:nvSpPr>
          <p:cNvPr id="5" name="Shape 3"/>
          <p:cNvSpPr/>
          <p:nvPr/>
        </p:nvSpPr>
        <p:spPr>
          <a:xfrm>
            <a:off x="640080" y="1828800"/>
            <a:ext cx="91440" cy="2560320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ko-KR" altLang="en-US">
              <a:latin typeface="+mj-ea"/>
              <a:ea typeface="+mj-ea"/>
            </a:endParaRPr>
          </a:p>
        </p:txBody>
      </p:sp>
      <p:sp>
        <p:nvSpPr>
          <p:cNvPr id="6" name="Text 4"/>
          <p:cNvSpPr/>
          <p:nvPr/>
        </p:nvSpPr>
        <p:spPr>
          <a:xfrm>
            <a:off x="914400" y="201168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65A82"/>
                </a:solidFill>
                <a:latin typeface="+mj-ea"/>
                <a:ea typeface="+mj-ea"/>
                <a:cs typeface="Arial" pitchFamily="34" charset="-120"/>
              </a:rPr>
              <a:t>MLP</a:t>
            </a:r>
            <a:endParaRPr lang="en-US" sz="2600" dirty="0">
              <a:latin typeface="+mj-ea"/>
              <a:ea typeface="+mj-ea"/>
            </a:endParaRPr>
          </a:p>
        </p:txBody>
      </p:sp>
      <p:sp>
        <p:nvSpPr>
          <p:cNvPr id="7" name="Text 5"/>
          <p:cNvSpPr/>
          <p:nvPr/>
        </p:nvSpPr>
        <p:spPr>
          <a:xfrm>
            <a:off x="914400" y="246888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4748B"/>
                </a:solidFill>
                <a:latin typeface="+mj-ea"/>
                <a:ea typeface="+mj-ea"/>
                <a:cs typeface="Arial" pitchFamily="34" charset="-120"/>
              </a:rPr>
              <a:t>Multi-Layer Perceptron</a:t>
            </a:r>
            <a:endParaRPr lang="en-US" sz="1200" dirty="0">
              <a:latin typeface="+mj-ea"/>
              <a:ea typeface="+mj-ea"/>
            </a:endParaRPr>
          </a:p>
        </p:txBody>
      </p:sp>
      <p:sp>
        <p:nvSpPr>
          <p:cNvPr id="8" name="Text 6"/>
          <p:cNvSpPr/>
          <p:nvPr/>
        </p:nvSpPr>
        <p:spPr>
          <a:xfrm>
            <a:off x="914400" y="29718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  <a:latin typeface="+mj-ea"/>
                <a:ea typeface="+mj-ea"/>
                <a:cs typeface="Arial" pitchFamily="34" charset="-120"/>
              </a:rPr>
              <a:t>기본 신경망 구조</a:t>
            </a:r>
            <a:endParaRPr lang="en-US" sz="1600" dirty="0">
              <a:latin typeface="+mj-ea"/>
              <a:ea typeface="+mj-ea"/>
            </a:endParaRPr>
          </a:p>
        </p:txBody>
      </p:sp>
      <p:sp>
        <p:nvSpPr>
          <p:cNvPr id="9" name="Text 7"/>
          <p:cNvSpPr/>
          <p:nvPr/>
        </p:nvSpPr>
        <p:spPr>
          <a:xfrm>
            <a:off x="914400" y="3383280"/>
            <a:ext cx="3200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+mj-ea"/>
                <a:ea typeface="+mj-ea"/>
                <a:cs typeface="Arial" pitchFamily="34" charset="-120"/>
              </a:rPr>
              <a:t>숫자 데이터를 잘 처리하는</a:t>
            </a:r>
            <a:endParaRPr lang="en-US" sz="1400" dirty="0">
              <a:latin typeface="+mj-ea"/>
              <a:ea typeface="+mj-ea"/>
            </a:endParaRPr>
          </a:p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+mj-ea"/>
                <a:ea typeface="+mj-ea"/>
                <a:cs typeface="Arial" pitchFamily="34" charset="-120"/>
              </a:rPr>
              <a:t>가장 기본적인 인공신경망</a:t>
            </a:r>
            <a:endParaRPr lang="en-US" sz="1400" dirty="0">
              <a:latin typeface="+mj-ea"/>
              <a:ea typeface="+mj-ea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4754880" y="1828800"/>
            <a:ext cx="3749040" cy="2560320"/>
          </a:xfrm>
          <a:prstGeom prst="rect">
            <a:avLst/>
          </a:prstGeom>
          <a:solidFill>
            <a:srgbClr val="F5F9FC"/>
          </a:solidFill>
          <a:ln/>
        </p:spPr>
        <p:txBody>
          <a:bodyPr/>
          <a:lstStyle/>
          <a:p>
            <a:endParaRPr lang="ko-KR" altLang="en-US">
              <a:latin typeface="+mj-ea"/>
              <a:ea typeface="+mj-ea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4754880" y="1828800"/>
            <a:ext cx="91440" cy="256032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ko-KR" altLang="en-US">
              <a:latin typeface="+mj-ea"/>
              <a:ea typeface="+mj-ea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5029200" y="201168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C7293"/>
                </a:solidFill>
                <a:latin typeface="+mj-ea"/>
                <a:ea typeface="+mj-ea"/>
                <a:cs typeface="Arial" pitchFamily="34" charset="-120"/>
              </a:rPr>
              <a:t>CNN</a:t>
            </a:r>
            <a:endParaRPr lang="en-US" sz="2600" dirty="0">
              <a:latin typeface="+mj-ea"/>
              <a:ea typeface="+mj-ea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5029200" y="246888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4748B"/>
                </a:solidFill>
                <a:latin typeface="+mj-ea"/>
                <a:ea typeface="+mj-ea"/>
                <a:cs typeface="Arial" pitchFamily="34" charset="-120"/>
              </a:rPr>
              <a:t>Convolutional Neural Network</a:t>
            </a:r>
            <a:endParaRPr lang="en-US" sz="1200" dirty="0">
              <a:latin typeface="+mj-ea"/>
              <a:ea typeface="+mj-ea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5029200" y="29718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  <a:latin typeface="+mj-ea"/>
                <a:ea typeface="+mj-ea"/>
                <a:cs typeface="Arial" pitchFamily="34" charset="-120"/>
              </a:rPr>
              <a:t>이미지에 특화된 신경망</a:t>
            </a:r>
            <a:endParaRPr lang="en-US" sz="1600" dirty="0">
              <a:latin typeface="+mj-ea"/>
              <a:ea typeface="+mj-ea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5029200" y="3383280"/>
            <a:ext cx="3200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+mj-ea"/>
                <a:ea typeface="+mj-ea"/>
                <a:cs typeface="Arial" pitchFamily="34" charset="-120"/>
              </a:rPr>
              <a:t>필터로 이미지의 특징을 잡아내</a:t>
            </a:r>
            <a:endParaRPr lang="en-US" sz="1400" dirty="0">
              <a:latin typeface="+mj-ea"/>
              <a:ea typeface="+mj-ea"/>
            </a:endParaRPr>
          </a:p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+mj-ea"/>
                <a:ea typeface="+mj-ea"/>
                <a:cs typeface="Arial" pitchFamily="34" charset="-120"/>
              </a:rPr>
              <a:t>사진을 분류하고 인식</a:t>
            </a:r>
            <a:endParaRPr lang="en-US" sz="1400" dirty="0">
              <a:latin typeface="+mj-ea"/>
              <a:ea typeface="+mj-ea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457200" y="45720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59E0B"/>
                </a:solidFill>
                <a:latin typeface="+mj-ea"/>
                <a:ea typeface="+mj-ea"/>
                <a:cs typeface="Arial" pitchFamily="34" charset="-120"/>
              </a:rPr>
              <a:t>그럼 "문장"은 어떻게 처리할까?</a:t>
            </a:r>
            <a:endParaRPr lang="en-US" sz="1800" dirty="0">
              <a:latin typeface="+mj-ea"/>
              <a:ea typeface="+mj-e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93B"/>
                </a:solidFill>
                <a:latin typeface="+mj-ea"/>
                <a:ea typeface="+mj-ea"/>
                <a:cs typeface="Arial" pitchFamily="34" charset="-120"/>
              </a:rPr>
              <a:t>오늘 우리가 답할 질문</a:t>
            </a:r>
            <a:endParaRPr lang="en-US" sz="3200" dirty="0">
              <a:latin typeface="+mj-ea"/>
              <a:ea typeface="+mj-ea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40080" y="1463040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ko-KR" altLang="en-US">
              <a:latin typeface="+mj-ea"/>
              <a:ea typeface="+mj-ea"/>
            </a:endParaRPr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+mj-ea"/>
                <a:ea typeface="+mj-ea"/>
                <a:cs typeface="Arial" pitchFamily="34" charset="-120"/>
              </a:rPr>
              <a:t>Q1</a:t>
            </a:r>
            <a:endParaRPr lang="en-US" sz="1400" dirty="0">
              <a:latin typeface="+mj-ea"/>
              <a:ea typeface="+mj-ea"/>
            </a:endParaRPr>
          </a:p>
        </p:txBody>
      </p:sp>
      <p:sp>
        <p:nvSpPr>
          <p:cNvPr id="5" name="Text 3"/>
          <p:cNvSpPr/>
          <p:nvPr/>
        </p:nvSpPr>
        <p:spPr>
          <a:xfrm>
            <a:off x="1463040" y="15087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93B"/>
                </a:solidFill>
                <a:latin typeface="+mj-ea"/>
                <a:ea typeface="+mj-ea"/>
                <a:cs typeface="Arial" pitchFamily="34" charset="-120"/>
              </a:rPr>
              <a:t>ChatGPT</a:t>
            </a:r>
            <a:r>
              <a:rPr lang="en-US" altLang="ko-KR" sz="1800" b="1" dirty="0">
                <a:solidFill>
                  <a:srgbClr val="1E293B"/>
                </a:solidFill>
                <a:latin typeface="+mj-ea"/>
                <a:ea typeface="+mj-ea"/>
                <a:cs typeface="Arial" pitchFamily="34" charset="-120"/>
              </a:rPr>
              <a:t>, </a:t>
            </a:r>
            <a:r>
              <a:rPr lang="en-US" altLang="ko-KR" b="1" dirty="0" err="1">
                <a:solidFill>
                  <a:srgbClr val="1E293B"/>
                </a:solidFill>
                <a:latin typeface="+mj-ea"/>
                <a:ea typeface="+mj-ea"/>
                <a:cs typeface="Arial" pitchFamily="34" charset="-120"/>
              </a:rPr>
              <a:t>Gemini</a:t>
            </a:r>
            <a:r>
              <a:rPr lang="en-US" sz="1800" b="1" dirty="0" err="1">
                <a:solidFill>
                  <a:srgbClr val="1E293B"/>
                </a:solidFill>
                <a:latin typeface="+mj-ea"/>
                <a:ea typeface="+mj-ea"/>
                <a:cs typeface="Arial" pitchFamily="34" charset="-120"/>
              </a:rPr>
              <a:t>는</a:t>
            </a:r>
            <a:r>
              <a:rPr lang="en-US" sz="1800" b="1" dirty="0">
                <a:solidFill>
                  <a:srgbClr val="1E293B"/>
                </a:solidFill>
                <a:latin typeface="+mj-ea"/>
                <a:ea typeface="+mj-ea"/>
                <a:cs typeface="Arial" pitchFamily="34" charset="-120"/>
              </a:rPr>
              <a:t> 어떻게 자연스러운 문장을 만들까?</a:t>
            </a:r>
            <a:endParaRPr lang="en-US" sz="1800" dirty="0">
              <a:latin typeface="+mj-ea"/>
              <a:ea typeface="+mj-ea"/>
            </a:endParaRPr>
          </a:p>
        </p:txBody>
      </p:sp>
      <p:sp>
        <p:nvSpPr>
          <p:cNvPr id="6" name="Shape 4"/>
          <p:cNvSpPr/>
          <p:nvPr/>
        </p:nvSpPr>
        <p:spPr>
          <a:xfrm>
            <a:off x="640080" y="2377440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ko-KR" altLang="en-US">
              <a:latin typeface="+mj-ea"/>
              <a:ea typeface="+mj-ea"/>
            </a:endParaRPr>
          </a:p>
        </p:txBody>
      </p:sp>
      <p:sp>
        <p:nvSpPr>
          <p:cNvPr id="7" name="Text 5"/>
          <p:cNvSpPr/>
          <p:nvPr/>
        </p:nvSpPr>
        <p:spPr>
          <a:xfrm>
            <a:off x="640080" y="23774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+mj-ea"/>
                <a:ea typeface="+mj-ea"/>
                <a:cs typeface="Arial" pitchFamily="34" charset="-120"/>
              </a:rPr>
              <a:t>Q2</a:t>
            </a:r>
            <a:endParaRPr lang="en-US" sz="1400" dirty="0">
              <a:latin typeface="+mj-ea"/>
              <a:ea typeface="+mj-ea"/>
            </a:endParaRPr>
          </a:p>
        </p:txBody>
      </p:sp>
      <p:sp>
        <p:nvSpPr>
          <p:cNvPr id="8" name="Text 6"/>
          <p:cNvSpPr/>
          <p:nvPr/>
        </p:nvSpPr>
        <p:spPr>
          <a:xfrm>
            <a:off x="1463040" y="24231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93B"/>
                </a:solidFill>
                <a:latin typeface="+mj-ea"/>
                <a:ea typeface="+mj-ea"/>
                <a:cs typeface="Arial" pitchFamily="34" charset="-120"/>
              </a:rPr>
              <a:t>Transformer가 뭐길래 AI 세상을 바꿨을까?</a:t>
            </a:r>
            <a:endParaRPr lang="en-US" sz="1800" dirty="0">
              <a:latin typeface="+mj-ea"/>
              <a:ea typeface="+mj-ea"/>
            </a:endParaRPr>
          </a:p>
        </p:txBody>
      </p:sp>
      <p:sp>
        <p:nvSpPr>
          <p:cNvPr id="9" name="Shape 7"/>
          <p:cNvSpPr/>
          <p:nvPr/>
        </p:nvSpPr>
        <p:spPr>
          <a:xfrm>
            <a:off x="640080" y="3291840"/>
            <a:ext cx="548640" cy="548640"/>
          </a:xfrm>
          <a:prstGeom prst="ellipse">
            <a:avLst/>
          </a:prstGeom>
          <a:solidFill>
            <a:srgbClr val="21295C"/>
          </a:solidFill>
          <a:ln/>
        </p:spPr>
        <p:txBody>
          <a:bodyPr/>
          <a:lstStyle/>
          <a:p>
            <a:endParaRPr lang="ko-KR" altLang="en-US">
              <a:latin typeface="+mj-ea"/>
              <a:ea typeface="+mj-ea"/>
            </a:endParaRPr>
          </a:p>
        </p:txBody>
      </p:sp>
      <p:sp>
        <p:nvSpPr>
          <p:cNvPr id="10" name="Text 8"/>
          <p:cNvSpPr/>
          <p:nvPr/>
        </p:nvSpPr>
        <p:spPr>
          <a:xfrm>
            <a:off x="640080" y="32918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+mj-ea"/>
                <a:ea typeface="+mj-ea"/>
                <a:cs typeface="Arial" pitchFamily="34" charset="-120"/>
              </a:rPr>
              <a:t>Q3</a:t>
            </a:r>
            <a:endParaRPr lang="en-US" sz="1400" dirty="0">
              <a:latin typeface="+mj-ea"/>
              <a:ea typeface="+mj-ea"/>
            </a:endParaRPr>
          </a:p>
        </p:txBody>
      </p:sp>
      <p:sp>
        <p:nvSpPr>
          <p:cNvPr id="11" name="Text 9"/>
          <p:cNvSpPr/>
          <p:nvPr/>
        </p:nvSpPr>
        <p:spPr>
          <a:xfrm>
            <a:off x="1463040" y="33375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93B"/>
                </a:solidFill>
                <a:latin typeface="+mj-ea"/>
                <a:ea typeface="+mj-ea"/>
                <a:cs typeface="Arial" pitchFamily="34" charset="-120"/>
              </a:rPr>
              <a:t>LLM의 한계는 무엇이고, 우리는 어떻게 써야 할까?</a:t>
            </a:r>
            <a:endParaRPr lang="en-US" sz="1800" dirty="0">
              <a:latin typeface="+mj-ea"/>
              <a:ea typeface="+mj-ea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640080" y="4389120"/>
            <a:ext cx="7863840" cy="548640"/>
          </a:xfrm>
          <a:prstGeom prst="rect">
            <a:avLst/>
          </a:prstGeom>
          <a:solidFill>
            <a:srgbClr val="F5F9FC"/>
          </a:solidFill>
          <a:ln/>
        </p:spPr>
        <p:txBody>
          <a:bodyPr/>
          <a:lstStyle/>
          <a:p>
            <a:endParaRPr lang="ko-KR" altLang="en-US">
              <a:latin typeface="+mj-ea"/>
              <a:ea typeface="+mj-ea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640080" y="438912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 err="1">
                <a:solidFill>
                  <a:srgbClr val="21295C"/>
                </a:solidFill>
                <a:latin typeface="+mj-ea"/>
                <a:ea typeface="+mj-ea"/>
                <a:cs typeface="Arial" pitchFamily="34" charset="-120"/>
              </a:rPr>
              <a:t>현재</a:t>
            </a:r>
            <a:r>
              <a:rPr lang="en-US" sz="1400" i="1" dirty="0">
                <a:solidFill>
                  <a:srgbClr val="21295C"/>
                </a:solidFill>
                <a:latin typeface="+mj-ea"/>
                <a:ea typeface="+mj-ea"/>
                <a:cs typeface="Arial" pitchFamily="34" charset="-120"/>
              </a:rPr>
              <a:t> </a:t>
            </a:r>
            <a:r>
              <a:rPr lang="en-US" sz="1400" i="1" dirty="0" err="1">
                <a:solidFill>
                  <a:srgbClr val="21295C"/>
                </a:solidFill>
                <a:latin typeface="+mj-ea"/>
                <a:ea typeface="+mj-ea"/>
                <a:cs typeface="Arial" pitchFamily="34" charset="-120"/>
              </a:rPr>
              <a:t>사용되는</a:t>
            </a:r>
            <a:r>
              <a:rPr lang="en-US" sz="1400" i="1" dirty="0">
                <a:solidFill>
                  <a:srgbClr val="21295C"/>
                </a:solidFill>
                <a:latin typeface="+mj-ea"/>
                <a:ea typeface="+mj-ea"/>
                <a:cs typeface="Arial" pitchFamily="34" charset="-120"/>
              </a:rPr>
              <a:t> AI </a:t>
            </a:r>
            <a:r>
              <a:rPr lang="en-US" sz="1400" i="1" dirty="0" err="1">
                <a:solidFill>
                  <a:srgbClr val="21295C"/>
                </a:solidFill>
                <a:latin typeface="+mj-ea"/>
                <a:ea typeface="+mj-ea"/>
                <a:cs typeface="Arial" pitchFamily="34" charset="-120"/>
              </a:rPr>
              <a:t>모델의</a:t>
            </a:r>
            <a:r>
              <a:rPr lang="en-US" sz="1400" i="1" dirty="0">
                <a:solidFill>
                  <a:srgbClr val="21295C"/>
                </a:solidFill>
                <a:latin typeface="+mj-ea"/>
                <a:ea typeface="+mj-ea"/>
                <a:cs typeface="Arial" pitchFamily="34" charset="-120"/>
              </a:rPr>
              <a:t> </a:t>
            </a:r>
            <a:r>
              <a:rPr lang="en-US" sz="1400" i="1" dirty="0" err="1">
                <a:solidFill>
                  <a:srgbClr val="21295C"/>
                </a:solidFill>
                <a:latin typeface="+mj-ea"/>
                <a:ea typeface="+mj-ea"/>
                <a:cs typeface="Arial" pitchFamily="34" charset="-120"/>
              </a:rPr>
              <a:t>구조를</a:t>
            </a:r>
            <a:r>
              <a:rPr lang="en-US" sz="1400" i="1" dirty="0">
                <a:solidFill>
                  <a:srgbClr val="21295C"/>
                </a:solidFill>
                <a:latin typeface="+mj-ea"/>
                <a:ea typeface="+mj-ea"/>
                <a:cs typeface="Arial" pitchFamily="34" charset="-120"/>
              </a:rPr>
              <a:t> </a:t>
            </a:r>
            <a:r>
              <a:rPr lang="en-US" sz="1400" i="1" dirty="0" err="1">
                <a:solidFill>
                  <a:srgbClr val="21295C"/>
                </a:solidFill>
                <a:latin typeface="+mj-ea"/>
                <a:ea typeface="+mj-ea"/>
                <a:cs typeface="Arial" pitchFamily="34" charset="-120"/>
              </a:rPr>
              <a:t>이해할</a:t>
            </a:r>
            <a:r>
              <a:rPr lang="en-US" sz="1400" i="1" dirty="0">
                <a:solidFill>
                  <a:srgbClr val="21295C"/>
                </a:solidFill>
                <a:latin typeface="+mj-ea"/>
                <a:ea typeface="+mj-ea"/>
                <a:cs typeface="Arial" pitchFamily="34" charset="-120"/>
              </a:rPr>
              <a:t> </a:t>
            </a:r>
            <a:r>
              <a:rPr lang="en-US" sz="1400" i="1" dirty="0" err="1">
                <a:solidFill>
                  <a:srgbClr val="21295C"/>
                </a:solidFill>
                <a:latin typeface="+mj-ea"/>
                <a:ea typeface="+mj-ea"/>
                <a:cs typeface="Arial" pitchFamily="34" charset="-120"/>
              </a:rPr>
              <a:t>수</a:t>
            </a:r>
            <a:r>
              <a:rPr lang="en-US" sz="1400" i="1" dirty="0">
                <a:solidFill>
                  <a:srgbClr val="21295C"/>
                </a:solidFill>
                <a:latin typeface="+mj-ea"/>
                <a:ea typeface="+mj-ea"/>
                <a:cs typeface="Arial" pitchFamily="34" charset="-120"/>
              </a:rPr>
              <a:t> </a:t>
            </a:r>
            <a:r>
              <a:rPr lang="en-US" sz="1400" i="1" dirty="0" err="1">
                <a:solidFill>
                  <a:srgbClr val="21295C"/>
                </a:solidFill>
                <a:latin typeface="+mj-ea"/>
                <a:ea typeface="+mj-ea"/>
                <a:cs typeface="Arial" pitchFamily="34" charset="-120"/>
              </a:rPr>
              <a:t>있다</a:t>
            </a:r>
            <a:r>
              <a:rPr lang="en-US" altLang="ko-KR" sz="1400" i="1" dirty="0">
                <a:solidFill>
                  <a:srgbClr val="21295C"/>
                </a:solidFill>
                <a:latin typeface="+mj-ea"/>
                <a:ea typeface="+mj-ea"/>
                <a:cs typeface="Arial" pitchFamily="34" charset="-120"/>
              </a:rPr>
              <a:t>.</a:t>
            </a:r>
            <a:endParaRPr lang="en-US" sz="1400" dirty="0">
              <a:latin typeface="+mj-ea"/>
              <a:ea typeface="+mj-e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57200" y="7772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 err="1">
                <a:solidFill>
                  <a:srgbClr val="1E293B"/>
                </a:solidFill>
                <a:latin typeface="+mj-ea"/>
                <a:ea typeface="+mj-ea"/>
                <a:cs typeface="Arial" pitchFamily="34" charset="-120"/>
              </a:rPr>
              <a:t>다음</a:t>
            </a:r>
            <a:r>
              <a:rPr lang="en-US" sz="3200" b="1" dirty="0">
                <a:solidFill>
                  <a:srgbClr val="1E293B"/>
                </a:solidFill>
                <a:latin typeface="+mj-ea"/>
                <a:ea typeface="+mj-ea"/>
                <a:cs typeface="Arial" pitchFamily="34" charset="-120"/>
              </a:rPr>
              <a:t> </a:t>
            </a:r>
            <a:r>
              <a:rPr lang="en-US" sz="3200" b="1" dirty="0" err="1">
                <a:solidFill>
                  <a:srgbClr val="1E293B"/>
                </a:solidFill>
                <a:latin typeface="+mj-ea"/>
                <a:ea typeface="+mj-ea"/>
                <a:cs typeface="Arial" pitchFamily="34" charset="-120"/>
              </a:rPr>
              <a:t>빈칸에</a:t>
            </a:r>
            <a:r>
              <a:rPr lang="en-US" sz="3200" b="1" dirty="0">
                <a:solidFill>
                  <a:srgbClr val="1E293B"/>
                </a:solidFill>
                <a:latin typeface="+mj-ea"/>
                <a:ea typeface="+mj-ea"/>
                <a:cs typeface="Arial" pitchFamily="34" charset="-120"/>
              </a:rPr>
              <a:t> </a:t>
            </a:r>
            <a:r>
              <a:rPr lang="en-US" sz="3200" b="1" dirty="0" err="1">
                <a:solidFill>
                  <a:srgbClr val="1E293B"/>
                </a:solidFill>
                <a:latin typeface="+mj-ea"/>
                <a:ea typeface="+mj-ea"/>
                <a:cs typeface="Arial" pitchFamily="34" charset="-120"/>
              </a:rPr>
              <a:t>오는</a:t>
            </a:r>
            <a:r>
              <a:rPr lang="en-US" sz="3200" b="1" dirty="0">
                <a:solidFill>
                  <a:srgbClr val="1E293B"/>
                </a:solidFill>
                <a:latin typeface="+mj-ea"/>
                <a:ea typeface="+mj-ea"/>
                <a:cs typeface="Arial" pitchFamily="34" charset="-120"/>
              </a:rPr>
              <a:t> </a:t>
            </a:r>
            <a:r>
              <a:rPr lang="en-US" sz="3200" b="1" dirty="0" err="1">
                <a:solidFill>
                  <a:srgbClr val="1E293B"/>
                </a:solidFill>
                <a:latin typeface="+mj-ea"/>
                <a:ea typeface="+mj-ea"/>
                <a:cs typeface="Arial" pitchFamily="34" charset="-120"/>
              </a:rPr>
              <a:t>단어는</a:t>
            </a:r>
            <a:r>
              <a:rPr lang="en-US" sz="3200" b="1" dirty="0">
                <a:solidFill>
                  <a:srgbClr val="1E293B"/>
                </a:solidFill>
                <a:latin typeface="+mj-ea"/>
                <a:ea typeface="+mj-ea"/>
                <a:cs typeface="Arial" pitchFamily="34" charset="-120"/>
              </a:rPr>
              <a:t>?</a:t>
            </a:r>
            <a:endParaRPr lang="en-US" sz="3200" dirty="0">
              <a:latin typeface="+mj-ea"/>
              <a:ea typeface="+mj-ea"/>
            </a:endParaRPr>
          </a:p>
        </p:txBody>
      </p:sp>
      <p:sp>
        <p:nvSpPr>
          <p:cNvPr id="4" name="Shape 2"/>
          <p:cNvSpPr/>
          <p:nvPr/>
        </p:nvSpPr>
        <p:spPr>
          <a:xfrm>
            <a:off x="914400" y="1828800"/>
            <a:ext cx="7315200" cy="1371600"/>
          </a:xfrm>
          <a:prstGeom prst="rect">
            <a:avLst/>
          </a:prstGeom>
          <a:solidFill>
            <a:srgbClr val="21295C"/>
          </a:solidFill>
          <a:ln/>
        </p:spPr>
        <p:txBody>
          <a:bodyPr/>
          <a:lstStyle/>
          <a:p>
            <a:endParaRPr lang="ko-KR" altLang="en-US">
              <a:latin typeface="+mj-ea"/>
              <a:ea typeface="+mj-ea"/>
            </a:endParaRPr>
          </a:p>
        </p:txBody>
      </p:sp>
      <p:sp>
        <p:nvSpPr>
          <p:cNvPr id="5" name="Text 3"/>
          <p:cNvSpPr/>
          <p:nvPr/>
        </p:nvSpPr>
        <p:spPr>
          <a:xfrm>
            <a:off x="914400" y="1828800"/>
            <a:ext cx="7315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+mj-ea"/>
                <a:ea typeface="+mj-ea"/>
                <a:cs typeface="Arial" pitchFamily="34" charset="-120"/>
              </a:rPr>
              <a:t>"오늘 </a:t>
            </a:r>
            <a:r>
              <a:rPr lang="en-US" sz="3600" b="1" dirty="0" err="1">
                <a:solidFill>
                  <a:srgbClr val="FFFFFF"/>
                </a:solidFill>
                <a:latin typeface="+mj-ea"/>
                <a:ea typeface="+mj-ea"/>
                <a:cs typeface="Arial" pitchFamily="34" charset="-120"/>
              </a:rPr>
              <a:t>날씨가</a:t>
            </a:r>
            <a:r>
              <a:rPr lang="en-US" sz="3600" b="1" dirty="0">
                <a:solidFill>
                  <a:srgbClr val="FFFFFF"/>
                </a:solidFill>
                <a:latin typeface="+mj-ea"/>
                <a:ea typeface="+mj-ea"/>
                <a:cs typeface="Arial" pitchFamily="34" charset="-120"/>
              </a:rPr>
              <a:t> ____"</a:t>
            </a:r>
            <a:endParaRPr lang="en-US" sz="3600" dirty="0">
              <a:latin typeface="+mj-ea"/>
              <a:ea typeface="+mj-ea"/>
            </a:endParaRPr>
          </a:p>
        </p:txBody>
      </p:sp>
      <p:sp>
        <p:nvSpPr>
          <p:cNvPr id="7" name="Text 5"/>
          <p:cNvSpPr/>
          <p:nvPr/>
        </p:nvSpPr>
        <p:spPr>
          <a:xfrm>
            <a:off x="457200" y="3726181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65A82"/>
                </a:solidFill>
                <a:latin typeface="+mj-ea"/>
                <a:ea typeface="+mj-ea"/>
                <a:cs typeface="Arial" pitchFamily="34" charset="-120"/>
              </a:rPr>
              <a:t>좋다  ·  덥다  ·  춥다  ·  흐리다  ·  ...</a:t>
            </a:r>
            <a:endParaRPr lang="en-US" sz="2200" dirty="0">
              <a:latin typeface="+mj-ea"/>
              <a:ea typeface="+mj-e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6459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kern="0" dirty="0">
                <a:solidFill>
                  <a:srgbClr val="F59E0B"/>
                </a:solidFill>
                <a:latin typeface="+mj-ea"/>
                <a:ea typeface="+mj-ea"/>
                <a:cs typeface="Arial" pitchFamily="34" charset="-120"/>
              </a:rPr>
              <a:t>Part 2</a:t>
            </a:r>
            <a:endParaRPr lang="en-US" sz="1800" dirty="0">
              <a:latin typeface="+mj-ea"/>
              <a:ea typeface="+mj-ea"/>
            </a:endParaRPr>
          </a:p>
        </p:txBody>
      </p:sp>
      <p:sp>
        <p:nvSpPr>
          <p:cNvPr id="3" name="Text 1"/>
          <p:cNvSpPr/>
          <p:nvPr/>
        </p:nvSpPr>
        <p:spPr>
          <a:xfrm>
            <a:off x="640080" y="22860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+mj-ea"/>
                <a:ea typeface="+mj-ea"/>
                <a:cs typeface="Arial" pitchFamily="34" charset="-120"/>
              </a:rPr>
              <a:t>Transformer 이전,</a:t>
            </a:r>
            <a:endParaRPr lang="en-US" sz="4200" dirty="0">
              <a:latin typeface="+mj-ea"/>
              <a:ea typeface="+mj-ea"/>
            </a:endParaRPr>
          </a:p>
        </p:txBody>
      </p:sp>
      <p:sp>
        <p:nvSpPr>
          <p:cNvPr id="4" name="Text 2"/>
          <p:cNvSpPr/>
          <p:nvPr/>
        </p:nvSpPr>
        <p:spPr>
          <a:xfrm>
            <a:off x="640080" y="310896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F5F9FC"/>
                </a:solidFill>
                <a:latin typeface="+mj-ea"/>
                <a:ea typeface="+mj-ea"/>
                <a:cs typeface="Arial" pitchFamily="34" charset="-120"/>
              </a:rPr>
              <a:t>사람들은 문장을 어떻게 다뤘을까?</a:t>
            </a:r>
            <a:endParaRPr lang="en-US" sz="3200" dirty="0">
              <a:latin typeface="+mj-ea"/>
              <a:ea typeface="+mj-ea"/>
            </a:endParaRPr>
          </a:p>
        </p:txBody>
      </p:sp>
      <p:sp>
        <p:nvSpPr>
          <p:cNvPr id="5" name="Shape 3"/>
          <p:cNvSpPr/>
          <p:nvPr/>
        </p:nvSpPr>
        <p:spPr>
          <a:xfrm>
            <a:off x="640080" y="4206240"/>
            <a:ext cx="457200" cy="4572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ko-KR" altLang="en-US">
              <a:latin typeface="+mj-ea"/>
              <a:ea typeface="+mj-ea"/>
            </a:endParaRPr>
          </a:p>
        </p:txBody>
      </p:sp>
      <p:sp>
        <p:nvSpPr>
          <p:cNvPr id="6" name="Text 4"/>
          <p:cNvSpPr/>
          <p:nvPr/>
        </p:nvSpPr>
        <p:spPr>
          <a:xfrm>
            <a:off x="640080" y="4343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F5F9FC"/>
                </a:solidFill>
                <a:latin typeface="+mj-ea"/>
                <a:ea typeface="+mj-ea"/>
                <a:cs typeface="Arial" pitchFamily="34" charset="-120"/>
              </a:rPr>
              <a:t>N-gram → RNN → LSTM → Attention</a:t>
            </a:r>
            <a:endParaRPr lang="en-US" sz="1600" dirty="0">
              <a:latin typeface="+mj-ea"/>
              <a:ea typeface="+mj-e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dirty="0">
                <a:solidFill>
                  <a:srgbClr val="F59E0B"/>
                </a:solidFill>
                <a:latin typeface="+mj-ea"/>
                <a:ea typeface="+mj-ea"/>
                <a:cs typeface="Arial" pitchFamily="34" charset="-120"/>
              </a:rPr>
              <a:t>1단계</a:t>
            </a:r>
            <a:endParaRPr lang="en-US" sz="1300" dirty="0">
              <a:latin typeface="+mj-ea"/>
              <a:ea typeface="+mj-ea"/>
            </a:endParaRPr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93B"/>
                </a:solidFill>
                <a:latin typeface="+mj-ea"/>
                <a:ea typeface="+mj-ea"/>
                <a:cs typeface="Arial" pitchFamily="34" charset="-120"/>
              </a:rPr>
              <a:t>N-gram  —  세는 것이 곧 예측</a:t>
            </a:r>
            <a:endParaRPr lang="en-US" sz="3000" dirty="0">
              <a:latin typeface="+mj-ea"/>
              <a:ea typeface="+mj-ea"/>
            </a:endParaRPr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8229600" cy="822960"/>
          </a:xfrm>
          <a:prstGeom prst="rect">
            <a:avLst/>
          </a:prstGeom>
          <a:solidFill>
            <a:srgbClr val="F5F9FC"/>
          </a:solidFill>
          <a:ln/>
        </p:spPr>
        <p:txBody>
          <a:bodyPr/>
          <a:lstStyle/>
          <a:p>
            <a:endParaRPr lang="ko-KR" altLang="en-US">
              <a:latin typeface="+mj-ea"/>
              <a:ea typeface="+mj-ea"/>
            </a:endParaRPr>
          </a:p>
        </p:txBody>
      </p:sp>
      <p:sp>
        <p:nvSpPr>
          <p:cNvPr id="5" name="Text 3"/>
          <p:cNvSpPr/>
          <p:nvPr/>
        </p:nvSpPr>
        <p:spPr>
          <a:xfrm>
            <a:off x="640080" y="1554480"/>
            <a:ext cx="7863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E293B"/>
                </a:solidFill>
                <a:latin typeface="+mj-ea"/>
                <a:ea typeface="+mj-ea"/>
                <a:cs typeface="Arial" pitchFamily="34" charset="-120"/>
              </a:rPr>
              <a:t>핵심 아이디어:  연속된 N개의 단어 묶음의 등장 빈도를 세어 다음 단어를 예측</a:t>
            </a:r>
            <a:endParaRPr lang="en-US" sz="1500" dirty="0">
              <a:latin typeface="+mj-ea"/>
              <a:ea typeface="+mj-ea"/>
            </a:endParaRPr>
          </a:p>
        </p:txBody>
      </p:sp>
      <p:sp>
        <p:nvSpPr>
          <p:cNvPr id="6" name="Text 4"/>
          <p:cNvSpPr/>
          <p:nvPr/>
        </p:nvSpPr>
        <p:spPr>
          <a:xfrm>
            <a:off x="457200" y="26060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65A82"/>
                </a:solidFill>
                <a:latin typeface="+mj-ea"/>
                <a:ea typeface="+mj-ea"/>
                <a:cs typeface="Arial" pitchFamily="34" charset="-120"/>
              </a:rPr>
              <a:t>예시:  "오늘 날씨가" 다음에 올 단어는?</a:t>
            </a:r>
            <a:endParaRPr lang="en-US" sz="1600" dirty="0">
              <a:latin typeface="+mj-ea"/>
              <a:ea typeface="+mj-ea"/>
            </a:endParaRPr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0" y="3108960"/>
          <a:ext cx="6400800" cy="146304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다음 단어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등장 횟수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확률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좋다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45회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59E0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45%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흐리다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25회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25%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덥다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20회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20%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457200" y="46634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DC2626"/>
                </a:solidFill>
                <a:latin typeface="+mj-ea"/>
                <a:ea typeface="+mj-ea"/>
                <a:cs typeface="Arial" pitchFamily="34" charset="-120"/>
              </a:rPr>
              <a:t>⚠ 한계:  단어 의미를 모르고, 멀리 있는 단어는 못 본다</a:t>
            </a:r>
            <a:endParaRPr lang="en-US" sz="1400" dirty="0">
              <a:latin typeface="+mj-ea"/>
              <a:ea typeface="+mj-e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dirty="0">
                <a:solidFill>
                  <a:srgbClr val="F59E0B"/>
                </a:solidFill>
                <a:latin typeface="+mj-ea"/>
                <a:ea typeface="+mj-ea"/>
                <a:cs typeface="Arial" pitchFamily="34" charset="-120"/>
              </a:rPr>
              <a:t>2단계</a:t>
            </a:r>
            <a:endParaRPr lang="en-US" sz="1300" dirty="0">
              <a:latin typeface="+mj-ea"/>
              <a:ea typeface="+mj-ea"/>
            </a:endParaRPr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93B"/>
                </a:solidFill>
                <a:latin typeface="+mj-ea"/>
                <a:ea typeface="+mj-ea"/>
                <a:cs typeface="Arial" pitchFamily="34" charset="-120"/>
              </a:rPr>
              <a:t>RNN  —  기억하며 읽어가기</a:t>
            </a:r>
            <a:endParaRPr lang="en-US" sz="3000" dirty="0">
              <a:latin typeface="+mj-ea"/>
              <a:ea typeface="+mj-ea"/>
            </a:endParaRPr>
          </a:p>
        </p:txBody>
      </p:sp>
      <p:sp>
        <p:nvSpPr>
          <p:cNvPr id="4" name="Shape 2"/>
          <p:cNvSpPr/>
          <p:nvPr/>
        </p:nvSpPr>
        <p:spPr>
          <a:xfrm>
            <a:off x="1371600" y="2011680"/>
            <a:ext cx="1097280" cy="822960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ko-KR" altLang="en-US">
              <a:latin typeface="+mj-ea"/>
              <a:ea typeface="+mj-ea"/>
            </a:endParaRPr>
          </a:p>
        </p:txBody>
      </p:sp>
      <p:sp>
        <p:nvSpPr>
          <p:cNvPr id="5" name="Text 3"/>
          <p:cNvSpPr/>
          <p:nvPr/>
        </p:nvSpPr>
        <p:spPr>
          <a:xfrm>
            <a:off x="1371600" y="2011680"/>
            <a:ext cx="1097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+mj-ea"/>
                <a:ea typeface="+mj-ea"/>
                <a:cs typeface="Arial" pitchFamily="34" charset="-120"/>
              </a:rPr>
              <a:t>나는</a:t>
            </a:r>
            <a:endParaRPr lang="en-US" sz="1800" dirty="0">
              <a:latin typeface="+mj-ea"/>
              <a:ea typeface="+mj-ea"/>
            </a:endParaRPr>
          </a:p>
        </p:txBody>
      </p:sp>
      <p:sp>
        <p:nvSpPr>
          <p:cNvPr id="6" name="Shape 4"/>
          <p:cNvSpPr/>
          <p:nvPr/>
        </p:nvSpPr>
        <p:spPr>
          <a:xfrm>
            <a:off x="1600200" y="306324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ko-KR" altLang="en-US">
              <a:latin typeface="+mj-ea"/>
              <a:ea typeface="+mj-ea"/>
            </a:endParaRPr>
          </a:p>
        </p:txBody>
      </p:sp>
      <p:sp>
        <p:nvSpPr>
          <p:cNvPr id="7" name="Text 5"/>
          <p:cNvSpPr/>
          <p:nvPr/>
        </p:nvSpPr>
        <p:spPr>
          <a:xfrm>
            <a:off x="1600200" y="30632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+mj-ea"/>
                <a:ea typeface="+mj-ea"/>
                <a:cs typeface="Arial" pitchFamily="34" charset="-120"/>
              </a:rPr>
              <a:t>기억</a:t>
            </a:r>
            <a:endParaRPr lang="en-US" sz="1100" dirty="0">
              <a:latin typeface="+mj-ea"/>
              <a:ea typeface="+mj-ea"/>
            </a:endParaRPr>
          </a:p>
        </p:txBody>
      </p:sp>
      <p:sp>
        <p:nvSpPr>
          <p:cNvPr id="8" name="Shape 6"/>
          <p:cNvSpPr/>
          <p:nvPr/>
        </p:nvSpPr>
        <p:spPr>
          <a:xfrm>
            <a:off x="2468880" y="2423160"/>
            <a:ext cx="1097280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>
              <a:latin typeface="+mj-ea"/>
              <a:ea typeface="+mj-ea"/>
            </a:endParaRPr>
          </a:p>
        </p:txBody>
      </p:sp>
      <p:sp>
        <p:nvSpPr>
          <p:cNvPr id="9" name="Shape 7"/>
          <p:cNvSpPr/>
          <p:nvPr/>
        </p:nvSpPr>
        <p:spPr>
          <a:xfrm>
            <a:off x="3566160" y="2011680"/>
            <a:ext cx="1097280" cy="822960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ko-KR" altLang="en-US">
              <a:latin typeface="+mj-ea"/>
              <a:ea typeface="+mj-ea"/>
            </a:endParaRPr>
          </a:p>
        </p:txBody>
      </p:sp>
      <p:sp>
        <p:nvSpPr>
          <p:cNvPr id="10" name="Text 8"/>
          <p:cNvSpPr/>
          <p:nvPr/>
        </p:nvSpPr>
        <p:spPr>
          <a:xfrm>
            <a:off x="3566160" y="2011680"/>
            <a:ext cx="1097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+mj-ea"/>
                <a:ea typeface="+mj-ea"/>
                <a:cs typeface="Arial" pitchFamily="34" charset="-120"/>
              </a:rPr>
              <a:t>학교에</a:t>
            </a:r>
            <a:endParaRPr lang="en-US" sz="1800" dirty="0">
              <a:latin typeface="+mj-ea"/>
              <a:ea typeface="+mj-ea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3794760" y="306324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ko-KR" altLang="en-US">
              <a:latin typeface="+mj-ea"/>
              <a:ea typeface="+mj-ea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3794760" y="30632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+mj-ea"/>
                <a:ea typeface="+mj-ea"/>
                <a:cs typeface="Arial" pitchFamily="34" charset="-120"/>
              </a:rPr>
              <a:t>기억</a:t>
            </a:r>
            <a:endParaRPr lang="en-US" sz="1100" dirty="0">
              <a:latin typeface="+mj-ea"/>
              <a:ea typeface="+mj-ea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4663440" y="2423160"/>
            <a:ext cx="1097280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>
              <a:latin typeface="+mj-ea"/>
              <a:ea typeface="+mj-ea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5760720" y="2011680"/>
            <a:ext cx="1097280" cy="822960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ko-KR" altLang="en-US">
              <a:latin typeface="+mj-ea"/>
              <a:ea typeface="+mj-ea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5760720" y="2011680"/>
            <a:ext cx="1097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+mj-ea"/>
                <a:ea typeface="+mj-ea"/>
                <a:cs typeface="Arial" pitchFamily="34" charset="-120"/>
              </a:rPr>
              <a:t>간다</a:t>
            </a:r>
            <a:endParaRPr lang="en-US" sz="1800" dirty="0">
              <a:latin typeface="+mj-ea"/>
              <a:ea typeface="+mj-ea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5989320" y="306324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ko-KR" altLang="en-US">
              <a:latin typeface="+mj-ea"/>
              <a:ea typeface="+mj-ea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5989320" y="30632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+mj-ea"/>
                <a:ea typeface="+mj-ea"/>
                <a:cs typeface="Arial" pitchFamily="34" charset="-120"/>
              </a:rPr>
              <a:t>기억</a:t>
            </a:r>
            <a:endParaRPr lang="en-US" sz="1100" dirty="0">
              <a:latin typeface="+mj-ea"/>
              <a:ea typeface="+mj-ea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457200" y="39319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1E293B"/>
                </a:solidFill>
                <a:latin typeface="+mj-ea"/>
                <a:ea typeface="+mj-ea"/>
                <a:cs typeface="Arial" pitchFamily="34" charset="-120"/>
              </a:rPr>
              <a:t>이전 단어의 "기억"을 다음 단계로 전달하며 순차적으로 처리</a:t>
            </a:r>
            <a:endParaRPr lang="en-US" sz="1500" dirty="0">
              <a:latin typeface="+mj-ea"/>
              <a:ea typeface="+mj-ea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457200" y="4526280"/>
            <a:ext cx="8229600" cy="640080"/>
          </a:xfrm>
          <a:prstGeom prst="rect">
            <a:avLst/>
          </a:prstGeom>
          <a:solidFill>
            <a:srgbClr val="FEE2E2"/>
          </a:solidFill>
          <a:ln/>
        </p:spPr>
        <p:txBody>
          <a:bodyPr/>
          <a:lstStyle/>
          <a:p>
            <a:endParaRPr lang="ko-KR" altLang="en-US">
              <a:latin typeface="+mj-ea"/>
              <a:ea typeface="+mj-ea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457200" y="45262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DC2626"/>
                </a:solidFill>
                <a:latin typeface="+mj-ea"/>
                <a:ea typeface="+mj-ea"/>
                <a:cs typeface="Arial" pitchFamily="34" charset="-120"/>
              </a:rPr>
              <a:t>⚠ 한계:  문장이 길어지면 앞 단어를 까먹는다  (장기 의존성 문제)</a:t>
            </a:r>
            <a:endParaRPr lang="en-US" sz="1400" dirty="0">
              <a:latin typeface="+mj-ea"/>
              <a:ea typeface="+mj-e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dirty="0">
                <a:solidFill>
                  <a:srgbClr val="F59E0B"/>
                </a:solidFill>
                <a:latin typeface="+mj-ea"/>
                <a:ea typeface="+mj-ea"/>
                <a:cs typeface="Arial" pitchFamily="34" charset="-120"/>
              </a:rPr>
              <a:t>3단계</a:t>
            </a:r>
            <a:endParaRPr lang="en-US" sz="1300" dirty="0">
              <a:latin typeface="+mj-ea"/>
              <a:ea typeface="+mj-ea"/>
            </a:endParaRPr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93B"/>
                </a:solidFill>
                <a:latin typeface="+mj-ea"/>
                <a:ea typeface="+mj-ea"/>
                <a:cs typeface="Arial" pitchFamily="34" charset="-120"/>
              </a:rPr>
              <a:t>LSTM  —  중요한 것만 기억하기</a:t>
            </a:r>
            <a:endParaRPr lang="en-US" sz="3000" dirty="0">
              <a:latin typeface="+mj-ea"/>
              <a:ea typeface="+mj-ea"/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4748B"/>
                </a:solidFill>
                <a:latin typeface="+mj-ea"/>
                <a:ea typeface="+mj-ea"/>
                <a:cs typeface="Arial" pitchFamily="34" charset="-120"/>
              </a:rPr>
              <a:t>RNN의 망각 문제를 해결하기 위해, 3개의 ”Gate(스위치)"를 도입</a:t>
            </a:r>
            <a:endParaRPr lang="en-US" sz="1400" dirty="0">
              <a:latin typeface="+mj-ea"/>
              <a:ea typeface="+mj-ea"/>
            </a:endParaRPr>
          </a:p>
        </p:txBody>
      </p:sp>
      <p:sp>
        <p:nvSpPr>
          <p:cNvPr id="5" name="Shape 3"/>
          <p:cNvSpPr/>
          <p:nvPr/>
        </p:nvSpPr>
        <p:spPr>
          <a:xfrm>
            <a:off x="457200" y="2011680"/>
            <a:ext cx="2651760" cy="1828800"/>
          </a:xfrm>
          <a:prstGeom prst="rect">
            <a:avLst/>
          </a:prstGeom>
          <a:solidFill>
            <a:srgbClr val="F5F9FC"/>
          </a:solidFill>
          <a:ln/>
        </p:spPr>
        <p:txBody>
          <a:bodyPr/>
          <a:lstStyle/>
          <a:p>
            <a:endParaRPr lang="ko-KR" altLang="en-US">
              <a:latin typeface="+mj-ea"/>
              <a:ea typeface="+mj-ea"/>
            </a:endParaRPr>
          </a:p>
        </p:txBody>
      </p:sp>
      <p:sp>
        <p:nvSpPr>
          <p:cNvPr id="6" name="Shape 4"/>
          <p:cNvSpPr/>
          <p:nvPr/>
        </p:nvSpPr>
        <p:spPr>
          <a:xfrm>
            <a:off x="457200" y="2011680"/>
            <a:ext cx="2651760" cy="73152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ko-KR" altLang="en-US">
              <a:latin typeface="+mj-ea"/>
              <a:ea typeface="+mj-ea"/>
            </a:endParaRPr>
          </a:p>
        </p:txBody>
      </p:sp>
      <p:sp>
        <p:nvSpPr>
          <p:cNvPr id="7" name="Text 5"/>
          <p:cNvSpPr/>
          <p:nvPr/>
        </p:nvSpPr>
        <p:spPr>
          <a:xfrm>
            <a:off x="640080" y="228600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DC2626"/>
                </a:solidFill>
                <a:latin typeface="+mj-ea"/>
                <a:ea typeface="+mj-ea"/>
                <a:cs typeface="Arial" pitchFamily="34" charset="-120"/>
              </a:rPr>
              <a:t>Forget Gate</a:t>
            </a:r>
            <a:endParaRPr lang="en-US" sz="1800" dirty="0">
              <a:latin typeface="+mj-ea"/>
              <a:ea typeface="+mj-ea"/>
            </a:endParaRPr>
          </a:p>
        </p:txBody>
      </p:sp>
      <p:sp>
        <p:nvSpPr>
          <p:cNvPr id="8" name="Text 6"/>
          <p:cNvSpPr/>
          <p:nvPr/>
        </p:nvSpPr>
        <p:spPr>
          <a:xfrm>
            <a:off x="640080" y="2834640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E293B"/>
                </a:solidFill>
                <a:latin typeface="+mj-ea"/>
                <a:ea typeface="+mj-ea"/>
                <a:cs typeface="Arial" pitchFamily="34" charset="-120"/>
              </a:rPr>
              <a:t>잊을 정보를 골라낸다</a:t>
            </a:r>
            <a:endParaRPr lang="en-US" sz="1400" dirty="0">
              <a:latin typeface="+mj-ea"/>
              <a:ea typeface="+mj-ea"/>
            </a:endParaRPr>
          </a:p>
        </p:txBody>
      </p:sp>
      <p:sp>
        <p:nvSpPr>
          <p:cNvPr id="9" name="Shape 7"/>
          <p:cNvSpPr/>
          <p:nvPr/>
        </p:nvSpPr>
        <p:spPr>
          <a:xfrm>
            <a:off x="3246120" y="2011680"/>
            <a:ext cx="2651760" cy="1828800"/>
          </a:xfrm>
          <a:prstGeom prst="rect">
            <a:avLst/>
          </a:prstGeom>
          <a:solidFill>
            <a:srgbClr val="F5F9FC"/>
          </a:solidFill>
          <a:ln/>
        </p:spPr>
        <p:txBody>
          <a:bodyPr/>
          <a:lstStyle/>
          <a:p>
            <a:endParaRPr lang="ko-KR" altLang="en-US">
              <a:latin typeface="+mj-ea"/>
              <a:ea typeface="+mj-ea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3246120" y="2011680"/>
            <a:ext cx="2651760" cy="73152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ko-KR" altLang="en-US">
              <a:latin typeface="+mj-ea"/>
              <a:ea typeface="+mj-ea"/>
            </a:endParaRPr>
          </a:p>
        </p:txBody>
      </p:sp>
      <p:sp>
        <p:nvSpPr>
          <p:cNvPr id="11" name="Text 9"/>
          <p:cNvSpPr/>
          <p:nvPr/>
        </p:nvSpPr>
        <p:spPr>
          <a:xfrm>
            <a:off x="3429000" y="228600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65A82"/>
                </a:solidFill>
                <a:latin typeface="+mj-ea"/>
                <a:ea typeface="+mj-ea"/>
                <a:cs typeface="Arial" pitchFamily="34" charset="-120"/>
              </a:rPr>
              <a:t>Input Gate</a:t>
            </a:r>
            <a:endParaRPr lang="en-US" sz="1800" dirty="0">
              <a:latin typeface="+mj-ea"/>
              <a:ea typeface="+mj-ea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3384415" y="2834640"/>
            <a:ext cx="237517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E293B"/>
                </a:solidFill>
                <a:latin typeface="+mj-ea"/>
                <a:ea typeface="+mj-ea"/>
                <a:cs typeface="Arial" pitchFamily="34" charset="-120"/>
              </a:rPr>
              <a:t>새로 저장할 정보를 정한다</a:t>
            </a:r>
            <a:endParaRPr lang="en-US" sz="1400" dirty="0">
              <a:latin typeface="+mj-ea"/>
              <a:ea typeface="+mj-ea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6035040" y="2011680"/>
            <a:ext cx="2651760" cy="1828800"/>
          </a:xfrm>
          <a:prstGeom prst="rect">
            <a:avLst/>
          </a:prstGeom>
          <a:solidFill>
            <a:srgbClr val="F5F9FC"/>
          </a:solidFill>
          <a:ln/>
        </p:spPr>
        <p:txBody>
          <a:bodyPr/>
          <a:lstStyle/>
          <a:p>
            <a:endParaRPr lang="ko-KR" altLang="en-US">
              <a:latin typeface="+mj-ea"/>
              <a:ea typeface="+mj-ea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6035040" y="2011680"/>
            <a:ext cx="2651760" cy="73152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ko-KR" altLang="en-US">
              <a:latin typeface="+mj-ea"/>
              <a:ea typeface="+mj-ea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6217920" y="228600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0B981"/>
                </a:solidFill>
                <a:latin typeface="+mj-ea"/>
                <a:ea typeface="+mj-ea"/>
                <a:cs typeface="Arial" pitchFamily="34" charset="-120"/>
              </a:rPr>
              <a:t>Output Gate</a:t>
            </a:r>
            <a:endParaRPr lang="en-US" sz="1800" dirty="0">
              <a:latin typeface="+mj-ea"/>
              <a:ea typeface="+mj-ea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6163769" y="2835289"/>
            <a:ext cx="2394301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E293B"/>
                </a:solidFill>
                <a:latin typeface="+mj-ea"/>
                <a:ea typeface="+mj-ea"/>
                <a:cs typeface="Arial" pitchFamily="34" charset="-120"/>
              </a:rPr>
              <a:t>지금 꺼내 쓸 정보를 정한다</a:t>
            </a:r>
            <a:endParaRPr lang="en-US" sz="1400" dirty="0">
              <a:latin typeface="+mj-ea"/>
              <a:ea typeface="+mj-ea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457200" y="4206240"/>
            <a:ext cx="8229600" cy="914400"/>
          </a:xfrm>
          <a:prstGeom prst="rect">
            <a:avLst/>
          </a:prstGeom>
          <a:solidFill>
            <a:srgbClr val="21295C"/>
          </a:solidFill>
          <a:ln/>
        </p:spPr>
        <p:txBody>
          <a:bodyPr/>
          <a:lstStyle/>
          <a:p>
            <a:endParaRPr lang="ko-KR" altLang="en-US">
              <a:latin typeface="+mj-ea"/>
              <a:ea typeface="+mj-ea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457200" y="420624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FFFFFF"/>
                </a:solidFill>
                <a:latin typeface="+mj-ea"/>
                <a:ea typeface="+mj-ea"/>
                <a:cs typeface="Arial" pitchFamily="34" charset="-120"/>
              </a:rPr>
              <a:t>💡 비유:  "중요한 건 형광펜 치고, 불필요한 건 지우는 똑똑한 학생"</a:t>
            </a:r>
            <a:endParaRPr lang="en-US" sz="1600" dirty="0">
              <a:latin typeface="+mj-ea"/>
              <a:ea typeface="+mj-e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dirty="0">
                <a:solidFill>
                  <a:srgbClr val="F59E0B"/>
                </a:solidFill>
                <a:latin typeface="+mj-ea"/>
                <a:ea typeface="+mj-ea"/>
                <a:cs typeface="Arial" pitchFamily="34" charset="-120"/>
              </a:rPr>
              <a:t>4단계</a:t>
            </a:r>
            <a:endParaRPr lang="en-US" sz="1300" dirty="0">
              <a:latin typeface="+mj-ea"/>
              <a:ea typeface="+mj-ea"/>
            </a:endParaRPr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93B"/>
                </a:solidFill>
                <a:latin typeface="+mj-ea"/>
                <a:ea typeface="+mj-ea"/>
                <a:cs typeface="Arial" pitchFamily="34" charset="-120"/>
              </a:rPr>
              <a:t>Attention  —  "중요한 곳에 집중"</a:t>
            </a:r>
            <a:endParaRPr lang="en-US" sz="3000" dirty="0">
              <a:latin typeface="+mj-ea"/>
              <a:ea typeface="+mj-ea"/>
            </a:endParaRPr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8229600" cy="914400"/>
          </a:xfrm>
          <a:prstGeom prst="rect">
            <a:avLst/>
          </a:prstGeom>
          <a:solidFill>
            <a:srgbClr val="FEF3C7"/>
          </a:solidFill>
          <a:ln/>
        </p:spPr>
        <p:txBody>
          <a:bodyPr/>
          <a:lstStyle/>
          <a:p>
            <a:endParaRPr lang="ko-KR" altLang="en-US">
              <a:latin typeface="+mj-ea"/>
              <a:ea typeface="+mj-ea"/>
            </a:endParaRPr>
          </a:p>
        </p:txBody>
      </p:sp>
      <p:sp>
        <p:nvSpPr>
          <p:cNvPr id="5" name="Text 3"/>
          <p:cNvSpPr/>
          <p:nvPr/>
        </p:nvSpPr>
        <p:spPr>
          <a:xfrm>
            <a:off x="640080" y="16916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  <a:latin typeface="+mj-ea"/>
                <a:ea typeface="+mj-ea"/>
                <a:cs typeface="Arial" pitchFamily="34" charset="-120"/>
              </a:rPr>
              <a:t>문제</a:t>
            </a:r>
            <a:endParaRPr lang="en-US" sz="1100" dirty="0">
              <a:latin typeface="+mj-ea"/>
              <a:ea typeface="+mj-ea"/>
            </a:endParaRPr>
          </a:p>
        </p:txBody>
      </p:sp>
      <p:sp>
        <p:nvSpPr>
          <p:cNvPr id="6" name="Text 4"/>
          <p:cNvSpPr/>
          <p:nvPr/>
        </p:nvSpPr>
        <p:spPr>
          <a:xfrm>
            <a:off x="640080" y="196596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E293B"/>
                </a:solidFill>
                <a:latin typeface="+mj-ea"/>
                <a:ea typeface="+mj-ea"/>
                <a:cs typeface="Arial" pitchFamily="34" charset="-120"/>
              </a:rPr>
              <a:t>긴 문장을 번역할 때, 단어 하나하나가 어떤 부분에 "집중"해야 할지 알기 어려움</a:t>
            </a:r>
            <a:endParaRPr lang="en-US" sz="1500" dirty="0">
              <a:latin typeface="+mj-ea"/>
              <a:ea typeface="+mj-ea"/>
            </a:endParaRPr>
          </a:p>
        </p:txBody>
      </p:sp>
      <p:sp>
        <p:nvSpPr>
          <p:cNvPr id="7" name="Shape 5"/>
          <p:cNvSpPr/>
          <p:nvPr/>
        </p:nvSpPr>
        <p:spPr>
          <a:xfrm>
            <a:off x="457200" y="2697480"/>
            <a:ext cx="8229600" cy="914400"/>
          </a:xfrm>
          <a:prstGeom prst="rect">
            <a:avLst/>
          </a:prstGeom>
          <a:solidFill>
            <a:srgbClr val="D1FAE5"/>
          </a:solidFill>
          <a:ln/>
        </p:spPr>
        <p:txBody>
          <a:bodyPr/>
          <a:lstStyle/>
          <a:p>
            <a:endParaRPr lang="ko-KR" altLang="en-US">
              <a:latin typeface="+mj-ea"/>
              <a:ea typeface="+mj-ea"/>
            </a:endParaRPr>
          </a:p>
        </p:txBody>
      </p:sp>
      <p:sp>
        <p:nvSpPr>
          <p:cNvPr id="8" name="Text 6"/>
          <p:cNvSpPr/>
          <p:nvPr/>
        </p:nvSpPr>
        <p:spPr>
          <a:xfrm>
            <a:off x="640080" y="28346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0B981"/>
                </a:solidFill>
                <a:latin typeface="+mj-ea"/>
                <a:ea typeface="+mj-ea"/>
                <a:cs typeface="Arial" pitchFamily="34" charset="-120"/>
              </a:rPr>
              <a:t>해결</a:t>
            </a:r>
            <a:endParaRPr lang="en-US" sz="1100" dirty="0">
              <a:latin typeface="+mj-ea"/>
              <a:ea typeface="+mj-ea"/>
            </a:endParaRPr>
          </a:p>
        </p:txBody>
      </p:sp>
      <p:sp>
        <p:nvSpPr>
          <p:cNvPr id="9" name="Text 7"/>
          <p:cNvSpPr/>
          <p:nvPr/>
        </p:nvSpPr>
        <p:spPr>
          <a:xfrm>
            <a:off x="640080" y="310896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+mj-ea"/>
                <a:ea typeface="+mj-ea"/>
                <a:cs typeface="Arial" pitchFamily="34" charset="-120"/>
              </a:rPr>
              <a:t>"각 단어가 다른 모든 단어를 둘러보며 누가 중요한지 점수를 매기자!"</a:t>
            </a:r>
            <a:endParaRPr lang="en-US" sz="1500" dirty="0">
              <a:latin typeface="+mj-ea"/>
              <a:ea typeface="+mj-ea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457200" y="4023360"/>
            <a:ext cx="8229600" cy="1097280"/>
          </a:xfrm>
          <a:prstGeom prst="rect">
            <a:avLst/>
          </a:prstGeom>
          <a:solidFill>
            <a:srgbClr val="21295C"/>
          </a:solidFill>
          <a:ln/>
        </p:spPr>
        <p:txBody>
          <a:bodyPr/>
          <a:lstStyle/>
          <a:p>
            <a:endParaRPr lang="ko-KR" altLang="en-US">
              <a:latin typeface="+mj-ea"/>
              <a:ea typeface="+mj-ea"/>
            </a:endParaRPr>
          </a:p>
        </p:txBody>
      </p:sp>
      <p:sp>
        <p:nvSpPr>
          <p:cNvPr id="11" name="Text 9"/>
          <p:cNvSpPr/>
          <p:nvPr/>
        </p:nvSpPr>
        <p:spPr>
          <a:xfrm>
            <a:off x="457200" y="41605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F5F9FC"/>
                </a:solidFill>
                <a:latin typeface="+mj-ea"/>
                <a:ea typeface="+mj-ea"/>
                <a:cs typeface="Arial" pitchFamily="34" charset="-120"/>
              </a:rPr>
              <a:t>그리고 2017년 </a:t>
            </a:r>
            <a:r>
              <a:rPr lang="en-US" sz="1400" i="1" dirty="0" err="1">
                <a:solidFill>
                  <a:srgbClr val="F5F9FC"/>
                </a:solidFill>
                <a:latin typeface="+mj-ea"/>
                <a:ea typeface="+mj-ea"/>
                <a:cs typeface="Arial" pitchFamily="34" charset="-120"/>
              </a:rPr>
              <a:t>구글이</a:t>
            </a:r>
            <a:r>
              <a:rPr lang="en-US" sz="1400" i="1" dirty="0">
                <a:solidFill>
                  <a:srgbClr val="F5F9FC"/>
                </a:solidFill>
                <a:latin typeface="+mj-ea"/>
                <a:ea typeface="+mj-ea"/>
                <a:cs typeface="Arial" pitchFamily="34" charset="-120"/>
              </a:rPr>
              <a:t> 논문을 발표한다</a:t>
            </a:r>
            <a:endParaRPr lang="en-US" sz="1400" dirty="0">
              <a:latin typeface="+mj-ea"/>
              <a:ea typeface="+mj-ea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457200" y="4526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59E0B"/>
                </a:solidFill>
                <a:latin typeface="+mj-ea"/>
                <a:ea typeface="+mj-ea"/>
                <a:cs typeface="Arial" pitchFamily="34" charset="-120"/>
              </a:rPr>
              <a:t>"Attention is All You Need"</a:t>
            </a:r>
            <a:endParaRPr lang="en-US" sz="2200" dirty="0">
              <a:latin typeface="+mj-ea"/>
              <a:ea typeface="+mj-e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65A8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6459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kern="0" dirty="0">
                <a:solidFill>
                  <a:srgbClr val="F59E0B"/>
                </a:solidFill>
                <a:latin typeface="+mj-ea"/>
                <a:ea typeface="+mj-ea"/>
                <a:cs typeface="Arial" pitchFamily="34" charset="-120"/>
              </a:rPr>
              <a:t>Part 3</a:t>
            </a:r>
            <a:endParaRPr lang="en-US" sz="1800" dirty="0">
              <a:latin typeface="+mj-ea"/>
              <a:ea typeface="+mj-ea"/>
            </a:endParaRPr>
          </a:p>
        </p:txBody>
      </p:sp>
      <p:sp>
        <p:nvSpPr>
          <p:cNvPr id="3" name="Text 1"/>
          <p:cNvSpPr/>
          <p:nvPr/>
        </p:nvSpPr>
        <p:spPr>
          <a:xfrm>
            <a:off x="640080" y="22860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+mj-ea"/>
                <a:ea typeface="+mj-ea"/>
                <a:cs typeface="Arial" pitchFamily="34" charset="-120"/>
              </a:rPr>
              <a:t>Transformer의</a:t>
            </a:r>
            <a:endParaRPr lang="en-US" sz="4200" dirty="0">
              <a:latin typeface="+mj-ea"/>
              <a:ea typeface="+mj-ea"/>
            </a:endParaRPr>
          </a:p>
        </p:txBody>
      </p:sp>
      <p:sp>
        <p:nvSpPr>
          <p:cNvPr id="4" name="Text 2"/>
          <p:cNvSpPr/>
          <p:nvPr/>
        </p:nvSpPr>
        <p:spPr>
          <a:xfrm>
            <a:off x="640080" y="310896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F5F9FC"/>
                </a:solidFill>
                <a:latin typeface="+mj-ea"/>
                <a:ea typeface="+mj-ea"/>
                <a:cs typeface="Arial" pitchFamily="34" charset="-120"/>
              </a:rPr>
              <a:t>핵심 아이디어, Self-Attention</a:t>
            </a:r>
            <a:endParaRPr lang="en-US" sz="3200" dirty="0">
              <a:latin typeface="+mj-ea"/>
              <a:ea typeface="+mj-ea"/>
            </a:endParaRPr>
          </a:p>
        </p:txBody>
      </p:sp>
      <p:sp>
        <p:nvSpPr>
          <p:cNvPr id="5" name="Shape 3"/>
          <p:cNvSpPr/>
          <p:nvPr/>
        </p:nvSpPr>
        <p:spPr>
          <a:xfrm>
            <a:off x="640080" y="4206240"/>
            <a:ext cx="457200" cy="4572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ko-KR" altLang="en-US">
              <a:latin typeface="+mj-ea"/>
              <a:ea typeface="+mj-ea"/>
            </a:endParaRPr>
          </a:p>
        </p:txBody>
      </p:sp>
      <p:sp>
        <p:nvSpPr>
          <p:cNvPr id="6" name="Text 4"/>
          <p:cNvSpPr/>
          <p:nvPr/>
        </p:nvSpPr>
        <p:spPr>
          <a:xfrm>
            <a:off x="640080" y="4343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F5F9FC"/>
                </a:solidFill>
                <a:latin typeface="+mj-ea"/>
                <a:ea typeface="+mj-ea"/>
                <a:cs typeface="Arial" pitchFamily="34" charset="-120"/>
              </a:rPr>
              <a:t>LSTM 다 빼고 Attention만 남기면?</a:t>
            </a:r>
            <a:endParaRPr lang="en-US" sz="1600" dirty="0">
              <a:latin typeface="+mj-ea"/>
              <a:ea typeface="+mj-e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93B"/>
                </a:solidFill>
                <a:latin typeface="+mj-ea"/>
                <a:ea typeface="+mj-ea"/>
                <a:cs typeface="Arial" pitchFamily="34" charset="-120"/>
              </a:rPr>
              <a:t>Self-Attention 직관 이해하기</a:t>
            </a:r>
            <a:endParaRPr lang="en-US" sz="3000" dirty="0">
              <a:latin typeface="+mj-ea"/>
              <a:ea typeface="+mj-ea"/>
            </a:endParaRPr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400" dirty="0">
              <a:latin typeface="+mj-ea"/>
              <a:ea typeface="+mj-ea"/>
            </a:endParaRPr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8229600" cy="1005840"/>
          </a:xfrm>
          <a:prstGeom prst="rect">
            <a:avLst/>
          </a:prstGeom>
          <a:solidFill>
            <a:srgbClr val="21295C"/>
          </a:solidFill>
          <a:ln/>
        </p:spPr>
        <p:txBody>
          <a:bodyPr/>
          <a:lstStyle/>
          <a:p>
            <a:endParaRPr lang="ko-KR" altLang="en-US">
              <a:latin typeface="+mj-ea"/>
              <a:ea typeface="+mj-ea"/>
            </a:endParaRPr>
          </a:p>
        </p:txBody>
      </p:sp>
      <p:sp>
        <p:nvSpPr>
          <p:cNvPr id="5" name="Text 3"/>
          <p:cNvSpPr/>
          <p:nvPr/>
        </p:nvSpPr>
        <p:spPr>
          <a:xfrm>
            <a:off x="457200" y="155448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+mj-ea"/>
                <a:ea typeface="+mj-ea"/>
                <a:cs typeface="Arial" pitchFamily="34" charset="-120"/>
              </a:rPr>
              <a:t>"그 학생은 시험이 어려워서 그것을 포기했다."</a:t>
            </a:r>
            <a:endParaRPr lang="en-US" sz="2400" dirty="0">
              <a:latin typeface="+mj-ea"/>
              <a:ea typeface="+mj-ea"/>
            </a:endParaRPr>
          </a:p>
        </p:txBody>
      </p:sp>
      <p:sp>
        <p:nvSpPr>
          <p:cNvPr id="6" name="Text 4"/>
          <p:cNvSpPr/>
          <p:nvPr/>
        </p:nvSpPr>
        <p:spPr>
          <a:xfrm>
            <a:off x="457200" y="28346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65A82"/>
                </a:solidFill>
                <a:latin typeface="+mj-ea"/>
                <a:ea typeface="+mj-ea"/>
                <a:cs typeface="Arial" pitchFamily="34" charset="-120"/>
              </a:rPr>
              <a:t>Q.  "그것"이 가리키는 것은?</a:t>
            </a:r>
            <a:endParaRPr lang="en-US" sz="2000" dirty="0">
              <a:latin typeface="+mj-ea"/>
              <a:ea typeface="+mj-ea"/>
            </a:endParaRPr>
          </a:p>
        </p:txBody>
      </p:sp>
      <p:sp>
        <p:nvSpPr>
          <p:cNvPr id="9" name="Text 7"/>
          <p:cNvSpPr/>
          <p:nvPr/>
        </p:nvSpPr>
        <p:spPr>
          <a:xfrm>
            <a:off x="1828800" y="457200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+mj-ea"/>
                <a:ea typeface="+mj-ea"/>
                <a:cs typeface="Arial" pitchFamily="34" charset="-120"/>
              </a:rPr>
              <a:t> 다음 슬라이드에서 답을 봅시다</a:t>
            </a:r>
            <a:endParaRPr lang="en-US" sz="1400" dirty="0">
              <a:latin typeface="+mj-ea"/>
              <a:ea typeface="+mj-ea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0C081D-DFF3-9355-F33F-326E9F97B2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95CA13F8-0402-7013-5E27-36B3FE0F6788}"/>
              </a:ext>
            </a:extLst>
          </p:cNvPr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93B"/>
                </a:solidFill>
                <a:latin typeface="+mj-ea"/>
                <a:ea typeface="+mj-ea"/>
                <a:cs typeface="Arial" pitchFamily="34" charset="-120"/>
              </a:rPr>
              <a:t>Self-Attention 직관 이해하기</a:t>
            </a:r>
            <a:endParaRPr lang="en-US" sz="3000" dirty="0">
              <a:latin typeface="+mj-ea"/>
              <a:ea typeface="+mj-ea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F6794F3B-9E6B-BF5B-DC27-35ABDF2E3ABF}"/>
              </a:ext>
            </a:extLst>
          </p:cNvPr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400" dirty="0">
              <a:latin typeface="+mj-ea"/>
              <a:ea typeface="+mj-ea"/>
            </a:endParaRP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148A4AC8-F8C5-3F88-66D8-A76E840664D1}"/>
              </a:ext>
            </a:extLst>
          </p:cNvPr>
          <p:cNvSpPr/>
          <p:nvPr/>
        </p:nvSpPr>
        <p:spPr>
          <a:xfrm>
            <a:off x="457200" y="1554480"/>
            <a:ext cx="8229600" cy="1005840"/>
          </a:xfrm>
          <a:prstGeom prst="rect">
            <a:avLst/>
          </a:prstGeom>
          <a:solidFill>
            <a:srgbClr val="21295C"/>
          </a:solidFill>
          <a:ln/>
        </p:spPr>
        <p:txBody>
          <a:bodyPr/>
          <a:lstStyle/>
          <a:p>
            <a:endParaRPr lang="ko-KR" altLang="en-US">
              <a:latin typeface="+mj-ea"/>
              <a:ea typeface="+mj-ea"/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22676751-D17B-4371-CF27-9A3E6B263573}"/>
              </a:ext>
            </a:extLst>
          </p:cNvPr>
          <p:cNvSpPr/>
          <p:nvPr/>
        </p:nvSpPr>
        <p:spPr>
          <a:xfrm>
            <a:off x="457200" y="155448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+mj-ea"/>
                <a:ea typeface="+mj-ea"/>
                <a:cs typeface="Arial" pitchFamily="34" charset="-120"/>
              </a:rPr>
              <a:t>"그 학생은 시험이 어려워서 그것을 포기했다."</a:t>
            </a:r>
            <a:endParaRPr lang="en-US" sz="2400" dirty="0">
              <a:latin typeface="+mj-ea"/>
              <a:ea typeface="+mj-ea"/>
            </a:endParaRP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F240BC5E-4E6D-425C-89F8-97FFC43FA3B2}"/>
              </a:ext>
            </a:extLst>
          </p:cNvPr>
          <p:cNvSpPr/>
          <p:nvPr/>
        </p:nvSpPr>
        <p:spPr>
          <a:xfrm>
            <a:off x="457200" y="28346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65A82"/>
                </a:solidFill>
                <a:latin typeface="+mj-ea"/>
                <a:ea typeface="+mj-ea"/>
                <a:cs typeface="Arial" pitchFamily="34" charset="-120"/>
              </a:rPr>
              <a:t>Q.  "그것"이 가리키는 것은?</a:t>
            </a:r>
            <a:endParaRPr lang="en-US" sz="2000" dirty="0">
              <a:latin typeface="+mj-ea"/>
              <a:ea typeface="+mj-ea"/>
            </a:endParaRP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38629CB4-8402-4052-F49F-AD0B19FC9B9B}"/>
              </a:ext>
            </a:extLst>
          </p:cNvPr>
          <p:cNvSpPr/>
          <p:nvPr/>
        </p:nvSpPr>
        <p:spPr>
          <a:xfrm>
            <a:off x="457200" y="34747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E293B"/>
                </a:solidFill>
                <a:latin typeface="+mj-ea"/>
                <a:ea typeface="+mj-ea"/>
                <a:cs typeface="Arial" pitchFamily="34" charset="-120"/>
              </a:rPr>
              <a:t>사람은 단번에 "시험"을 떠올린다.</a:t>
            </a:r>
            <a:endParaRPr lang="en-US" sz="1600" dirty="0">
              <a:latin typeface="+mj-ea"/>
              <a:ea typeface="+mj-ea"/>
            </a:endParaRPr>
          </a:p>
          <a:p>
            <a:pPr marL="0" indent="0" algn="ctr">
              <a:buNone/>
            </a:pPr>
            <a:r>
              <a:rPr lang="en-US" sz="1600" dirty="0">
                <a:solidFill>
                  <a:srgbClr val="1E293B"/>
                </a:solidFill>
                <a:latin typeface="+mj-ea"/>
                <a:ea typeface="+mj-ea"/>
                <a:cs typeface="Arial" pitchFamily="34" charset="-120"/>
              </a:rPr>
              <a:t>그런데... 모델은 어떻게 이걸 알 수 있을까?</a:t>
            </a:r>
            <a:endParaRPr lang="en-US" sz="1600" dirty="0">
              <a:latin typeface="+mj-ea"/>
              <a:ea typeface="+mj-ea"/>
            </a:endParaRPr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4F2ED5F4-9F5D-0258-0D12-5357929B3C2B}"/>
              </a:ext>
            </a:extLst>
          </p:cNvPr>
          <p:cNvSpPr/>
          <p:nvPr/>
        </p:nvSpPr>
        <p:spPr>
          <a:xfrm>
            <a:off x="1828800" y="457200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+mj-ea"/>
                <a:ea typeface="+mj-ea"/>
                <a:cs typeface="Arial" pitchFamily="34" charset="-120"/>
              </a:rPr>
              <a:t> 다음 슬라이드에서 답을 봅시다</a:t>
            </a:r>
            <a:endParaRPr lang="en-US" sz="1400" dirty="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96404257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+mj-ea"/>
                <a:ea typeface="+mj-ea"/>
                <a:cs typeface="Arial" pitchFamily="34" charset="-120"/>
              </a:rPr>
              <a:t>Self-Attention의 작동 방식</a:t>
            </a:r>
            <a:endParaRPr lang="en-US" sz="2800" dirty="0">
              <a:latin typeface="+mj-ea"/>
              <a:ea typeface="+mj-ea"/>
            </a:endParaRPr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4748B"/>
                </a:solidFill>
                <a:latin typeface="+mj-ea"/>
                <a:ea typeface="+mj-ea"/>
                <a:cs typeface="Arial" pitchFamily="34" charset="-120"/>
              </a:rPr>
              <a:t>각 단어가 모든 단어를 둘러보며 "관련도" 점수를 매긴다</a:t>
            </a:r>
            <a:endParaRPr lang="en-US" sz="1400" dirty="0">
              <a:latin typeface="+mj-ea"/>
              <a:ea typeface="+mj-ea"/>
            </a:endParaRPr>
          </a:p>
        </p:txBody>
      </p:sp>
      <p:sp>
        <p:nvSpPr>
          <p:cNvPr id="4" name="Shape 2"/>
          <p:cNvSpPr/>
          <p:nvPr/>
        </p:nvSpPr>
        <p:spPr>
          <a:xfrm>
            <a:off x="685800" y="1828800"/>
            <a:ext cx="1203960" cy="548640"/>
          </a:xfrm>
          <a:prstGeom prst="rect">
            <a:avLst/>
          </a:prstGeom>
          <a:solidFill>
            <a:srgbClr val="F5F9FC"/>
          </a:solidFill>
          <a:ln/>
        </p:spPr>
        <p:txBody>
          <a:bodyPr/>
          <a:lstStyle/>
          <a:p>
            <a:endParaRPr lang="ko-KR" altLang="en-US">
              <a:latin typeface="+mj-ea"/>
              <a:ea typeface="+mj-ea"/>
            </a:endParaRPr>
          </a:p>
        </p:txBody>
      </p:sp>
      <p:sp>
        <p:nvSpPr>
          <p:cNvPr id="5" name="Text 3"/>
          <p:cNvSpPr/>
          <p:nvPr/>
        </p:nvSpPr>
        <p:spPr>
          <a:xfrm>
            <a:off x="685800" y="1828800"/>
            <a:ext cx="1203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93B"/>
                </a:solidFill>
                <a:latin typeface="+mj-ea"/>
                <a:ea typeface="+mj-ea"/>
                <a:cs typeface="Arial" pitchFamily="34" charset="-120"/>
              </a:rPr>
              <a:t>그</a:t>
            </a:r>
            <a:endParaRPr lang="en-US" sz="1300" dirty="0">
              <a:latin typeface="+mj-ea"/>
              <a:ea typeface="+mj-ea"/>
            </a:endParaRPr>
          </a:p>
        </p:txBody>
      </p:sp>
      <p:sp>
        <p:nvSpPr>
          <p:cNvPr id="6" name="Shape 4"/>
          <p:cNvSpPr/>
          <p:nvPr/>
        </p:nvSpPr>
        <p:spPr>
          <a:xfrm>
            <a:off x="1981200" y="1828800"/>
            <a:ext cx="1203960" cy="548640"/>
          </a:xfrm>
          <a:prstGeom prst="rect">
            <a:avLst/>
          </a:prstGeom>
          <a:solidFill>
            <a:srgbClr val="F5F9FC"/>
          </a:solidFill>
          <a:ln/>
        </p:spPr>
        <p:txBody>
          <a:bodyPr/>
          <a:lstStyle/>
          <a:p>
            <a:endParaRPr lang="ko-KR" altLang="en-US">
              <a:latin typeface="+mj-ea"/>
              <a:ea typeface="+mj-ea"/>
            </a:endParaRPr>
          </a:p>
        </p:txBody>
      </p:sp>
      <p:sp>
        <p:nvSpPr>
          <p:cNvPr id="7" name="Text 5"/>
          <p:cNvSpPr/>
          <p:nvPr/>
        </p:nvSpPr>
        <p:spPr>
          <a:xfrm>
            <a:off x="1981200" y="1828800"/>
            <a:ext cx="1203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93B"/>
                </a:solidFill>
                <a:latin typeface="+mj-ea"/>
                <a:ea typeface="+mj-ea"/>
                <a:cs typeface="Arial" pitchFamily="34" charset="-120"/>
              </a:rPr>
              <a:t>학생은</a:t>
            </a:r>
            <a:endParaRPr lang="en-US" sz="1300" dirty="0">
              <a:latin typeface="+mj-ea"/>
              <a:ea typeface="+mj-ea"/>
            </a:endParaRPr>
          </a:p>
        </p:txBody>
      </p:sp>
      <p:sp>
        <p:nvSpPr>
          <p:cNvPr id="8" name="Shape 6"/>
          <p:cNvSpPr/>
          <p:nvPr/>
        </p:nvSpPr>
        <p:spPr>
          <a:xfrm>
            <a:off x="3276600" y="1828800"/>
            <a:ext cx="1203960" cy="548640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ko-KR" altLang="en-US">
              <a:latin typeface="+mj-ea"/>
              <a:ea typeface="+mj-ea"/>
            </a:endParaRPr>
          </a:p>
        </p:txBody>
      </p:sp>
      <p:sp>
        <p:nvSpPr>
          <p:cNvPr id="9" name="Text 7"/>
          <p:cNvSpPr/>
          <p:nvPr/>
        </p:nvSpPr>
        <p:spPr>
          <a:xfrm>
            <a:off x="3276600" y="1828800"/>
            <a:ext cx="1203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+mj-ea"/>
                <a:ea typeface="+mj-ea"/>
                <a:cs typeface="Arial" pitchFamily="34" charset="-120"/>
              </a:rPr>
              <a:t>시험이</a:t>
            </a:r>
            <a:endParaRPr lang="en-US" sz="1300" dirty="0">
              <a:latin typeface="+mj-ea"/>
              <a:ea typeface="+mj-ea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4572000" y="1828800"/>
            <a:ext cx="1203960" cy="548640"/>
          </a:xfrm>
          <a:prstGeom prst="rect">
            <a:avLst/>
          </a:prstGeom>
          <a:solidFill>
            <a:srgbClr val="F5F9FC"/>
          </a:solidFill>
          <a:ln/>
        </p:spPr>
        <p:txBody>
          <a:bodyPr/>
          <a:lstStyle/>
          <a:p>
            <a:endParaRPr lang="ko-KR" altLang="en-US">
              <a:latin typeface="+mj-ea"/>
              <a:ea typeface="+mj-ea"/>
            </a:endParaRPr>
          </a:p>
        </p:txBody>
      </p:sp>
      <p:sp>
        <p:nvSpPr>
          <p:cNvPr id="11" name="Text 9"/>
          <p:cNvSpPr/>
          <p:nvPr/>
        </p:nvSpPr>
        <p:spPr>
          <a:xfrm>
            <a:off x="4572000" y="1828800"/>
            <a:ext cx="1203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93B"/>
                </a:solidFill>
                <a:latin typeface="+mj-ea"/>
                <a:ea typeface="+mj-ea"/>
                <a:cs typeface="Arial" pitchFamily="34" charset="-120"/>
              </a:rPr>
              <a:t>어려워서</a:t>
            </a:r>
            <a:endParaRPr lang="en-US" sz="1300" dirty="0">
              <a:latin typeface="+mj-ea"/>
              <a:ea typeface="+mj-ea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5867400" y="1828800"/>
            <a:ext cx="1203960" cy="54864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ko-KR" altLang="en-US">
              <a:latin typeface="+mj-ea"/>
              <a:ea typeface="+mj-ea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5867400" y="1828800"/>
            <a:ext cx="1203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+mj-ea"/>
                <a:ea typeface="+mj-ea"/>
                <a:cs typeface="Arial" pitchFamily="34" charset="-120"/>
              </a:rPr>
              <a:t>그것을</a:t>
            </a:r>
            <a:endParaRPr lang="en-US" sz="1300" dirty="0">
              <a:latin typeface="+mj-ea"/>
              <a:ea typeface="+mj-ea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7162800" y="1828800"/>
            <a:ext cx="1203960" cy="548640"/>
          </a:xfrm>
          <a:prstGeom prst="rect">
            <a:avLst/>
          </a:prstGeom>
          <a:solidFill>
            <a:srgbClr val="F5F9FC"/>
          </a:solidFill>
          <a:ln/>
        </p:spPr>
        <p:txBody>
          <a:bodyPr/>
          <a:lstStyle/>
          <a:p>
            <a:endParaRPr lang="ko-KR" altLang="en-US">
              <a:latin typeface="+mj-ea"/>
              <a:ea typeface="+mj-ea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7162800" y="1828800"/>
            <a:ext cx="1203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93B"/>
                </a:solidFill>
                <a:latin typeface="+mj-ea"/>
                <a:ea typeface="+mj-ea"/>
                <a:cs typeface="Arial" pitchFamily="34" charset="-120"/>
              </a:rPr>
              <a:t>포기했다</a:t>
            </a:r>
            <a:endParaRPr lang="en-US" sz="1300" dirty="0">
              <a:latin typeface="+mj-ea"/>
              <a:ea typeface="+mj-ea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1287780" y="3063240"/>
            <a:ext cx="5181600" cy="0"/>
          </a:xfrm>
          <a:prstGeom prst="line">
            <a:avLst/>
          </a:prstGeom>
          <a:noFill/>
          <a:ln w="9525">
            <a:solidFill>
              <a:srgbClr val="64748B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ko-KR" altLang="en-US">
              <a:latin typeface="+mj-ea"/>
              <a:ea typeface="+mj-ea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1287780" y="2423160"/>
            <a:ext cx="0" cy="640080"/>
          </a:xfrm>
          <a:prstGeom prst="line">
            <a:avLst/>
          </a:prstGeom>
          <a:noFill/>
          <a:ln w="9525">
            <a:solidFill>
              <a:srgbClr val="64748B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ko-KR" altLang="en-US">
              <a:latin typeface="+mj-ea"/>
              <a:ea typeface="+mj-ea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2583180" y="3063240"/>
            <a:ext cx="3886200" cy="0"/>
          </a:xfrm>
          <a:prstGeom prst="line">
            <a:avLst/>
          </a:prstGeom>
          <a:noFill/>
          <a:ln w="12700">
            <a:solidFill>
              <a:srgbClr val="64748B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ko-KR" altLang="en-US">
              <a:latin typeface="+mj-ea"/>
              <a:ea typeface="+mj-ea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2583180" y="2423160"/>
            <a:ext cx="0" cy="640080"/>
          </a:xfrm>
          <a:prstGeom prst="line">
            <a:avLst/>
          </a:prstGeom>
          <a:noFill/>
          <a:ln w="12700">
            <a:solidFill>
              <a:srgbClr val="64748B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ko-KR" altLang="en-US">
              <a:latin typeface="+mj-ea"/>
              <a:ea typeface="+mj-ea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3878580" y="3063240"/>
            <a:ext cx="2590800" cy="0"/>
          </a:xfrm>
          <a:prstGeom prst="line">
            <a:avLst/>
          </a:prstGeom>
          <a:noFill/>
          <a:ln w="4445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ko-KR" altLang="en-US">
              <a:latin typeface="+mj-ea"/>
              <a:ea typeface="+mj-ea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3878580" y="2423160"/>
            <a:ext cx="0" cy="640080"/>
          </a:xfrm>
          <a:prstGeom prst="line">
            <a:avLst/>
          </a:prstGeom>
          <a:noFill/>
          <a:ln w="4445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ko-KR" altLang="en-US">
              <a:latin typeface="+mj-ea"/>
              <a:ea typeface="+mj-ea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5173980" y="3063240"/>
            <a:ext cx="1295400" cy="0"/>
          </a:xfrm>
          <a:prstGeom prst="line">
            <a:avLst/>
          </a:prstGeom>
          <a:noFill/>
          <a:ln w="12700">
            <a:solidFill>
              <a:srgbClr val="64748B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ko-KR" altLang="en-US">
              <a:latin typeface="+mj-ea"/>
              <a:ea typeface="+mj-ea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5173980" y="2423160"/>
            <a:ext cx="0" cy="640080"/>
          </a:xfrm>
          <a:prstGeom prst="line">
            <a:avLst/>
          </a:prstGeom>
          <a:noFill/>
          <a:ln w="12700">
            <a:solidFill>
              <a:srgbClr val="64748B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ko-KR" altLang="en-US">
              <a:latin typeface="+mj-ea"/>
              <a:ea typeface="+mj-ea"/>
            </a:endParaRPr>
          </a:p>
        </p:txBody>
      </p:sp>
      <p:sp>
        <p:nvSpPr>
          <p:cNvPr id="24" name="Shape 22"/>
          <p:cNvSpPr/>
          <p:nvPr/>
        </p:nvSpPr>
        <p:spPr>
          <a:xfrm flipH="1">
            <a:off x="6469380" y="3063240"/>
            <a:ext cx="1295400" cy="0"/>
          </a:xfrm>
          <a:prstGeom prst="line">
            <a:avLst/>
          </a:prstGeom>
          <a:noFill/>
          <a:ln w="9525">
            <a:solidFill>
              <a:srgbClr val="64748B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ko-KR" altLang="en-US">
              <a:latin typeface="+mj-ea"/>
              <a:ea typeface="+mj-ea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7764780" y="2423160"/>
            <a:ext cx="0" cy="640080"/>
          </a:xfrm>
          <a:prstGeom prst="line">
            <a:avLst/>
          </a:prstGeom>
          <a:noFill/>
          <a:ln w="9525">
            <a:solidFill>
              <a:srgbClr val="64748B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ko-KR" altLang="en-US">
              <a:latin typeface="+mj-ea"/>
              <a:ea typeface="+mj-ea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6469380" y="2423160"/>
            <a:ext cx="0" cy="640080"/>
          </a:xfrm>
          <a:prstGeom prst="line">
            <a:avLst/>
          </a:prstGeom>
          <a:noFill/>
          <a:ln w="381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ko-KR" altLang="en-US">
              <a:latin typeface="+mj-ea"/>
              <a:ea typeface="+mj-ea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457200" y="3448596"/>
            <a:ext cx="8229600" cy="1371600"/>
          </a:xfrm>
          <a:prstGeom prst="rect">
            <a:avLst/>
          </a:prstGeom>
          <a:solidFill>
            <a:srgbClr val="F5F9FC"/>
          </a:solidFill>
          <a:ln/>
        </p:spPr>
        <p:txBody>
          <a:bodyPr/>
          <a:lstStyle/>
          <a:p>
            <a:endParaRPr lang="ko-KR" altLang="en-US">
              <a:latin typeface="+mj-ea"/>
              <a:ea typeface="+mj-ea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640080" y="3585756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+mj-ea"/>
                <a:ea typeface="+mj-ea"/>
                <a:cs typeface="Arial" pitchFamily="34" charset="-120"/>
              </a:rPr>
              <a:t>👀 "그것을"이 모든 단어를 둘러본 결과</a:t>
            </a:r>
            <a:endParaRPr lang="en-US" sz="1600" dirty="0">
              <a:latin typeface="+mj-ea"/>
              <a:ea typeface="+mj-ea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640080" y="3997236"/>
            <a:ext cx="7863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5A82"/>
                </a:solidFill>
                <a:latin typeface="+mj-ea"/>
                <a:ea typeface="+mj-ea"/>
                <a:cs typeface="Arial" pitchFamily="34" charset="-120"/>
              </a:rPr>
              <a:t>→ "시험이"와의 관련도가 가장 높음!  </a:t>
            </a:r>
            <a:endParaRPr lang="en-US" sz="1400" dirty="0">
              <a:latin typeface="+mj-ea"/>
              <a:ea typeface="+mj-ea"/>
            </a:endParaRPr>
          </a:p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+mj-ea"/>
                <a:ea typeface="+mj-ea"/>
                <a:cs typeface="Arial" pitchFamily="34" charset="-120"/>
              </a:rPr>
              <a:t>→ 굵은 선 = 강한 연결, 얇은 선 = 약한 연결</a:t>
            </a:r>
            <a:endParaRPr lang="en-US" sz="1400" dirty="0">
              <a:latin typeface="+mj-ea"/>
              <a:ea typeface="+mj-ea"/>
            </a:endParaRPr>
          </a:p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+mj-ea"/>
                <a:ea typeface="+mj-ea"/>
                <a:cs typeface="Arial" pitchFamily="34" charset="-120"/>
              </a:rPr>
              <a:t>→ 이렇게 모든 단어가 서로의 관계를 학습한다</a:t>
            </a:r>
            <a:endParaRPr lang="en-US" sz="1400" dirty="0">
              <a:latin typeface="+mj-ea"/>
              <a:ea typeface="+mj-ea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93B"/>
                </a:solidFill>
                <a:latin typeface="+mj-ea"/>
                <a:ea typeface="+mj-ea"/>
                <a:cs typeface="Arial" pitchFamily="34" charset="-120"/>
              </a:rPr>
              <a:t>도서관 비유로 이해하기</a:t>
            </a:r>
            <a:endParaRPr lang="en-US" sz="3000" dirty="0">
              <a:latin typeface="+mj-ea"/>
              <a:ea typeface="+mj-ea"/>
            </a:endParaRPr>
          </a:p>
        </p:txBody>
      </p:sp>
      <p:sp>
        <p:nvSpPr>
          <p:cNvPr id="4" name="Shape 2"/>
          <p:cNvSpPr/>
          <p:nvPr/>
        </p:nvSpPr>
        <p:spPr>
          <a:xfrm>
            <a:off x="457200" y="1137716"/>
            <a:ext cx="2651760" cy="3108960"/>
          </a:xfrm>
          <a:prstGeom prst="rect">
            <a:avLst/>
          </a:prstGeom>
          <a:solidFill>
            <a:srgbClr val="F5F9FC"/>
          </a:solidFill>
          <a:ln/>
        </p:spPr>
        <p:txBody>
          <a:bodyPr/>
          <a:lstStyle/>
          <a:p>
            <a:endParaRPr lang="ko-KR" altLang="en-US">
              <a:latin typeface="+mj-ea"/>
              <a:ea typeface="+mj-ea"/>
            </a:endParaRPr>
          </a:p>
        </p:txBody>
      </p:sp>
      <p:sp>
        <p:nvSpPr>
          <p:cNvPr id="5" name="Shape 3"/>
          <p:cNvSpPr/>
          <p:nvPr/>
        </p:nvSpPr>
        <p:spPr>
          <a:xfrm>
            <a:off x="1325880" y="1412036"/>
            <a:ext cx="914400" cy="91440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ko-KR" altLang="en-US">
              <a:latin typeface="+mj-ea"/>
              <a:ea typeface="+mj-ea"/>
            </a:endParaRPr>
          </a:p>
        </p:txBody>
      </p:sp>
      <p:sp>
        <p:nvSpPr>
          <p:cNvPr id="6" name="Text 4"/>
          <p:cNvSpPr/>
          <p:nvPr/>
        </p:nvSpPr>
        <p:spPr>
          <a:xfrm>
            <a:off x="1325880" y="1412036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+mj-ea"/>
                <a:ea typeface="+mj-ea"/>
                <a:cs typeface="Arial" pitchFamily="34" charset="-120"/>
              </a:rPr>
              <a:t>Q</a:t>
            </a:r>
            <a:endParaRPr lang="en-US" sz="3200" dirty="0">
              <a:latin typeface="+mj-ea"/>
              <a:ea typeface="+mj-ea"/>
            </a:endParaRPr>
          </a:p>
        </p:txBody>
      </p:sp>
      <p:sp>
        <p:nvSpPr>
          <p:cNvPr id="7" name="Text 5"/>
          <p:cNvSpPr/>
          <p:nvPr/>
        </p:nvSpPr>
        <p:spPr>
          <a:xfrm>
            <a:off x="457200" y="2417876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65A82"/>
                </a:solidFill>
                <a:latin typeface="+mj-ea"/>
                <a:ea typeface="+mj-ea"/>
                <a:cs typeface="Arial" pitchFamily="34" charset="-120"/>
              </a:rPr>
              <a:t>Query</a:t>
            </a:r>
            <a:endParaRPr lang="en-US" sz="2000" dirty="0">
              <a:latin typeface="+mj-ea"/>
              <a:ea typeface="+mj-ea"/>
            </a:endParaRPr>
          </a:p>
        </p:txBody>
      </p:sp>
      <p:sp>
        <p:nvSpPr>
          <p:cNvPr id="8" name="Text 6"/>
          <p:cNvSpPr/>
          <p:nvPr/>
        </p:nvSpPr>
        <p:spPr>
          <a:xfrm>
            <a:off x="457200" y="2783636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64748B"/>
                </a:solidFill>
                <a:latin typeface="+mj-ea"/>
                <a:ea typeface="+mj-ea"/>
                <a:cs typeface="Arial" pitchFamily="34" charset="-120"/>
              </a:rPr>
              <a:t>쿼리 (질문)</a:t>
            </a:r>
            <a:endParaRPr lang="en-US" sz="1200" dirty="0">
              <a:latin typeface="+mj-ea"/>
              <a:ea typeface="+mj-ea"/>
            </a:endParaRPr>
          </a:p>
        </p:txBody>
      </p:sp>
      <p:sp>
        <p:nvSpPr>
          <p:cNvPr id="9" name="Shape 7"/>
          <p:cNvSpPr/>
          <p:nvPr/>
        </p:nvSpPr>
        <p:spPr>
          <a:xfrm>
            <a:off x="914400" y="3149396"/>
            <a:ext cx="1737360" cy="0"/>
          </a:xfrm>
          <a:prstGeom prst="line">
            <a:avLst/>
          </a:prstGeom>
          <a:noFill/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ko-KR" altLang="en-US">
              <a:latin typeface="+mj-ea"/>
              <a:ea typeface="+mj-ea"/>
            </a:endParaRPr>
          </a:p>
        </p:txBody>
      </p:sp>
      <p:sp>
        <p:nvSpPr>
          <p:cNvPr id="10" name="Text 8"/>
          <p:cNvSpPr/>
          <p:nvPr/>
        </p:nvSpPr>
        <p:spPr>
          <a:xfrm>
            <a:off x="640080" y="3332276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E293B"/>
                </a:solidFill>
                <a:latin typeface="+mj-ea"/>
                <a:ea typeface="+mj-ea"/>
                <a:cs typeface="Arial" pitchFamily="34" charset="-120"/>
              </a:rPr>
              <a:t>내가 찾고 싶은 것</a:t>
            </a:r>
            <a:endParaRPr lang="en-US" sz="1200" dirty="0">
              <a:latin typeface="+mj-ea"/>
              <a:ea typeface="+mj-ea"/>
            </a:endParaRPr>
          </a:p>
          <a:p>
            <a:pPr marL="0" indent="0" algn="ctr">
              <a:buNone/>
            </a:pPr>
            <a:r>
              <a:rPr lang="en-US" sz="1200" dirty="0">
                <a:solidFill>
                  <a:srgbClr val="1E293B"/>
                </a:solidFill>
                <a:latin typeface="+mj-ea"/>
                <a:ea typeface="+mj-ea"/>
                <a:cs typeface="Arial" pitchFamily="34" charset="-120"/>
              </a:rPr>
              <a:t>"나랑 관련된 단어 어디 있지?"</a:t>
            </a:r>
            <a:endParaRPr lang="en-US" sz="1200" dirty="0">
              <a:latin typeface="+mj-ea"/>
              <a:ea typeface="+mj-ea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3246120" y="1137716"/>
            <a:ext cx="2651760" cy="3108960"/>
          </a:xfrm>
          <a:prstGeom prst="rect">
            <a:avLst/>
          </a:prstGeom>
          <a:solidFill>
            <a:srgbClr val="F5F9FC"/>
          </a:solidFill>
          <a:ln/>
        </p:spPr>
        <p:txBody>
          <a:bodyPr/>
          <a:lstStyle/>
          <a:p>
            <a:endParaRPr lang="ko-KR" altLang="en-US">
              <a:latin typeface="+mj-ea"/>
              <a:ea typeface="+mj-ea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4114800" y="1412036"/>
            <a:ext cx="914400" cy="91440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ko-KR" altLang="en-US">
              <a:latin typeface="+mj-ea"/>
              <a:ea typeface="+mj-ea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4114800" y="1412036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+mj-ea"/>
                <a:ea typeface="+mj-ea"/>
                <a:cs typeface="Arial" pitchFamily="34" charset="-120"/>
              </a:rPr>
              <a:t>K</a:t>
            </a:r>
            <a:endParaRPr lang="en-US" sz="3200" dirty="0">
              <a:latin typeface="+mj-ea"/>
              <a:ea typeface="+mj-ea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3246120" y="2417876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C7293"/>
                </a:solidFill>
                <a:latin typeface="+mj-ea"/>
                <a:ea typeface="+mj-ea"/>
                <a:cs typeface="Arial" pitchFamily="34" charset="-120"/>
              </a:rPr>
              <a:t>Key</a:t>
            </a:r>
            <a:endParaRPr lang="en-US" sz="2000" dirty="0">
              <a:latin typeface="+mj-ea"/>
              <a:ea typeface="+mj-ea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3246120" y="2783636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64748B"/>
                </a:solidFill>
                <a:latin typeface="+mj-ea"/>
                <a:ea typeface="+mj-ea"/>
                <a:cs typeface="Arial" pitchFamily="34" charset="-120"/>
              </a:rPr>
              <a:t>키 (열쇠)</a:t>
            </a:r>
            <a:endParaRPr lang="en-US" sz="1200" dirty="0">
              <a:latin typeface="+mj-ea"/>
              <a:ea typeface="+mj-ea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3703320" y="3149396"/>
            <a:ext cx="1737360" cy="0"/>
          </a:xfrm>
          <a:prstGeom prst="line">
            <a:avLst/>
          </a:prstGeom>
          <a:noFill/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ko-KR" altLang="en-US">
              <a:latin typeface="+mj-ea"/>
              <a:ea typeface="+mj-ea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3429000" y="3332276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E293B"/>
                </a:solidFill>
                <a:latin typeface="+mj-ea"/>
                <a:ea typeface="+mj-ea"/>
                <a:cs typeface="Arial" pitchFamily="34" charset="-120"/>
              </a:rPr>
              <a:t>각 책의 제목표</a:t>
            </a:r>
            <a:endParaRPr lang="en-US" sz="1200" dirty="0">
              <a:latin typeface="+mj-ea"/>
              <a:ea typeface="+mj-ea"/>
            </a:endParaRPr>
          </a:p>
          <a:p>
            <a:pPr marL="0" indent="0" algn="ctr">
              <a:buNone/>
            </a:pPr>
            <a:r>
              <a:rPr lang="en-US" sz="1200" dirty="0">
                <a:solidFill>
                  <a:srgbClr val="1E293B"/>
                </a:solidFill>
                <a:latin typeface="+mj-ea"/>
                <a:ea typeface="+mj-ea"/>
                <a:cs typeface="Arial" pitchFamily="34" charset="-120"/>
              </a:rPr>
              <a:t>"나는 이런 단어야!"</a:t>
            </a:r>
            <a:endParaRPr lang="en-US" sz="1200" dirty="0">
              <a:latin typeface="+mj-ea"/>
              <a:ea typeface="+mj-ea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6035040" y="1137716"/>
            <a:ext cx="2651760" cy="3108960"/>
          </a:xfrm>
          <a:prstGeom prst="rect">
            <a:avLst/>
          </a:prstGeom>
          <a:solidFill>
            <a:srgbClr val="F5F9FC"/>
          </a:solidFill>
          <a:ln/>
        </p:spPr>
        <p:txBody>
          <a:bodyPr/>
          <a:lstStyle/>
          <a:p>
            <a:endParaRPr lang="ko-KR" altLang="en-US">
              <a:latin typeface="+mj-ea"/>
              <a:ea typeface="+mj-ea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6903720" y="1412036"/>
            <a:ext cx="914400" cy="914400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ko-KR" altLang="en-US">
              <a:latin typeface="+mj-ea"/>
              <a:ea typeface="+mj-ea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6903720" y="1412036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+mj-ea"/>
                <a:ea typeface="+mj-ea"/>
                <a:cs typeface="Arial" pitchFamily="34" charset="-120"/>
              </a:rPr>
              <a:t>V</a:t>
            </a:r>
            <a:endParaRPr lang="en-US" sz="3200" dirty="0">
              <a:latin typeface="+mj-ea"/>
              <a:ea typeface="+mj-ea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6035040" y="2417876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59E0B"/>
                </a:solidFill>
                <a:latin typeface="+mj-ea"/>
                <a:ea typeface="+mj-ea"/>
                <a:cs typeface="Arial" pitchFamily="34" charset="-120"/>
              </a:rPr>
              <a:t>Value</a:t>
            </a:r>
            <a:endParaRPr lang="en-US" sz="2000" dirty="0">
              <a:latin typeface="+mj-ea"/>
              <a:ea typeface="+mj-ea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6035040" y="2783636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64748B"/>
                </a:solidFill>
                <a:latin typeface="+mj-ea"/>
                <a:ea typeface="+mj-ea"/>
                <a:cs typeface="Arial" pitchFamily="34" charset="-120"/>
              </a:rPr>
              <a:t>밸류 (내용)</a:t>
            </a:r>
            <a:endParaRPr lang="en-US" sz="1200" dirty="0">
              <a:latin typeface="+mj-ea"/>
              <a:ea typeface="+mj-ea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6492240" y="3149396"/>
            <a:ext cx="1737360" cy="0"/>
          </a:xfrm>
          <a:prstGeom prst="line">
            <a:avLst/>
          </a:prstGeom>
          <a:noFill/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ko-KR" altLang="en-US">
              <a:latin typeface="+mj-ea"/>
              <a:ea typeface="+mj-ea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6217920" y="3332276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E293B"/>
                </a:solidFill>
                <a:latin typeface="+mj-ea"/>
                <a:ea typeface="+mj-ea"/>
                <a:cs typeface="Arial" pitchFamily="34" charset="-120"/>
              </a:rPr>
              <a:t>책의 실제 내용</a:t>
            </a:r>
            <a:endParaRPr lang="en-US" sz="1200" dirty="0">
              <a:latin typeface="+mj-ea"/>
              <a:ea typeface="+mj-ea"/>
            </a:endParaRPr>
          </a:p>
          <a:p>
            <a:pPr marL="0" indent="0" algn="ctr">
              <a:buNone/>
            </a:pPr>
            <a:r>
              <a:rPr lang="en-US" sz="1200" dirty="0">
                <a:solidFill>
                  <a:srgbClr val="1E293B"/>
                </a:solidFill>
                <a:latin typeface="+mj-ea"/>
                <a:ea typeface="+mj-ea"/>
                <a:cs typeface="Arial" pitchFamily="34" charset="-120"/>
              </a:rPr>
              <a:t>"여기서 가져갈 정보"</a:t>
            </a:r>
            <a:endParaRPr lang="en-US" sz="1200" dirty="0">
              <a:latin typeface="+mj-ea"/>
              <a:ea typeface="+mj-ea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457200" y="4383836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i="1" dirty="0">
                <a:solidFill>
                  <a:srgbClr val="21295C"/>
                </a:solidFill>
                <a:latin typeface="+mj-ea"/>
                <a:ea typeface="+mj-ea"/>
                <a:cs typeface="Arial" pitchFamily="34" charset="-120"/>
              </a:rPr>
              <a:t>Query × Key → 점수 매기기   /   점수로 Value 가중합 → 결과</a:t>
            </a:r>
            <a:endParaRPr lang="en-US" sz="1300" dirty="0">
              <a:latin typeface="+mj-ea"/>
              <a:ea typeface="+mj-ea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93B"/>
                </a:solidFill>
                <a:latin typeface="+mj-ea"/>
                <a:ea typeface="+mj-ea"/>
                <a:cs typeface="Arial" pitchFamily="34" charset="-120"/>
              </a:rPr>
              <a:t>Transformer가 게임을 바꾼 이유</a:t>
            </a:r>
            <a:endParaRPr lang="en-US" sz="3000" dirty="0">
              <a:latin typeface="+mj-ea"/>
              <a:ea typeface="+mj-ea"/>
            </a:endParaRPr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2651760" cy="3291840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ko-KR" altLang="en-US">
              <a:latin typeface="+mj-ea"/>
              <a:ea typeface="+mj-ea"/>
            </a:endParaRPr>
          </a:p>
        </p:txBody>
      </p:sp>
      <p:sp>
        <p:nvSpPr>
          <p:cNvPr id="4" name="Text 2"/>
          <p:cNvSpPr/>
          <p:nvPr/>
        </p:nvSpPr>
        <p:spPr>
          <a:xfrm>
            <a:off x="731520" y="164592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+mj-ea"/>
                <a:ea typeface="+mj-ea"/>
                <a:cs typeface="Arial" pitchFamily="34" charset="-120"/>
              </a:rPr>
              <a:t>01</a:t>
            </a:r>
            <a:endParaRPr lang="en-US" sz="4400" dirty="0">
              <a:latin typeface="+mj-ea"/>
              <a:ea typeface="+mj-ea"/>
            </a:endParaRPr>
          </a:p>
        </p:txBody>
      </p:sp>
      <p:sp>
        <p:nvSpPr>
          <p:cNvPr id="5" name="Shape 3"/>
          <p:cNvSpPr/>
          <p:nvPr/>
        </p:nvSpPr>
        <p:spPr>
          <a:xfrm>
            <a:off x="731520" y="2560320"/>
            <a:ext cx="548640" cy="0"/>
          </a:xfrm>
          <a:prstGeom prst="line">
            <a:avLst/>
          </a:prstGeom>
          <a:noFill/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>
              <a:latin typeface="+mj-ea"/>
              <a:ea typeface="+mj-ea"/>
            </a:endParaRPr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+mj-ea"/>
                <a:ea typeface="+mj-ea"/>
                <a:cs typeface="Arial" pitchFamily="34" charset="-120"/>
              </a:rPr>
              <a:t>병렬 처리 가능</a:t>
            </a:r>
            <a:endParaRPr lang="en-US" sz="2000" dirty="0">
              <a:latin typeface="+mj-ea"/>
              <a:ea typeface="+mj-ea"/>
            </a:endParaRPr>
          </a:p>
        </p:txBody>
      </p:sp>
      <p:sp>
        <p:nvSpPr>
          <p:cNvPr id="7" name="Text 5"/>
          <p:cNvSpPr/>
          <p:nvPr/>
        </p:nvSpPr>
        <p:spPr>
          <a:xfrm>
            <a:off x="662940" y="3388878"/>
            <a:ext cx="22402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+mj-ea"/>
                <a:ea typeface="+mj-ea"/>
                <a:cs typeface="Arial" pitchFamily="34" charset="-120"/>
              </a:rPr>
              <a:t>RNN은 단어를 하나씩 </a:t>
            </a:r>
            <a:r>
              <a:rPr lang="en-US" sz="1300" dirty="0" err="1">
                <a:solidFill>
                  <a:srgbClr val="FFFFFF"/>
                </a:solidFill>
                <a:latin typeface="+mj-ea"/>
                <a:ea typeface="+mj-ea"/>
                <a:cs typeface="Arial" pitchFamily="34" charset="-120"/>
              </a:rPr>
              <a:t>순서대로</a:t>
            </a:r>
            <a:r>
              <a:rPr lang="en-US" sz="1300" dirty="0">
                <a:solidFill>
                  <a:srgbClr val="FFFFFF"/>
                </a:solidFill>
                <a:latin typeface="+mj-ea"/>
                <a:ea typeface="+mj-ea"/>
                <a:cs typeface="Arial" pitchFamily="34" charset="-120"/>
              </a:rPr>
              <a:t>, </a:t>
            </a:r>
            <a:r>
              <a:rPr lang="en-US" sz="1300" dirty="0" err="1">
                <a:solidFill>
                  <a:srgbClr val="FFFFFF"/>
                </a:solidFill>
                <a:latin typeface="+mj-ea"/>
                <a:ea typeface="+mj-ea"/>
                <a:cs typeface="Arial" pitchFamily="34" charset="-120"/>
              </a:rPr>
              <a:t>Transformer는</a:t>
            </a:r>
            <a:r>
              <a:rPr lang="en-US" sz="1300" dirty="0">
                <a:solidFill>
                  <a:srgbClr val="FFFFFF"/>
                </a:solidFill>
                <a:latin typeface="+mj-ea"/>
                <a:ea typeface="+mj-ea"/>
                <a:cs typeface="Arial" pitchFamily="34" charset="-120"/>
              </a:rPr>
              <a:t> 한꺼번에 처리</a:t>
            </a:r>
            <a:endParaRPr lang="en-US" sz="1300" dirty="0">
              <a:latin typeface="+mj-ea"/>
              <a:ea typeface="+mj-ea"/>
            </a:endParaRPr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+mj-ea"/>
                <a:ea typeface="+mj-ea"/>
                <a:cs typeface="Arial" pitchFamily="34" charset="-120"/>
              </a:rPr>
              <a:t>→ 학습 속도 수십 배 빨라짐</a:t>
            </a:r>
            <a:endParaRPr lang="en-US" sz="1300" dirty="0">
              <a:latin typeface="+mj-ea"/>
              <a:ea typeface="+mj-ea"/>
            </a:endParaRPr>
          </a:p>
        </p:txBody>
      </p:sp>
      <p:sp>
        <p:nvSpPr>
          <p:cNvPr id="8" name="Shape 6"/>
          <p:cNvSpPr/>
          <p:nvPr/>
        </p:nvSpPr>
        <p:spPr>
          <a:xfrm>
            <a:off x="3246120" y="1371600"/>
            <a:ext cx="2651760" cy="329184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ko-KR" altLang="en-US">
              <a:latin typeface="+mj-ea"/>
              <a:ea typeface="+mj-ea"/>
            </a:endParaRPr>
          </a:p>
        </p:txBody>
      </p:sp>
      <p:sp>
        <p:nvSpPr>
          <p:cNvPr id="9" name="Text 7"/>
          <p:cNvSpPr/>
          <p:nvPr/>
        </p:nvSpPr>
        <p:spPr>
          <a:xfrm>
            <a:off x="3520440" y="164592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+mj-ea"/>
                <a:ea typeface="+mj-ea"/>
                <a:cs typeface="Arial" pitchFamily="34" charset="-120"/>
              </a:rPr>
              <a:t>02</a:t>
            </a:r>
            <a:endParaRPr lang="en-US" sz="4400" dirty="0">
              <a:latin typeface="+mj-ea"/>
              <a:ea typeface="+mj-ea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3520440" y="2560320"/>
            <a:ext cx="548640" cy="0"/>
          </a:xfrm>
          <a:prstGeom prst="line">
            <a:avLst/>
          </a:prstGeom>
          <a:noFill/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>
              <a:latin typeface="+mj-ea"/>
              <a:ea typeface="+mj-ea"/>
            </a:endParaRPr>
          </a:p>
        </p:txBody>
      </p:sp>
      <p:sp>
        <p:nvSpPr>
          <p:cNvPr id="11" name="Text 9"/>
          <p:cNvSpPr/>
          <p:nvPr/>
        </p:nvSpPr>
        <p:spPr>
          <a:xfrm>
            <a:off x="3520440" y="274320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+mj-ea"/>
                <a:ea typeface="+mj-ea"/>
                <a:cs typeface="Arial" pitchFamily="34" charset="-120"/>
              </a:rPr>
              <a:t>장거리 연결 가능</a:t>
            </a:r>
            <a:endParaRPr lang="en-US" sz="2000" dirty="0">
              <a:latin typeface="+mj-ea"/>
              <a:ea typeface="+mj-ea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3520440" y="3383280"/>
            <a:ext cx="21031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+mj-ea"/>
                <a:ea typeface="+mj-ea"/>
                <a:cs typeface="Arial" pitchFamily="34" charset="-120"/>
              </a:rPr>
              <a:t>첫 단어와 마지막 단어를</a:t>
            </a:r>
            <a:endParaRPr lang="en-US" sz="1300" dirty="0">
              <a:latin typeface="+mj-ea"/>
              <a:ea typeface="+mj-ea"/>
            </a:endParaRPr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+mj-ea"/>
                <a:ea typeface="+mj-ea"/>
                <a:cs typeface="Arial" pitchFamily="34" charset="-120"/>
              </a:rPr>
              <a:t>직접 연결할 수 있음</a:t>
            </a:r>
            <a:endParaRPr lang="en-US" sz="1300" dirty="0">
              <a:latin typeface="+mj-ea"/>
              <a:ea typeface="+mj-ea"/>
            </a:endParaRPr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+mj-ea"/>
                <a:ea typeface="+mj-ea"/>
                <a:cs typeface="Arial" pitchFamily="34" charset="-120"/>
              </a:rPr>
              <a:t>→ 긴 문장도 잘 이해</a:t>
            </a:r>
            <a:endParaRPr lang="en-US" sz="1300" dirty="0">
              <a:latin typeface="+mj-ea"/>
              <a:ea typeface="+mj-ea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6035040" y="1371600"/>
            <a:ext cx="2651760" cy="329184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ko-KR" altLang="en-US">
              <a:latin typeface="+mj-ea"/>
              <a:ea typeface="+mj-ea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6309360" y="164592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+mj-ea"/>
                <a:ea typeface="+mj-ea"/>
                <a:cs typeface="Arial" pitchFamily="34" charset="-120"/>
              </a:rPr>
              <a:t>03</a:t>
            </a:r>
            <a:endParaRPr lang="en-US" sz="4400" dirty="0">
              <a:latin typeface="+mj-ea"/>
              <a:ea typeface="+mj-ea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6309360" y="2560320"/>
            <a:ext cx="548640" cy="0"/>
          </a:xfrm>
          <a:prstGeom prst="line">
            <a:avLst/>
          </a:prstGeom>
          <a:noFill/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>
              <a:latin typeface="+mj-ea"/>
              <a:ea typeface="+mj-ea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6309360" y="274320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+mj-ea"/>
                <a:ea typeface="+mj-ea"/>
                <a:cs typeface="Arial" pitchFamily="34" charset="-120"/>
              </a:rPr>
              <a:t>확장성이 뛰어남</a:t>
            </a:r>
            <a:endParaRPr lang="en-US" sz="2000" dirty="0">
              <a:latin typeface="+mj-ea"/>
              <a:ea typeface="+mj-ea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6172200" y="3388878"/>
            <a:ext cx="23774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+mj-ea"/>
                <a:ea typeface="+mj-ea"/>
                <a:cs typeface="Arial" pitchFamily="34" charset="-120"/>
              </a:rPr>
              <a:t>모델을 키울수록</a:t>
            </a:r>
            <a:endParaRPr lang="en-US" sz="1300" dirty="0">
              <a:latin typeface="+mj-ea"/>
              <a:ea typeface="+mj-ea"/>
            </a:endParaRPr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+mj-ea"/>
                <a:ea typeface="+mj-ea"/>
                <a:cs typeface="Arial" pitchFamily="34" charset="-120"/>
              </a:rPr>
              <a:t>성능이 계속 좋아짐</a:t>
            </a:r>
            <a:endParaRPr lang="en-US" sz="1300" dirty="0">
              <a:latin typeface="+mj-ea"/>
              <a:ea typeface="+mj-ea"/>
            </a:endParaRPr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+mj-ea"/>
                <a:ea typeface="+mj-ea"/>
                <a:cs typeface="Arial" pitchFamily="34" charset="-120"/>
              </a:rPr>
              <a:t>→ 거대 모델(LLM) 시대 개막</a:t>
            </a:r>
            <a:endParaRPr lang="en-US" sz="1300" dirty="0">
              <a:latin typeface="+mj-ea"/>
              <a:ea typeface="+mj-ea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C729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6459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kern="0" dirty="0">
                <a:solidFill>
                  <a:srgbClr val="F59E0B"/>
                </a:solidFill>
                <a:latin typeface="+mj-ea"/>
                <a:ea typeface="+mj-ea"/>
                <a:cs typeface="Arial" pitchFamily="34" charset="-120"/>
              </a:rPr>
              <a:t>Part 4</a:t>
            </a:r>
            <a:endParaRPr lang="en-US" sz="1800" dirty="0">
              <a:latin typeface="+mj-ea"/>
              <a:ea typeface="+mj-ea"/>
            </a:endParaRPr>
          </a:p>
        </p:txBody>
      </p:sp>
      <p:sp>
        <p:nvSpPr>
          <p:cNvPr id="3" name="Text 1"/>
          <p:cNvSpPr/>
          <p:nvPr/>
        </p:nvSpPr>
        <p:spPr>
          <a:xfrm>
            <a:off x="640080" y="22860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+mj-ea"/>
                <a:ea typeface="+mj-ea"/>
                <a:cs typeface="Arial" pitchFamily="34" charset="-120"/>
              </a:rPr>
              <a:t>LLM의 진짜 정체:</a:t>
            </a:r>
            <a:endParaRPr lang="en-US" sz="4200" dirty="0">
              <a:latin typeface="+mj-ea"/>
              <a:ea typeface="+mj-ea"/>
            </a:endParaRPr>
          </a:p>
        </p:txBody>
      </p:sp>
      <p:sp>
        <p:nvSpPr>
          <p:cNvPr id="4" name="Text 2"/>
          <p:cNvSpPr/>
          <p:nvPr/>
        </p:nvSpPr>
        <p:spPr>
          <a:xfrm>
            <a:off x="640080" y="310896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F5F9FC"/>
                </a:solidFill>
                <a:latin typeface="+mj-ea"/>
                <a:ea typeface="+mj-ea"/>
                <a:cs typeface="Arial" pitchFamily="34" charset="-120"/>
              </a:rPr>
              <a:t>"다음 단어를 맞히는 기계"</a:t>
            </a:r>
            <a:endParaRPr lang="en-US" sz="3200" dirty="0">
              <a:latin typeface="+mj-ea"/>
              <a:ea typeface="+mj-ea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93B"/>
                </a:solidFill>
                <a:latin typeface="+mj-ea"/>
                <a:ea typeface="+mj-ea"/>
                <a:cs typeface="Arial" pitchFamily="34" charset="-120"/>
              </a:rPr>
              <a:t>LLM이 하는 일은 단 하나</a:t>
            </a:r>
            <a:endParaRPr lang="en-US" sz="3000" dirty="0">
              <a:latin typeface="+mj-ea"/>
              <a:ea typeface="+mj-ea"/>
            </a:endParaRPr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4748B"/>
                </a:solidFill>
                <a:latin typeface="+mj-ea"/>
                <a:ea typeface="+mj-ea"/>
                <a:cs typeface="Arial" pitchFamily="34" charset="-120"/>
              </a:rPr>
              <a:t>입력 받은 단어들을 보고, 다음에 올 단어를 확률적으로 예측</a:t>
            </a:r>
            <a:endParaRPr lang="en-US" sz="1400" dirty="0">
              <a:latin typeface="+mj-ea"/>
              <a:ea typeface="+mj-ea"/>
            </a:endParaRPr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8229600" cy="822960"/>
          </a:xfrm>
          <a:prstGeom prst="rect">
            <a:avLst/>
          </a:prstGeom>
          <a:solidFill>
            <a:srgbClr val="21295C"/>
          </a:solidFill>
          <a:ln/>
        </p:spPr>
        <p:txBody>
          <a:bodyPr/>
          <a:lstStyle/>
          <a:p>
            <a:endParaRPr lang="ko-KR" altLang="en-US">
              <a:latin typeface="+mj-ea"/>
              <a:ea typeface="+mj-ea"/>
            </a:endParaRPr>
          </a:p>
        </p:txBody>
      </p:sp>
      <p:sp>
        <p:nvSpPr>
          <p:cNvPr id="5" name="Text 3"/>
          <p:cNvSpPr/>
          <p:nvPr/>
        </p:nvSpPr>
        <p:spPr>
          <a:xfrm>
            <a:off x="457200" y="155448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+mj-ea"/>
                <a:ea typeface="+mj-ea"/>
                <a:cs typeface="Arial" pitchFamily="34" charset="-120"/>
              </a:rPr>
              <a:t>입력: "오늘 </a:t>
            </a:r>
            <a:r>
              <a:rPr lang="en-US" sz="2200" b="1" dirty="0" err="1">
                <a:solidFill>
                  <a:srgbClr val="FFFFFF"/>
                </a:solidFill>
                <a:latin typeface="+mj-ea"/>
                <a:ea typeface="+mj-ea"/>
                <a:cs typeface="Arial" pitchFamily="34" charset="-120"/>
              </a:rPr>
              <a:t>날씨가</a:t>
            </a:r>
            <a:r>
              <a:rPr lang="en-US" sz="2200" b="1" dirty="0">
                <a:solidFill>
                  <a:srgbClr val="FFFFFF"/>
                </a:solidFill>
                <a:latin typeface="+mj-ea"/>
                <a:ea typeface="+mj-ea"/>
                <a:cs typeface="Arial" pitchFamily="34" charset="-120"/>
              </a:rPr>
              <a:t> ___"</a:t>
            </a:r>
            <a:endParaRPr lang="en-US" sz="2200" dirty="0">
              <a:latin typeface="+mj-ea"/>
              <a:ea typeface="+mj-ea"/>
            </a:endParaRPr>
          </a:p>
        </p:txBody>
      </p:sp>
      <p:graphicFrame>
        <p:nvGraphicFramePr>
          <p:cNvPr id="6" name="Chart 0"/>
          <p:cNvGraphicFramePr/>
          <p:nvPr>
            <p:extLst>
              <p:ext uri="{D42A27DB-BD31-4B8C-83A1-F6EECF244321}">
                <p14:modId xmlns:p14="http://schemas.microsoft.com/office/powerpoint/2010/main" val="3849327377"/>
              </p:ext>
            </p:extLst>
          </p:nvPr>
        </p:nvGraphicFramePr>
        <p:xfrm>
          <a:off x="1371600" y="2651760"/>
          <a:ext cx="6400800" cy="20116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Shape 4"/>
          <p:cNvSpPr/>
          <p:nvPr/>
        </p:nvSpPr>
        <p:spPr>
          <a:xfrm>
            <a:off x="457200" y="4663440"/>
            <a:ext cx="8229600" cy="330926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ko-KR" altLang="en-US">
              <a:latin typeface="+mj-ea"/>
              <a:ea typeface="+mj-ea"/>
            </a:endParaRPr>
          </a:p>
        </p:txBody>
      </p:sp>
      <p:sp>
        <p:nvSpPr>
          <p:cNvPr id="8" name="Text 5"/>
          <p:cNvSpPr/>
          <p:nvPr/>
        </p:nvSpPr>
        <p:spPr>
          <a:xfrm>
            <a:off x="457200" y="4628606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+mj-ea"/>
                <a:ea typeface="+mj-ea"/>
                <a:cs typeface="Arial" pitchFamily="34" charset="-120"/>
              </a:rPr>
              <a:t>이 과정을 한 단어씩 반복 → 길고 자연스러운 문장 완성</a:t>
            </a:r>
            <a:endParaRPr lang="en-US" sz="1400" dirty="0">
              <a:latin typeface="+mj-ea"/>
              <a:ea typeface="+mj-ea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93B"/>
                </a:solidFill>
                <a:latin typeface="+mj-ea"/>
                <a:ea typeface="+mj-ea"/>
                <a:cs typeface="Arial" pitchFamily="34" charset="-120"/>
              </a:rPr>
              <a:t>그런데 왜 그렇게 똑똑해 보일까?</a:t>
            </a:r>
            <a:endParaRPr lang="en-US" sz="3000" dirty="0">
              <a:latin typeface="+mj-ea"/>
              <a:ea typeface="+mj-ea"/>
            </a:endParaRPr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3931920" cy="2640563"/>
          </a:xfrm>
          <a:prstGeom prst="rect">
            <a:avLst/>
          </a:prstGeom>
          <a:solidFill>
            <a:srgbClr val="F5F9FC"/>
          </a:solidFill>
          <a:ln/>
        </p:spPr>
        <p:txBody>
          <a:bodyPr/>
          <a:lstStyle/>
          <a:p>
            <a:endParaRPr lang="ko-KR" altLang="en-US">
              <a:latin typeface="+mj-ea"/>
              <a:ea typeface="+mj-ea"/>
            </a:endParaRPr>
          </a:p>
        </p:txBody>
      </p:sp>
      <p:sp>
        <p:nvSpPr>
          <p:cNvPr id="4" name="Text 2"/>
          <p:cNvSpPr/>
          <p:nvPr/>
        </p:nvSpPr>
        <p:spPr>
          <a:xfrm>
            <a:off x="640080" y="15544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65A82"/>
                </a:solidFill>
                <a:latin typeface="+mj-ea"/>
                <a:ea typeface="+mj-ea"/>
                <a:cs typeface="Arial" pitchFamily="34" charset="-120"/>
              </a:rPr>
              <a:t>학습한 것</a:t>
            </a:r>
            <a:endParaRPr lang="en-US" sz="1600" dirty="0">
              <a:latin typeface="+mj-ea"/>
              <a:ea typeface="+mj-ea"/>
            </a:endParaRPr>
          </a:p>
        </p:txBody>
      </p:sp>
      <p:sp>
        <p:nvSpPr>
          <p:cNvPr id="5" name="Text 3"/>
          <p:cNvSpPr/>
          <p:nvPr/>
        </p:nvSpPr>
        <p:spPr>
          <a:xfrm>
            <a:off x="640080" y="21031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+mj-ea"/>
                <a:ea typeface="+mj-ea"/>
                <a:cs typeface="Arial" pitchFamily="34" charset="-120"/>
              </a:rPr>
              <a:t>• 인터넷 텍스트 수천억 단어</a:t>
            </a:r>
            <a:endParaRPr lang="en-US" sz="1300" dirty="0">
              <a:latin typeface="+mj-ea"/>
              <a:ea typeface="+mj-ea"/>
            </a:endParaRPr>
          </a:p>
        </p:txBody>
      </p:sp>
      <p:sp>
        <p:nvSpPr>
          <p:cNvPr id="6" name="Text 4"/>
          <p:cNvSpPr/>
          <p:nvPr/>
        </p:nvSpPr>
        <p:spPr>
          <a:xfrm>
            <a:off x="640080" y="25603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+mj-ea"/>
                <a:ea typeface="+mj-ea"/>
                <a:cs typeface="Arial" pitchFamily="34" charset="-120"/>
              </a:rPr>
              <a:t>• "다음 단어 맞히기" 한 가지 목표</a:t>
            </a:r>
            <a:endParaRPr lang="en-US" sz="1300" dirty="0">
              <a:latin typeface="+mj-ea"/>
              <a:ea typeface="+mj-ea"/>
            </a:endParaRPr>
          </a:p>
        </p:txBody>
      </p:sp>
      <p:sp>
        <p:nvSpPr>
          <p:cNvPr id="7" name="Text 5"/>
          <p:cNvSpPr/>
          <p:nvPr/>
        </p:nvSpPr>
        <p:spPr>
          <a:xfrm>
            <a:off x="640080" y="30175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+mj-ea"/>
                <a:ea typeface="+mj-ea"/>
                <a:cs typeface="Arial" pitchFamily="34" charset="-120"/>
              </a:rPr>
              <a:t>• 책, 위키, 코드, 논문, SNS 등</a:t>
            </a:r>
            <a:endParaRPr lang="en-US" sz="1300" dirty="0">
              <a:latin typeface="+mj-ea"/>
              <a:ea typeface="+mj-ea"/>
            </a:endParaRPr>
          </a:p>
        </p:txBody>
      </p:sp>
      <p:sp>
        <p:nvSpPr>
          <p:cNvPr id="8" name="Text 6"/>
          <p:cNvSpPr/>
          <p:nvPr/>
        </p:nvSpPr>
        <p:spPr>
          <a:xfrm>
            <a:off x="640080" y="34747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+mj-ea"/>
                <a:ea typeface="+mj-ea"/>
                <a:cs typeface="Arial" pitchFamily="34" charset="-120"/>
              </a:rPr>
              <a:t>• 매개변수 1,000억 개 이상</a:t>
            </a:r>
            <a:endParaRPr lang="en-US" sz="1300" dirty="0">
              <a:latin typeface="+mj-ea"/>
              <a:ea typeface="+mj-ea"/>
            </a:endParaRPr>
          </a:p>
        </p:txBody>
      </p:sp>
      <p:sp>
        <p:nvSpPr>
          <p:cNvPr id="9" name="Shape 7"/>
          <p:cNvSpPr/>
          <p:nvPr/>
        </p:nvSpPr>
        <p:spPr>
          <a:xfrm>
            <a:off x="4754880" y="1371600"/>
            <a:ext cx="3931920" cy="2640563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ko-KR" altLang="en-US">
              <a:latin typeface="+mj-ea"/>
              <a:ea typeface="+mj-ea"/>
            </a:endParaRPr>
          </a:p>
        </p:txBody>
      </p:sp>
      <p:sp>
        <p:nvSpPr>
          <p:cNvPr id="10" name="Text 8"/>
          <p:cNvSpPr/>
          <p:nvPr/>
        </p:nvSpPr>
        <p:spPr>
          <a:xfrm>
            <a:off x="4937760" y="15544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+mj-ea"/>
                <a:ea typeface="+mj-ea"/>
                <a:cs typeface="Arial" pitchFamily="34" charset="-120"/>
              </a:rPr>
              <a:t>✨ 갑자기 생긴 능력</a:t>
            </a:r>
            <a:endParaRPr lang="en-US" sz="1600" dirty="0">
              <a:latin typeface="+mj-ea"/>
              <a:ea typeface="+mj-ea"/>
            </a:endParaRPr>
          </a:p>
        </p:txBody>
      </p:sp>
      <p:sp>
        <p:nvSpPr>
          <p:cNvPr id="11" name="Text 9"/>
          <p:cNvSpPr/>
          <p:nvPr/>
        </p:nvSpPr>
        <p:spPr>
          <a:xfrm>
            <a:off x="4937760" y="21031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+mj-ea"/>
                <a:ea typeface="+mj-ea"/>
                <a:cs typeface="Arial" pitchFamily="34" charset="-120"/>
              </a:rPr>
              <a:t>• 번역</a:t>
            </a:r>
            <a:endParaRPr lang="en-US" sz="1300" dirty="0">
              <a:latin typeface="+mj-ea"/>
              <a:ea typeface="+mj-ea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4937760" y="24688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+mj-ea"/>
                <a:ea typeface="+mj-ea"/>
                <a:cs typeface="Arial" pitchFamily="34" charset="-120"/>
              </a:rPr>
              <a:t>• 코딩</a:t>
            </a:r>
            <a:endParaRPr lang="en-US" sz="1300" dirty="0">
              <a:latin typeface="+mj-ea"/>
              <a:ea typeface="+mj-ea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4937760" y="28346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+mj-ea"/>
                <a:ea typeface="+mj-ea"/>
                <a:cs typeface="Arial" pitchFamily="34" charset="-120"/>
              </a:rPr>
              <a:t>• 수학 문제 풀이</a:t>
            </a:r>
            <a:endParaRPr lang="en-US" sz="1300" dirty="0">
              <a:latin typeface="+mj-ea"/>
              <a:ea typeface="+mj-ea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4937760" y="32004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+mj-ea"/>
                <a:ea typeface="+mj-ea"/>
                <a:cs typeface="Arial" pitchFamily="34" charset="-120"/>
              </a:rPr>
              <a:t>• 추론과 설명</a:t>
            </a:r>
            <a:endParaRPr lang="en-US" sz="1300" dirty="0">
              <a:latin typeface="+mj-ea"/>
              <a:ea typeface="+mj-ea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4937760" y="35661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+mj-ea"/>
                <a:ea typeface="+mj-ea"/>
                <a:cs typeface="Arial" pitchFamily="34" charset="-120"/>
              </a:rPr>
              <a:t>• 농담, 시 쓰기 등</a:t>
            </a:r>
            <a:endParaRPr lang="en-US" sz="1300" dirty="0">
              <a:latin typeface="+mj-ea"/>
              <a:ea typeface="+mj-ea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457200" y="4375436"/>
            <a:ext cx="8229600" cy="457200"/>
          </a:xfrm>
          <a:prstGeom prst="rect">
            <a:avLst/>
          </a:prstGeom>
          <a:solidFill>
            <a:srgbClr val="21295C"/>
          </a:solidFill>
          <a:ln/>
        </p:spPr>
        <p:txBody>
          <a:bodyPr/>
          <a:lstStyle/>
          <a:p>
            <a:endParaRPr lang="ko-KR" altLang="en-US">
              <a:latin typeface="+mj-ea"/>
              <a:ea typeface="+mj-ea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457200" y="4375436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+mj-ea"/>
                <a:ea typeface="+mj-ea"/>
                <a:cs typeface="Arial" pitchFamily="34" charset="-120"/>
              </a:rPr>
              <a:t>이 </a:t>
            </a:r>
            <a:r>
              <a:rPr lang="en-US" sz="1300" b="1" dirty="0" err="1">
                <a:solidFill>
                  <a:srgbClr val="FFFFFF"/>
                </a:solidFill>
                <a:latin typeface="+mj-ea"/>
                <a:ea typeface="+mj-ea"/>
                <a:cs typeface="Arial" pitchFamily="34" charset="-120"/>
              </a:rPr>
              <a:t>현상을</a:t>
            </a:r>
            <a:r>
              <a:rPr lang="en-US" sz="1300" b="1" dirty="0">
                <a:solidFill>
                  <a:srgbClr val="FFFFFF"/>
                </a:solidFill>
                <a:latin typeface="+mj-ea"/>
                <a:ea typeface="+mj-ea"/>
                <a:cs typeface="Arial" pitchFamily="34" charset="-120"/>
              </a:rPr>
              <a:t> "Emergence</a:t>
            </a:r>
            <a:r>
              <a:rPr lang="en-US" altLang="ko-KR" sz="1300" b="1" dirty="0">
                <a:solidFill>
                  <a:srgbClr val="FFFFFF"/>
                </a:solidFill>
                <a:latin typeface="+mj-ea"/>
                <a:ea typeface="+mj-ea"/>
                <a:cs typeface="Arial" pitchFamily="34" charset="-120"/>
              </a:rPr>
              <a:t>”</a:t>
            </a:r>
            <a:r>
              <a:rPr lang="en-US" sz="1300" b="1" dirty="0">
                <a:solidFill>
                  <a:srgbClr val="FFFFFF"/>
                </a:solidFill>
                <a:latin typeface="+mj-ea"/>
                <a:ea typeface="+mj-ea"/>
                <a:cs typeface="Arial" pitchFamily="34" charset="-120"/>
              </a:rPr>
              <a:t> 이라고 부른다 — LLM의 가장 신비로운 부분</a:t>
            </a:r>
            <a:endParaRPr lang="en-US" sz="1300" dirty="0">
              <a:latin typeface="+mj-ea"/>
              <a:ea typeface="+mj-ea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93B"/>
                </a:solidFill>
                <a:latin typeface="+mj-ea"/>
                <a:ea typeface="+mj-ea"/>
                <a:cs typeface="Arial" pitchFamily="34" charset="-120"/>
              </a:rPr>
              <a:t>LLM은 이렇게 만들어진다</a:t>
            </a:r>
            <a:endParaRPr lang="en-US" sz="3000" dirty="0">
              <a:latin typeface="+mj-ea"/>
              <a:ea typeface="+mj-ea"/>
            </a:endParaRPr>
          </a:p>
        </p:txBody>
      </p:sp>
      <p:sp>
        <p:nvSpPr>
          <p:cNvPr id="4" name="Shape 2"/>
          <p:cNvSpPr/>
          <p:nvPr/>
        </p:nvSpPr>
        <p:spPr>
          <a:xfrm>
            <a:off x="457200" y="1266476"/>
            <a:ext cx="914400" cy="91440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ko-KR" altLang="en-US">
              <a:latin typeface="+mj-ea"/>
              <a:ea typeface="+mj-ea"/>
            </a:endParaRPr>
          </a:p>
        </p:txBody>
      </p:sp>
      <p:sp>
        <p:nvSpPr>
          <p:cNvPr id="5" name="Text 3"/>
          <p:cNvSpPr/>
          <p:nvPr/>
        </p:nvSpPr>
        <p:spPr>
          <a:xfrm>
            <a:off x="457200" y="1266476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+mj-ea"/>
                <a:ea typeface="+mj-ea"/>
                <a:cs typeface="Arial" pitchFamily="34" charset="-120"/>
              </a:rPr>
              <a:t>1</a:t>
            </a:r>
            <a:endParaRPr lang="en-US" sz="3600" dirty="0">
              <a:latin typeface="+mj-ea"/>
              <a:ea typeface="+mj-ea"/>
            </a:endParaRPr>
          </a:p>
        </p:txBody>
      </p:sp>
      <p:sp>
        <p:nvSpPr>
          <p:cNvPr id="6" name="Shape 4"/>
          <p:cNvSpPr/>
          <p:nvPr/>
        </p:nvSpPr>
        <p:spPr>
          <a:xfrm>
            <a:off x="1645920" y="1175036"/>
            <a:ext cx="7040880" cy="1097280"/>
          </a:xfrm>
          <a:prstGeom prst="rect">
            <a:avLst/>
          </a:prstGeom>
          <a:solidFill>
            <a:srgbClr val="F5F9FC"/>
          </a:solidFill>
          <a:ln/>
        </p:spPr>
        <p:txBody>
          <a:bodyPr/>
          <a:lstStyle/>
          <a:p>
            <a:endParaRPr lang="ko-KR" altLang="en-US">
              <a:latin typeface="+mj-ea"/>
              <a:ea typeface="+mj-ea"/>
            </a:endParaRPr>
          </a:p>
        </p:txBody>
      </p:sp>
      <p:sp>
        <p:nvSpPr>
          <p:cNvPr id="7" name="Text 5"/>
          <p:cNvSpPr/>
          <p:nvPr/>
        </p:nvSpPr>
        <p:spPr>
          <a:xfrm>
            <a:off x="1828800" y="1266476"/>
            <a:ext cx="6675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65A82"/>
                </a:solidFill>
                <a:latin typeface="+mj-ea"/>
                <a:ea typeface="+mj-ea"/>
              </a:rPr>
              <a:t>Pre-training</a:t>
            </a:r>
            <a:r>
              <a:rPr lang="en-US" sz="1300" i="1" dirty="0">
                <a:solidFill>
                  <a:srgbClr val="64748B"/>
                </a:solidFill>
                <a:latin typeface="+mj-ea"/>
                <a:ea typeface="+mj-ea"/>
              </a:rPr>
              <a:t>  사전 학습</a:t>
            </a:r>
            <a:endParaRPr lang="en-US" sz="1800" dirty="0">
              <a:latin typeface="+mj-ea"/>
              <a:ea typeface="+mj-ea"/>
            </a:endParaRPr>
          </a:p>
        </p:txBody>
      </p:sp>
      <p:sp>
        <p:nvSpPr>
          <p:cNvPr id="8" name="Text 6"/>
          <p:cNvSpPr/>
          <p:nvPr/>
        </p:nvSpPr>
        <p:spPr>
          <a:xfrm>
            <a:off x="1828800" y="1677956"/>
            <a:ext cx="6675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+mj-ea"/>
                <a:ea typeface="+mj-ea"/>
                <a:cs typeface="Arial" pitchFamily="34" charset="-120"/>
              </a:rPr>
              <a:t>인터넷에 있는 어마어마한 양의 텍스트로 "다음 단어 맞히기"를 학습. 가장 비싸고 오래 걸리는 단계.</a:t>
            </a:r>
            <a:endParaRPr lang="en-US" sz="1300" dirty="0">
              <a:latin typeface="+mj-ea"/>
              <a:ea typeface="+mj-ea"/>
            </a:endParaRPr>
          </a:p>
        </p:txBody>
      </p:sp>
      <p:sp>
        <p:nvSpPr>
          <p:cNvPr id="9" name="Shape 7"/>
          <p:cNvSpPr/>
          <p:nvPr/>
        </p:nvSpPr>
        <p:spPr>
          <a:xfrm>
            <a:off x="457200" y="2500916"/>
            <a:ext cx="914400" cy="91440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ko-KR" altLang="en-US">
              <a:latin typeface="+mj-ea"/>
              <a:ea typeface="+mj-ea"/>
            </a:endParaRPr>
          </a:p>
        </p:txBody>
      </p:sp>
      <p:sp>
        <p:nvSpPr>
          <p:cNvPr id="10" name="Text 8"/>
          <p:cNvSpPr/>
          <p:nvPr/>
        </p:nvSpPr>
        <p:spPr>
          <a:xfrm>
            <a:off x="457200" y="2500916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+mj-ea"/>
                <a:ea typeface="+mj-ea"/>
                <a:cs typeface="Arial" pitchFamily="34" charset="-120"/>
              </a:rPr>
              <a:t>2</a:t>
            </a:r>
            <a:endParaRPr lang="en-US" sz="3600" dirty="0">
              <a:latin typeface="+mj-ea"/>
              <a:ea typeface="+mj-ea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1645920" y="2409476"/>
            <a:ext cx="7040880" cy="1097280"/>
          </a:xfrm>
          <a:prstGeom prst="rect">
            <a:avLst/>
          </a:prstGeom>
          <a:solidFill>
            <a:srgbClr val="F5F9FC"/>
          </a:solidFill>
          <a:ln/>
        </p:spPr>
        <p:txBody>
          <a:bodyPr/>
          <a:lstStyle/>
          <a:p>
            <a:endParaRPr lang="ko-KR" altLang="en-US">
              <a:latin typeface="+mj-ea"/>
              <a:ea typeface="+mj-ea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1828800" y="2500916"/>
            <a:ext cx="6675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C7293"/>
                </a:solidFill>
                <a:latin typeface="+mj-ea"/>
                <a:ea typeface="+mj-ea"/>
              </a:rPr>
              <a:t>Fine-tuning</a:t>
            </a:r>
            <a:r>
              <a:rPr lang="en-US" sz="1300" i="1" dirty="0">
                <a:solidFill>
                  <a:srgbClr val="64748B"/>
                </a:solidFill>
                <a:latin typeface="+mj-ea"/>
                <a:ea typeface="+mj-ea"/>
              </a:rPr>
              <a:t>  미세 조정</a:t>
            </a:r>
            <a:endParaRPr lang="en-US" sz="1800" dirty="0">
              <a:latin typeface="+mj-ea"/>
              <a:ea typeface="+mj-ea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1828800" y="2912396"/>
            <a:ext cx="6675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+mj-ea"/>
                <a:ea typeface="+mj-ea"/>
                <a:cs typeface="Arial" pitchFamily="34" charset="-120"/>
              </a:rPr>
              <a:t>사람이 "좋은 질문-답변" 예시를 보여주며 모델을 다듬는다. 챗봇답게 답하는 법을 배우는 단계.</a:t>
            </a:r>
            <a:endParaRPr lang="en-US" sz="1300" dirty="0">
              <a:latin typeface="+mj-ea"/>
              <a:ea typeface="+mj-ea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457200" y="3735356"/>
            <a:ext cx="914400" cy="914400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ko-KR" altLang="en-US">
              <a:latin typeface="+mj-ea"/>
              <a:ea typeface="+mj-ea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457200" y="3735356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+mj-ea"/>
                <a:ea typeface="+mj-ea"/>
                <a:cs typeface="Arial" pitchFamily="34" charset="-120"/>
              </a:rPr>
              <a:t>3</a:t>
            </a:r>
            <a:endParaRPr lang="en-US" sz="3600" dirty="0">
              <a:latin typeface="+mj-ea"/>
              <a:ea typeface="+mj-ea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1645920" y="3643916"/>
            <a:ext cx="7040880" cy="1097280"/>
          </a:xfrm>
          <a:prstGeom prst="rect">
            <a:avLst/>
          </a:prstGeom>
          <a:solidFill>
            <a:srgbClr val="F5F9FC"/>
          </a:solidFill>
          <a:ln/>
        </p:spPr>
        <p:txBody>
          <a:bodyPr/>
          <a:lstStyle/>
          <a:p>
            <a:endParaRPr lang="ko-KR" altLang="en-US">
              <a:latin typeface="+mj-ea"/>
              <a:ea typeface="+mj-ea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1828800" y="3735356"/>
            <a:ext cx="6675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59E0B"/>
                </a:solidFill>
                <a:latin typeface="+mj-ea"/>
                <a:ea typeface="+mj-ea"/>
              </a:rPr>
              <a:t>RLHF</a:t>
            </a:r>
            <a:r>
              <a:rPr lang="en-US" sz="1300" i="1" dirty="0">
                <a:solidFill>
                  <a:srgbClr val="64748B"/>
                </a:solidFill>
                <a:latin typeface="+mj-ea"/>
                <a:ea typeface="+mj-ea"/>
              </a:rPr>
              <a:t>  사람 피드백 강화학습</a:t>
            </a:r>
            <a:endParaRPr lang="en-US" sz="1800" dirty="0">
              <a:latin typeface="+mj-ea"/>
              <a:ea typeface="+mj-ea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1828800" y="4146836"/>
            <a:ext cx="6675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+mj-ea"/>
                <a:ea typeface="+mj-ea"/>
                <a:cs typeface="Arial" pitchFamily="34" charset="-120"/>
              </a:rPr>
              <a:t>사람이 여러 답변 중 좋은 답을 평가하면, 모델이 그 평가를 학습. 더 안전하고 도움 되게 발전.</a:t>
            </a:r>
            <a:endParaRPr lang="en-US" sz="1300" dirty="0">
              <a:latin typeface="+mj-ea"/>
              <a:ea typeface="+mj-ea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457200" y="474119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64748B"/>
                </a:solidFill>
                <a:latin typeface="+mj-ea"/>
                <a:ea typeface="+mj-ea"/>
                <a:cs typeface="Arial" pitchFamily="34" charset="-120"/>
              </a:rPr>
              <a:t>ChatGPT, Claude, Gemini 모두 이 과정을 거쳐 만들어졌다</a:t>
            </a:r>
            <a:endParaRPr lang="en-US" sz="1200" dirty="0">
              <a:latin typeface="+mj-ea"/>
              <a:ea typeface="+mj-ea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59E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6459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kern="0" spc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5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640080" y="22860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이제 직접 해봅시다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640080" y="310896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ChatGPT / Claude로 실습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4206240"/>
            <a:ext cx="457200" cy="4572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640080" y="4343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3가지 미션을 통해 LLM의 진짜 모습을 체험해봅시다</a:t>
            </a:r>
            <a:endParaRPr lang="en-US" sz="16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dirty="0">
                <a:solidFill>
                  <a:srgbClr val="F59E0B"/>
                </a:solidFill>
                <a:latin typeface="+mj-ea"/>
                <a:ea typeface="+mj-ea"/>
                <a:cs typeface="Arial" pitchFamily="34" charset="-120"/>
              </a:rPr>
              <a:t>미션 1</a:t>
            </a:r>
            <a:endParaRPr lang="en-US" sz="1300" dirty="0">
              <a:latin typeface="+mj-ea"/>
              <a:ea typeface="+mj-ea"/>
            </a:endParaRPr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+mj-ea"/>
                <a:ea typeface="+mj-ea"/>
                <a:cs typeface="Arial" pitchFamily="34" charset="-120"/>
              </a:rPr>
              <a:t>프롬프트가 결과를 어떻게 바꿀까?</a:t>
            </a:r>
            <a:endParaRPr lang="en-US" sz="2800" dirty="0">
              <a:latin typeface="+mj-ea"/>
              <a:ea typeface="+mj-ea"/>
            </a:endParaRPr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4023360" cy="3017520"/>
          </a:xfrm>
          <a:prstGeom prst="rect">
            <a:avLst/>
          </a:prstGeom>
          <a:solidFill>
            <a:srgbClr val="F5F9FC"/>
          </a:solidFill>
          <a:ln/>
        </p:spPr>
        <p:txBody>
          <a:bodyPr/>
          <a:lstStyle/>
          <a:p>
            <a:endParaRPr lang="ko-KR" altLang="en-US">
              <a:latin typeface="+mj-ea"/>
              <a:ea typeface="+mj-ea"/>
            </a:endParaRPr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4023360" cy="73152"/>
          </a:xfrm>
          <a:prstGeom prst="rect">
            <a:avLst/>
          </a:prstGeom>
          <a:solidFill>
            <a:srgbClr val="64748B"/>
          </a:solidFill>
          <a:ln/>
        </p:spPr>
        <p:txBody>
          <a:bodyPr/>
          <a:lstStyle/>
          <a:p>
            <a:endParaRPr lang="ko-KR" altLang="en-US">
              <a:latin typeface="+mj-ea"/>
              <a:ea typeface="+mj-ea"/>
            </a:endParaRPr>
          </a:p>
        </p:txBody>
      </p:sp>
      <p:sp>
        <p:nvSpPr>
          <p:cNvPr id="6" name="Text 4"/>
          <p:cNvSpPr/>
          <p:nvPr/>
        </p:nvSpPr>
        <p:spPr>
          <a:xfrm>
            <a:off x="640080" y="17373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64748B"/>
                </a:solidFill>
                <a:latin typeface="+mj-ea"/>
                <a:ea typeface="+mj-ea"/>
                <a:cs typeface="Arial" pitchFamily="34" charset="-120"/>
              </a:rPr>
              <a:t>A. 단순 프롬프트</a:t>
            </a:r>
            <a:endParaRPr lang="en-US" sz="1600" dirty="0">
              <a:latin typeface="+mj-ea"/>
              <a:ea typeface="+mj-ea"/>
            </a:endParaRPr>
          </a:p>
        </p:txBody>
      </p:sp>
      <p:sp>
        <p:nvSpPr>
          <p:cNvPr id="7" name="Shape 5"/>
          <p:cNvSpPr/>
          <p:nvPr/>
        </p:nvSpPr>
        <p:spPr>
          <a:xfrm>
            <a:off x="640080" y="2194560"/>
            <a:ext cx="36576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ko-KR" altLang="en-US">
              <a:latin typeface="+mj-ea"/>
              <a:ea typeface="+mj-ea"/>
            </a:endParaRPr>
          </a:p>
        </p:txBody>
      </p:sp>
      <p:sp>
        <p:nvSpPr>
          <p:cNvPr id="8" name="Text 6"/>
          <p:cNvSpPr/>
          <p:nvPr/>
        </p:nvSpPr>
        <p:spPr>
          <a:xfrm>
            <a:off x="731520" y="2286000"/>
            <a:ext cx="3474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1E293B"/>
                </a:solidFill>
                <a:latin typeface="+mj-ea"/>
                <a:ea typeface="+mj-ea"/>
                <a:cs typeface="Arial" pitchFamily="34" charset="-120"/>
              </a:rPr>
              <a:t>"삼각형 넓이 구해줘"</a:t>
            </a:r>
            <a:endParaRPr lang="en-US" sz="1400" dirty="0">
              <a:latin typeface="+mj-ea"/>
              <a:ea typeface="+mj-ea"/>
            </a:endParaRPr>
          </a:p>
        </p:txBody>
      </p:sp>
      <p:sp>
        <p:nvSpPr>
          <p:cNvPr id="9" name="Text 7"/>
          <p:cNvSpPr/>
          <p:nvPr/>
        </p:nvSpPr>
        <p:spPr>
          <a:xfrm>
            <a:off x="640080" y="37490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  <a:latin typeface="+mj-ea"/>
                <a:ea typeface="+mj-ea"/>
                <a:cs typeface="Arial" pitchFamily="34" charset="-120"/>
              </a:rPr>
              <a:t>→ 짧고 일반적인 답변</a:t>
            </a:r>
            <a:endParaRPr lang="en-US" sz="1300" dirty="0">
              <a:latin typeface="+mj-ea"/>
              <a:ea typeface="+mj-ea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4663440" y="1554480"/>
            <a:ext cx="4023360" cy="3017520"/>
          </a:xfrm>
          <a:prstGeom prst="rect">
            <a:avLst/>
          </a:prstGeom>
          <a:solidFill>
            <a:srgbClr val="F5F9FC"/>
          </a:solidFill>
          <a:ln/>
        </p:spPr>
        <p:txBody>
          <a:bodyPr/>
          <a:lstStyle/>
          <a:p>
            <a:endParaRPr lang="ko-KR" altLang="en-US">
              <a:latin typeface="+mj-ea"/>
              <a:ea typeface="+mj-ea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4663440" y="1554480"/>
            <a:ext cx="4023360" cy="73152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ko-KR" altLang="en-US">
              <a:latin typeface="+mj-ea"/>
              <a:ea typeface="+mj-ea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4846320" y="17373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0B981"/>
                </a:solidFill>
                <a:latin typeface="+mj-ea"/>
                <a:ea typeface="+mj-ea"/>
                <a:cs typeface="Arial" pitchFamily="34" charset="-120"/>
              </a:rPr>
              <a:t>B. 구체적 프롬프트</a:t>
            </a:r>
            <a:endParaRPr lang="en-US" sz="1600" dirty="0">
              <a:latin typeface="+mj-ea"/>
              <a:ea typeface="+mj-ea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4846320" y="2194560"/>
            <a:ext cx="36576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ko-KR" altLang="en-US">
              <a:latin typeface="+mj-ea"/>
              <a:ea typeface="+mj-ea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4937760" y="2286000"/>
            <a:ext cx="3474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1E293B"/>
                </a:solidFill>
                <a:latin typeface="+mj-ea"/>
                <a:ea typeface="+mj-ea"/>
                <a:cs typeface="Arial" pitchFamily="34" charset="-120"/>
              </a:rPr>
              <a:t>"너는 친절한 수학 선생님이야.</a:t>
            </a:r>
            <a:endParaRPr lang="en-US" sz="1200" dirty="0">
              <a:latin typeface="+mj-ea"/>
              <a:ea typeface="+mj-ea"/>
            </a:endParaRPr>
          </a:p>
          <a:p>
            <a:pPr marL="0" indent="0">
              <a:buNone/>
            </a:pPr>
            <a:r>
              <a:rPr lang="en-US" sz="1200" i="1" dirty="0">
                <a:solidFill>
                  <a:srgbClr val="1E293B"/>
                </a:solidFill>
                <a:latin typeface="+mj-ea"/>
                <a:ea typeface="+mj-ea"/>
                <a:cs typeface="Arial" pitchFamily="34" charset="-120"/>
              </a:rPr>
              <a:t>밑변 6, 높이 4인 삼각형의</a:t>
            </a:r>
            <a:endParaRPr lang="en-US" sz="1200" dirty="0">
              <a:latin typeface="+mj-ea"/>
              <a:ea typeface="+mj-ea"/>
            </a:endParaRPr>
          </a:p>
          <a:p>
            <a:pPr marL="0" indent="0">
              <a:buNone/>
            </a:pPr>
            <a:r>
              <a:rPr lang="en-US" sz="1200" i="1" dirty="0">
                <a:solidFill>
                  <a:srgbClr val="1E293B"/>
                </a:solidFill>
                <a:latin typeface="+mj-ea"/>
                <a:ea typeface="+mj-ea"/>
                <a:cs typeface="Arial" pitchFamily="34" charset="-120"/>
              </a:rPr>
              <a:t>넓이를 단계별로 설명해줘."</a:t>
            </a:r>
            <a:endParaRPr lang="en-US" sz="1200" dirty="0">
              <a:latin typeface="+mj-ea"/>
              <a:ea typeface="+mj-ea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4846320" y="37490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i="1" dirty="0">
                <a:solidFill>
                  <a:srgbClr val="10B981"/>
                </a:solidFill>
                <a:latin typeface="+mj-ea"/>
                <a:ea typeface="+mj-ea"/>
                <a:cs typeface="Arial" pitchFamily="34" charset="-120"/>
              </a:rPr>
              <a:t>→ 단계별 친절한 설명!</a:t>
            </a:r>
            <a:endParaRPr lang="en-US" sz="1300" dirty="0">
              <a:latin typeface="+mj-ea"/>
              <a:ea typeface="+mj-ea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457200" y="4754880"/>
            <a:ext cx="8229600" cy="457200"/>
          </a:xfrm>
          <a:prstGeom prst="rect">
            <a:avLst/>
          </a:prstGeom>
          <a:solidFill>
            <a:srgbClr val="21295C"/>
          </a:solidFill>
          <a:ln/>
        </p:spPr>
        <p:txBody>
          <a:bodyPr/>
          <a:lstStyle/>
          <a:p>
            <a:endParaRPr lang="ko-KR" altLang="en-US">
              <a:latin typeface="+mj-ea"/>
              <a:ea typeface="+mj-ea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457200" y="4754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+mj-ea"/>
                <a:ea typeface="+mj-ea"/>
                <a:cs typeface="Arial" pitchFamily="34" charset="-120"/>
              </a:rPr>
              <a:t>💡 "역할 + 구체적 조건 + 형식 요청" = 좋은 프롬프트의 공식</a:t>
            </a:r>
            <a:endParaRPr lang="en-US" sz="1400" dirty="0">
              <a:latin typeface="+mj-ea"/>
              <a:ea typeface="+mj-ea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dirty="0">
                <a:solidFill>
                  <a:srgbClr val="F59E0B"/>
                </a:solidFill>
                <a:latin typeface="+mj-ea"/>
                <a:ea typeface="+mj-ea"/>
                <a:cs typeface="Arial" pitchFamily="34" charset="-120"/>
              </a:rPr>
              <a:t>미션 2</a:t>
            </a:r>
            <a:endParaRPr lang="en-US" sz="1300" dirty="0">
              <a:latin typeface="+mj-ea"/>
              <a:ea typeface="+mj-ea"/>
            </a:endParaRPr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+mj-ea"/>
                <a:ea typeface="+mj-ea"/>
                <a:cs typeface="Arial" pitchFamily="34" charset="-120"/>
              </a:rPr>
              <a:t>환각 (Hallucination) 직접 체험</a:t>
            </a:r>
            <a:endParaRPr lang="en-US" sz="2800" dirty="0">
              <a:latin typeface="+mj-ea"/>
              <a:ea typeface="+mj-ea"/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4748B"/>
                </a:solidFill>
                <a:latin typeface="+mj-ea"/>
                <a:ea typeface="+mj-ea"/>
                <a:cs typeface="Arial" pitchFamily="34" charset="-120"/>
              </a:rPr>
              <a:t>존재하지 않는 것에 대해 질문해보세요. 무슨 일이 일어날까요?</a:t>
            </a:r>
            <a:endParaRPr lang="en-US" sz="1400" dirty="0">
              <a:latin typeface="+mj-ea"/>
              <a:ea typeface="+mj-ea"/>
            </a:endParaRPr>
          </a:p>
        </p:txBody>
      </p:sp>
      <p:sp>
        <p:nvSpPr>
          <p:cNvPr id="5" name="Shape 3"/>
          <p:cNvSpPr/>
          <p:nvPr/>
        </p:nvSpPr>
        <p:spPr>
          <a:xfrm>
            <a:off x="457200" y="1828800"/>
            <a:ext cx="8229600" cy="594360"/>
          </a:xfrm>
          <a:prstGeom prst="rect">
            <a:avLst/>
          </a:prstGeom>
          <a:solidFill>
            <a:srgbClr val="F5F9FC"/>
          </a:solidFill>
          <a:ln/>
        </p:spPr>
        <p:txBody>
          <a:bodyPr/>
          <a:lstStyle/>
          <a:p>
            <a:endParaRPr lang="ko-KR" altLang="en-US">
              <a:latin typeface="+mj-ea"/>
              <a:ea typeface="+mj-ea"/>
            </a:endParaRPr>
          </a:p>
        </p:txBody>
      </p:sp>
      <p:sp>
        <p:nvSpPr>
          <p:cNvPr id="6" name="Shape 4"/>
          <p:cNvSpPr/>
          <p:nvPr/>
        </p:nvSpPr>
        <p:spPr>
          <a:xfrm>
            <a:off x="457200" y="1828800"/>
            <a:ext cx="73152" cy="594360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ko-KR" altLang="en-US">
              <a:latin typeface="+mj-ea"/>
              <a:ea typeface="+mj-ea"/>
            </a:endParaRPr>
          </a:p>
        </p:txBody>
      </p:sp>
      <p:sp>
        <p:nvSpPr>
          <p:cNvPr id="7" name="Text 5"/>
          <p:cNvSpPr/>
          <p:nvPr/>
        </p:nvSpPr>
        <p:spPr>
          <a:xfrm>
            <a:off x="685800" y="187452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C2626"/>
                </a:solidFill>
                <a:latin typeface="+mj-ea"/>
                <a:ea typeface="+mj-ea"/>
                <a:cs typeface="Arial" pitchFamily="34" charset="-120"/>
              </a:rPr>
              <a:t>Try 1</a:t>
            </a:r>
            <a:endParaRPr lang="en-US" sz="1000" dirty="0">
              <a:latin typeface="+mj-ea"/>
              <a:ea typeface="+mj-ea"/>
            </a:endParaRPr>
          </a:p>
        </p:txBody>
      </p:sp>
      <p:sp>
        <p:nvSpPr>
          <p:cNvPr id="8" name="Text 6"/>
          <p:cNvSpPr/>
          <p:nvPr/>
        </p:nvSpPr>
        <p:spPr>
          <a:xfrm>
            <a:off x="685800" y="2075688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1E293B"/>
                </a:solidFill>
                <a:latin typeface="+mj-ea"/>
                <a:ea typeface="+mj-ea"/>
                <a:cs typeface="Arial" pitchFamily="34" charset="-120"/>
              </a:rPr>
              <a:t>"2021년 출간된 박지훈 작가의 소설 『검은 모래시계』의 줄거리를 알려줘."</a:t>
            </a:r>
            <a:endParaRPr lang="en-US" sz="1200" dirty="0">
              <a:latin typeface="+mj-ea"/>
              <a:ea typeface="+mj-ea"/>
            </a:endParaRPr>
          </a:p>
        </p:txBody>
      </p:sp>
      <p:sp>
        <p:nvSpPr>
          <p:cNvPr id="9" name="Shape 7"/>
          <p:cNvSpPr/>
          <p:nvPr/>
        </p:nvSpPr>
        <p:spPr>
          <a:xfrm>
            <a:off x="457200" y="2514600"/>
            <a:ext cx="8229600" cy="594360"/>
          </a:xfrm>
          <a:prstGeom prst="rect">
            <a:avLst/>
          </a:prstGeom>
          <a:solidFill>
            <a:srgbClr val="F5F9FC"/>
          </a:solidFill>
          <a:ln/>
        </p:spPr>
        <p:txBody>
          <a:bodyPr/>
          <a:lstStyle/>
          <a:p>
            <a:endParaRPr lang="ko-KR" altLang="en-US">
              <a:latin typeface="+mj-ea"/>
              <a:ea typeface="+mj-ea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457200" y="2514600"/>
            <a:ext cx="73152" cy="594360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ko-KR" altLang="en-US">
              <a:latin typeface="+mj-ea"/>
              <a:ea typeface="+mj-ea"/>
            </a:endParaRPr>
          </a:p>
        </p:txBody>
      </p:sp>
      <p:sp>
        <p:nvSpPr>
          <p:cNvPr id="11" name="Text 9"/>
          <p:cNvSpPr/>
          <p:nvPr/>
        </p:nvSpPr>
        <p:spPr>
          <a:xfrm>
            <a:off x="685800" y="256032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C2626"/>
                </a:solidFill>
                <a:latin typeface="+mj-ea"/>
                <a:ea typeface="+mj-ea"/>
                <a:cs typeface="Arial" pitchFamily="34" charset="-120"/>
              </a:rPr>
              <a:t>Try 2</a:t>
            </a:r>
            <a:endParaRPr lang="en-US" sz="1000" dirty="0">
              <a:latin typeface="+mj-ea"/>
              <a:ea typeface="+mj-ea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685800" y="2761488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1E293B"/>
                </a:solidFill>
                <a:latin typeface="+mj-ea"/>
                <a:ea typeface="+mj-ea"/>
                <a:cs typeface="Arial" pitchFamily="34" charset="-120"/>
              </a:rPr>
              <a:t>"조선 후기 천문학자 김도현(1782-1851)의 업적을 알려줘."</a:t>
            </a:r>
            <a:endParaRPr lang="en-US" sz="1200" dirty="0">
              <a:latin typeface="+mj-ea"/>
              <a:ea typeface="+mj-ea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457200" y="3200400"/>
            <a:ext cx="8229600" cy="594360"/>
          </a:xfrm>
          <a:prstGeom prst="rect">
            <a:avLst/>
          </a:prstGeom>
          <a:solidFill>
            <a:srgbClr val="F5F9FC"/>
          </a:solidFill>
          <a:ln/>
        </p:spPr>
        <p:txBody>
          <a:bodyPr/>
          <a:lstStyle/>
          <a:p>
            <a:endParaRPr lang="ko-KR" altLang="en-US">
              <a:latin typeface="+mj-ea"/>
              <a:ea typeface="+mj-ea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457200" y="3200400"/>
            <a:ext cx="73152" cy="594360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ko-KR" altLang="en-US">
              <a:latin typeface="+mj-ea"/>
              <a:ea typeface="+mj-ea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685800" y="324612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C2626"/>
                </a:solidFill>
                <a:latin typeface="+mj-ea"/>
                <a:ea typeface="+mj-ea"/>
                <a:cs typeface="Arial" pitchFamily="34" charset="-120"/>
              </a:rPr>
              <a:t>Try 3</a:t>
            </a:r>
            <a:endParaRPr lang="en-US" sz="1000" dirty="0">
              <a:latin typeface="+mj-ea"/>
              <a:ea typeface="+mj-ea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685800" y="3447288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1E293B"/>
                </a:solidFill>
                <a:latin typeface="+mj-ea"/>
                <a:ea typeface="+mj-ea"/>
                <a:cs typeface="Arial" pitchFamily="34" charset="-120"/>
              </a:rPr>
              <a:t>"</a:t>
            </a:r>
            <a:r>
              <a:rPr lang="en-US" sz="1200" i="1" dirty="0" err="1">
                <a:solidFill>
                  <a:srgbClr val="1E293B"/>
                </a:solidFill>
                <a:latin typeface="+mj-ea"/>
                <a:ea typeface="+mj-ea"/>
                <a:cs typeface="Arial" pitchFamily="34" charset="-120"/>
              </a:rPr>
              <a:t>포항공과대학교의</a:t>
            </a:r>
            <a:r>
              <a:rPr lang="en-US" sz="1200" i="1" dirty="0">
                <a:solidFill>
                  <a:srgbClr val="1E293B"/>
                </a:solidFill>
                <a:latin typeface="+mj-ea"/>
                <a:ea typeface="+mj-ea"/>
                <a:cs typeface="Arial" pitchFamily="34" charset="-120"/>
              </a:rPr>
              <a:t> 2024년 진학 실적과 동문 활동을 정리해줘."</a:t>
            </a:r>
            <a:endParaRPr lang="en-US" sz="1200" dirty="0">
              <a:latin typeface="+mj-ea"/>
              <a:ea typeface="+mj-ea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457200" y="4114800"/>
            <a:ext cx="8229600" cy="868680"/>
          </a:xfrm>
          <a:prstGeom prst="rect">
            <a:avLst/>
          </a:prstGeom>
          <a:solidFill>
            <a:srgbClr val="FEF3C7"/>
          </a:solidFill>
          <a:ln/>
        </p:spPr>
        <p:txBody>
          <a:bodyPr/>
          <a:lstStyle/>
          <a:p>
            <a:endParaRPr lang="ko-KR" altLang="en-US">
              <a:latin typeface="+mj-ea"/>
              <a:ea typeface="+mj-ea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640080" y="420624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9E0B"/>
                </a:solidFill>
                <a:latin typeface="+mj-ea"/>
                <a:ea typeface="+mj-ea"/>
                <a:cs typeface="Arial" pitchFamily="34" charset="-120"/>
              </a:rPr>
              <a:t>⚠ 관찰 포인트</a:t>
            </a:r>
            <a:endParaRPr lang="en-US" sz="1200" dirty="0">
              <a:latin typeface="+mj-ea"/>
              <a:ea typeface="+mj-ea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640080" y="448056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+mj-ea"/>
                <a:ea typeface="+mj-ea"/>
                <a:cs typeface="Arial" pitchFamily="34" charset="-120"/>
              </a:rPr>
              <a:t>LLM은 "모른다"고 하지 않고 그럴듯하게 "지어낸다". 사실을 검색하는 게 아니라 다음 단어를 생성하기 때문이다.</a:t>
            </a:r>
            <a:endParaRPr lang="en-US" sz="1200" dirty="0">
              <a:latin typeface="+mj-ea"/>
              <a:ea typeface="+mj-ea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dirty="0">
                <a:solidFill>
                  <a:srgbClr val="F59E0B"/>
                </a:solidFill>
                <a:latin typeface="+mj-ea"/>
                <a:ea typeface="+mj-ea"/>
                <a:cs typeface="Arial" pitchFamily="34" charset="-120"/>
              </a:rPr>
              <a:t>미션 3</a:t>
            </a:r>
            <a:endParaRPr lang="en-US" sz="1300" dirty="0">
              <a:latin typeface="+mj-ea"/>
              <a:ea typeface="+mj-ea"/>
            </a:endParaRPr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+mj-ea"/>
                <a:ea typeface="+mj-ea"/>
                <a:cs typeface="Arial" pitchFamily="34" charset="-120"/>
              </a:rPr>
              <a:t>LLM은 글자를 어떻게 "보는"가?</a:t>
            </a:r>
            <a:endParaRPr lang="en-US" sz="2800" dirty="0">
              <a:latin typeface="+mj-ea"/>
              <a:ea typeface="+mj-ea"/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+mj-ea"/>
                <a:ea typeface="+mj-ea"/>
                <a:cs typeface="Arial" pitchFamily="34" charset="-120"/>
              </a:rPr>
              <a:t>Tokenizer는 문장을 "토큰"이라는 작은 조각으로 쪼갠다.</a:t>
            </a:r>
            <a:endParaRPr lang="en-US" sz="1300" dirty="0">
              <a:latin typeface="+mj-ea"/>
              <a:ea typeface="+mj-ea"/>
            </a:endParaRPr>
          </a:p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+mj-ea"/>
                <a:ea typeface="+mj-ea"/>
                <a:cs typeface="Arial" pitchFamily="34" charset="-120"/>
              </a:rPr>
              <a:t>platform.openai.com/tokenizer 에서 직접 확인해봅시다.</a:t>
            </a:r>
            <a:endParaRPr lang="en-US" sz="1300" dirty="0">
              <a:latin typeface="+mj-ea"/>
              <a:ea typeface="+mj-ea"/>
            </a:endParaRPr>
          </a:p>
        </p:txBody>
      </p:sp>
      <p:sp>
        <p:nvSpPr>
          <p:cNvPr id="5" name="Shape 3"/>
          <p:cNvSpPr/>
          <p:nvPr/>
        </p:nvSpPr>
        <p:spPr>
          <a:xfrm>
            <a:off x="457200" y="2377440"/>
            <a:ext cx="8229600" cy="1005840"/>
          </a:xfrm>
          <a:prstGeom prst="rect">
            <a:avLst/>
          </a:prstGeom>
          <a:solidFill>
            <a:srgbClr val="F5F9FC"/>
          </a:solidFill>
          <a:ln/>
        </p:spPr>
        <p:txBody>
          <a:bodyPr/>
          <a:lstStyle/>
          <a:p>
            <a:endParaRPr lang="ko-KR" altLang="en-US">
              <a:latin typeface="+mj-ea"/>
              <a:ea typeface="+mj-ea"/>
            </a:endParaRPr>
          </a:p>
        </p:txBody>
      </p:sp>
      <p:sp>
        <p:nvSpPr>
          <p:cNvPr id="6" name="Text 4"/>
          <p:cNvSpPr/>
          <p:nvPr/>
        </p:nvSpPr>
        <p:spPr>
          <a:xfrm>
            <a:off x="640080" y="25146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93B"/>
                </a:solidFill>
                <a:latin typeface="+mj-ea"/>
                <a:ea typeface="+mj-ea"/>
                <a:cs typeface="Arial" pitchFamily="34" charset="-120"/>
              </a:rPr>
              <a:t>"Hello, world"</a:t>
            </a:r>
            <a:endParaRPr lang="en-US" sz="1800" dirty="0">
              <a:latin typeface="+mj-ea"/>
              <a:ea typeface="+mj-ea"/>
            </a:endParaRPr>
          </a:p>
        </p:txBody>
      </p:sp>
      <p:sp>
        <p:nvSpPr>
          <p:cNvPr id="7" name="Text 5"/>
          <p:cNvSpPr/>
          <p:nvPr/>
        </p:nvSpPr>
        <p:spPr>
          <a:xfrm>
            <a:off x="4572000" y="251460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65A82"/>
                </a:solidFill>
                <a:latin typeface="+mj-ea"/>
                <a:ea typeface="+mj-ea"/>
                <a:cs typeface="Arial" pitchFamily="34" charset="-120"/>
              </a:rPr>
              <a:t>→ 3 tokens</a:t>
            </a:r>
            <a:endParaRPr lang="en-US" sz="1600" dirty="0">
              <a:latin typeface="+mj-ea"/>
              <a:ea typeface="+mj-ea"/>
            </a:endParaRPr>
          </a:p>
        </p:txBody>
      </p:sp>
      <p:sp>
        <p:nvSpPr>
          <p:cNvPr id="8" name="Text 6"/>
          <p:cNvSpPr/>
          <p:nvPr/>
        </p:nvSpPr>
        <p:spPr>
          <a:xfrm>
            <a:off x="640080" y="301752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4748B"/>
                </a:solidFill>
                <a:latin typeface="+mj-ea"/>
                <a:ea typeface="+mj-ea"/>
                <a:cs typeface="Arial" pitchFamily="34" charset="-120"/>
              </a:rPr>
              <a:t>[Hello] [,] [ world]</a:t>
            </a:r>
            <a:endParaRPr lang="en-US" sz="1200" dirty="0">
              <a:latin typeface="+mj-ea"/>
              <a:ea typeface="+mj-ea"/>
            </a:endParaRPr>
          </a:p>
        </p:txBody>
      </p:sp>
      <p:sp>
        <p:nvSpPr>
          <p:cNvPr id="9" name="Shape 7"/>
          <p:cNvSpPr/>
          <p:nvPr/>
        </p:nvSpPr>
        <p:spPr>
          <a:xfrm>
            <a:off x="457200" y="3566160"/>
            <a:ext cx="8229600" cy="1005840"/>
          </a:xfrm>
          <a:prstGeom prst="rect">
            <a:avLst/>
          </a:prstGeom>
          <a:solidFill>
            <a:srgbClr val="FEE2E2"/>
          </a:solidFill>
          <a:ln/>
        </p:spPr>
        <p:txBody>
          <a:bodyPr/>
          <a:lstStyle/>
          <a:p>
            <a:endParaRPr lang="ko-KR" altLang="en-US">
              <a:latin typeface="+mj-ea"/>
              <a:ea typeface="+mj-ea"/>
            </a:endParaRPr>
          </a:p>
        </p:txBody>
      </p:sp>
      <p:sp>
        <p:nvSpPr>
          <p:cNvPr id="10" name="Text 8"/>
          <p:cNvSpPr/>
          <p:nvPr/>
        </p:nvSpPr>
        <p:spPr>
          <a:xfrm>
            <a:off x="640080" y="370332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93B"/>
                </a:solidFill>
                <a:latin typeface="+mj-ea"/>
                <a:ea typeface="+mj-ea"/>
                <a:cs typeface="Arial" pitchFamily="34" charset="-120"/>
              </a:rPr>
              <a:t>"안녕하세요, 세계"</a:t>
            </a:r>
            <a:endParaRPr lang="en-US" sz="1800" dirty="0">
              <a:latin typeface="+mj-ea"/>
              <a:ea typeface="+mj-ea"/>
            </a:endParaRPr>
          </a:p>
        </p:txBody>
      </p:sp>
      <p:sp>
        <p:nvSpPr>
          <p:cNvPr id="11" name="Text 9"/>
          <p:cNvSpPr/>
          <p:nvPr/>
        </p:nvSpPr>
        <p:spPr>
          <a:xfrm>
            <a:off x="4572000" y="37033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C2626"/>
                </a:solidFill>
                <a:latin typeface="+mj-ea"/>
                <a:ea typeface="+mj-ea"/>
                <a:cs typeface="Arial" pitchFamily="34" charset="-120"/>
              </a:rPr>
              <a:t>→ 10+ tokens 😱</a:t>
            </a:r>
            <a:endParaRPr lang="en-US" sz="1600" dirty="0">
              <a:latin typeface="+mj-ea"/>
              <a:ea typeface="+mj-ea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640080" y="420624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4748B"/>
                </a:solidFill>
                <a:latin typeface="+mj-ea"/>
                <a:ea typeface="+mj-ea"/>
                <a:cs typeface="Arial" pitchFamily="34" charset="-120"/>
              </a:rPr>
              <a:t>[안][녕][하][세][요][,][ 세][계] ... 한국어는 글자 단위로 잘게 쪼개진다</a:t>
            </a:r>
            <a:endParaRPr lang="en-US" sz="1200" dirty="0">
              <a:latin typeface="+mj-ea"/>
              <a:ea typeface="+mj-ea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457200" y="4754880"/>
            <a:ext cx="8229600" cy="457200"/>
          </a:xfrm>
          <a:prstGeom prst="rect">
            <a:avLst/>
          </a:prstGeom>
          <a:solidFill>
            <a:srgbClr val="21295C"/>
          </a:solidFill>
          <a:ln/>
        </p:spPr>
        <p:txBody>
          <a:bodyPr/>
          <a:lstStyle/>
          <a:p>
            <a:endParaRPr lang="ko-KR" altLang="en-US">
              <a:latin typeface="+mj-ea"/>
              <a:ea typeface="+mj-ea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457200" y="4754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+mj-ea"/>
                <a:ea typeface="+mj-ea"/>
                <a:cs typeface="Arial" pitchFamily="34" charset="-120"/>
              </a:rPr>
              <a:t>💡 같은 의미라도 한국어는 영어보다 토큰을 더 많이 쓴다 → API 비용·속도 차이의 원인</a:t>
            </a:r>
            <a:endParaRPr lang="en-US" sz="1300" dirty="0">
              <a:latin typeface="+mj-ea"/>
              <a:ea typeface="+mj-ea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6459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kern="0" dirty="0">
                <a:solidFill>
                  <a:srgbClr val="F59E0B"/>
                </a:solidFill>
                <a:latin typeface="+mj-ea"/>
                <a:ea typeface="+mj-ea"/>
                <a:cs typeface="Arial" pitchFamily="34" charset="-120"/>
              </a:rPr>
              <a:t>Part 6</a:t>
            </a:r>
            <a:endParaRPr lang="en-US" sz="1800" dirty="0">
              <a:latin typeface="+mj-ea"/>
              <a:ea typeface="+mj-ea"/>
            </a:endParaRPr>
          </a:p>
        </p:txBody>
      </p:sp>
      <p:sp>
        <p:nvSpPr>
          <p:cNvPr id="3" name="Text 1"/>
          <p:cNvSpPr/>
          <p:nvPr/>
        </p:nvSpPr>
        <p:spPr>
          <a:xfrm>
            <a:off x="640080" y="22860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+mj-ea"/>
                <a:ea typeface="+mj-ea"/>
                <a:cs typeface="Arial" pitchFamily="34" charset="-120"/>
              </a:rPr>
              <a:t>그래서 우리는</a:t>
            </a:r>
            <a:endParaRPr lang="en-US" sz="4200" dirty="0">
              <a:latin typeface="+mj-ea"/>
              <a:ea typeface="+mj-ea"/>
            </a:endParaRPr>
          </a:p>
        </p:txBody>
      </p:sp>
      <p:sp>
        <p:nvSpPr>
          <p:cNvPr id="4" name="Text 2"/>
          <p:cNvSpPr/>
          <p:nvPr/>
        </p:nvSpPr>
        <p:spPr>
          <a:xfrm>
            <a:off x="640080" y="310896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F5F9FC"/>
                </a:solidFill>
                <a:latin typeface="+mj-ea"/>
                <a:ea typeface="+mj-ea"/>
                <a:cs typeface="Arial" pitchFamily="34" charset="-120"/>
              </a:rPr>
              <a:t>AI를 어떻게 써야 할까?</a:t>
            </a:r>
            <a:endParaRPr lang="en-US" sz="3200" dirty="0">
              <a:latin typeface="+mj-ea"/>
              <a:ea typeface="+mj-ea"/>
            </a:endParaRPr>
          </a:p>
        </p:txBody>
      </p:sp>
      <p:sp>
        <p:nvSpPr>
          <p:cNvPr id="5" name="Shape 3"/>
          <p:cNvSpPr/>
          <p:nvPr/>
        </p:nvSpPr>
        <p:spPr>
          <a:xfrm>
            <a:off x="640080" y="4206240"/>
            <a:ext cx="457200" cy="4572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ko-KR" altLang="en-US">
              <a:latin typeface="+mj-ea"/>
              <a:ea typeface="+mj-ea"/>
            </a:endParaRPr>
          </a:p>
        </p:txBody>
      </p:sp>
      <p:sp>
        <p:nvSpPr>
          <p:cNvPr id="6" name="Text 4"/>
          <p:cNvSpPr/>
          <p:nvPr/>
        </p:nvSpPr>
        <p:spPr>
          <a:xfrm>
            <a:off x="640080" y="4343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F5F9FC"/>
                </a:solidFill>
                <a:latin typeface="+mj-ea"/>
                <a:ea typeface="+mj-ea"/>
                <a:cs typeface="Arial" pitchFamily="34" charset="-120"/>
              </a:rPr>
              <a:t>도구를 잘 쓰는 사람은 결국 그 도구를 이해하는 사람</a:t>
            </a:r>
            <a:endParaRPr lang="en-US" sz="1600" dirty="0">
              <a:latin typeface="+mj-ea"/>
              <a:ea typeface="+mj-ea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6342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+mj-ea"/>
                <a:ea typeface="+mj-ea"/>
                <a:cs typeface="Arial" pitchFamily="34" charset="-120"/>
              </a:rPr>
              <a:t>AI를 쓸 때 알아야 할 4가지</a:t>
            </a:r>
            <a:endParaRPr lang="en-US" sz="2800" dirty="0">
              <a:latin typeface="+mj-ea"/>
              <a:ea typeface="+mj-ea"/>
            </a:endParaRPr>
          </a:p>
        </p:txBody>
      </p:sp>
      <p:sp>
        <p:nvSpPr>
          <p:cNvPr id="3" name="Shape 1"/>
          <p:cNvSpPr/>
          <p:nvPr/>
        </p:nvSpPr>
        <p:spPr>
          <a:xfrm>
            <a:off x="463420" y="1188720"/>
            <a:ext cx="4023360" cy="1554480"/>
          </a:xfrm>
          <a:prstGeom prst="rect">
            <a:avLst/>
          </a:prstGeom>
          <a:solidFill>
            <a:srgbClr val="F5F9FC"/>
          </a:solidFill>
          <a:ln/>
        </p:spPr>
        <p:txBody>
          <a:bodyPr/>
          <a:lstStyle/>
          <a:p>
            <a:endParaRPr lang="ko-KR" altLang="en-US">
              <a:latin typeface="+mj-ea"/>
              <a:ea typeface="+mj-ea"/>
            </a:endParaRPr>
          </a:p>
        </p:txBody>
      </p:sp>
      <p:sp>
        <p:nvSpPr>
          <p:cNvPr id="4" name="Shape 2"/>
          <p:cNvSpPr/>
          <p:nvPr/>
        </p:nvSpPr>
        <p:spPr>
          <a:xfrm>
            <a:off x="463420" y="1188720"/>
            <a:ext cx="91440" cy="1554480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ko-KR" altLang="en-US">
              <a:latin typeface="+mj-ea"/>
              <a:ea typeface="+mj-ea"/>
            </a:endParaRPr>
          </a:p>
        </p:txBody>
      </p:sp>
      <p:sp>
        <p:nvSpPr>
          <p:cNvPr id="5" name="Text 3"/>
          <p:cNvSpPr/>
          <p:nvPr/>
        </p:nvSpPr>
        <p:spPr>
          <a:xfrm>
            <a:off x="737740" y="1371600"/>
            <a:ext cx="73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  <a:latin typeface="+mj-ea"/>
                <a:ea typeface="+mj-ea"/>
              </a:rPr>
              <a:t>🤥</a:t>
            </a:r>
            <a:endParaRPr lang="en-US" sz="3200" dirty="0">
              <a:latin typeface="+mj-ea"/>
              <a:ea typeface="+mj-ea"/>
            </a:endParaRPr>
          </a:p>
        </p:txBody>
      </p:sp>
      <p:sp>
        <p:nvSpPr>
          <p:cNvPr id="6" name="Text 4"/>
          <p:cNvSpPr/>
          <p:nvPr/>
        </p:nvSpPr>
        <p:spPr>
          <a:xfrm>
            <a:off x="1560700" y="14173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DC2626"/>
                </a:solidFill>
                <a:latin typeface="+mj-ea"/>
                <a:ea typeface="+mj-ea"/>
              </a:rPr>
              <a:t>환각</a:t>
            </a:r>
            <a:r>
              <a:rPr lang="en-US" sz="1200" i="1" dirty="0">
                <a:solidFill>
                  <a:srgbClr val="64748B"/>
                </a:solidFill>
                <a:latin typeface="+mj-ea"/>
                <a:ea typeface="+mj-ea"/>
              </a:rPr>
              <a:t>  Hallucination</a:t>
            </a:r>
            <a:endParaRPr lang="en-US" sz="2000" dirty="0">
              <a:latin typeface="+mj-ea"/>
              <a:ea typeface="+mj-ea"/>
            </a:endParaRPr>
          </a:p>
        </p:txBody>
      </p:sp>
      <p:sp>
        <p:nvSpPr>
          <p:cNvPr id="7" name="Text 5"/>
          <p:cNvSpPr/>
          <p:nvPr/>
        </p:nvSpPr>
        <p:spPr>
          <a:xfrm>
            <a:off x="1560700" y="196596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+mj-ea"/>
                <a:ea typeface="+mj-ea"/>
                <a:cs typeface="Arial" pitchFamily="34" charset="-120"/>
              </a:rPr>
              <a:t>그럴듯한 거짓을 자신 있게 답한다. 항상 검증 필요.</a:t>
            </a:r>
            <a:endParaRPr lang="en-US" sz="1300" dirty="0">
              <a:latin typeface="+mj-ea"/>
              <a:ea typeface="+mj-ea"/>
            </a:endParaRPr>
          </a:p>
        </p:txBody>
      </p:sp>
      <p:sp>
        <p:nvSpPr>
          <p:cNvPr id="8" name="Shape 6"/>
          <p:cNvSpPr/>
          <p:nvPr/>
        </p:nvSpPr>
        <p:spPr>
          <a:xfrm>
            <a:off x="4623940" y="1188720"/>
            <a:ext cx="4023360" cy="1554480"/>
          </a:xfrm>
          <a:prstGeom prst="rect">
            <a:avLst/>
          </a:prstGeom>
          <a:solidFill>
            <a:srgbClr val="F5F9FC"/>
          </a:solidFill>
          <a:ln/>
        </p:spPr>
        <p:txBody>
          <a:bodyPr/>
          <a:lstStyle/>
          <a:p>
            <a:endParaRPr lang="ko-KR" altLang="en-US">
              <a:latin typeface="+mj-ea"/>
              <a:ea typeface="+mj-ea"/>
            </a:endParaRPr>
          </a:p>
        </p:txBody>
      </p:sp>
      <p:sp>
        <p:nvSpPr>
          <p:cNvPr id="9" name="Shape 7"/>
          <p:cNvSpPr/>
          <p:nvPr/>
        </p:nvSpPr>
        <p:spPr>
          <a:xfrm>
            <a:off x="4623940" y="1188720"/>
            <a:ext cx="91440" cy="155448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ko-KR" altLang="en-US">
              <a:latin typeface="+mj-ea"/>
              <a:ea typeface="+mj-ea"/>
            </a:endParaRPr>
          </a:p>
        </p:txBody>
      </p:sp>
      <p:sp>
        <p:nvSpPr>
          <p:cNvPr id="10" name="Text 8"/>
          <p:cNvSpPr/>
          <p:nvPr/>
        </p:nvSpPr>
        <p:spPr>
          <a:xfrm>
            <a:off x="4898260" y="1371600"/>
            <a:ext cx="73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  <a:latin typeface="+mj-ea"/>
                <a:ea typeface="+mj-ea"/>
              </a:rPr>
              <a:t>⚖</a:t>
            </a:r>
            <a:endParaRPr lang="en-US" sz="3200" dirty="0">
              <a:latin typeface="+mj-ea"/>
              <a:ea typeface="+mj-ea"/>
            </a:endParaRPr>
          </a:p>
        </p:txBody>
      </p:sp>
      <p:sp>
        <p:nvSpPr>
          <p:cNvPr id="11" name="Text 9"/>
          <p:cNvSpPr/>
          <p:nvPr/>
        </p:nvSpPr>
        <p:spPr>
          <a:xfrm>
            <a:off x="5721220" y="14173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59E0B"/>
                </a:solidFill>
                <a:latin typeface="+mj-ea"/>
                <a:ea typeface="+mj-ea"/>
              </a:rPr>
              <a:t>편향</a:t>
            </a:r>
            <a:r>
              <a:rPr lang="en-US" sz="1200" i="1" dirty="0">
                <a:solidFill>
                  <a:srgbClr val="64748B"/>
                </a:solidFill>
                <a:latin typeface="+mj-ea"/>
                <a:ea typeface="+mj-ea"/>
              </a:rPr>
              <a:t>  Bias</a:t>
            </a:r>
            <a:endParaRPr lang="en-US" sz="2000" dirty="0">
              <a:latin typeface="+mj-ea"/>
              <a:ea typeface="+mj-ea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5721220" y="196596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+mj-ea"/>
                <a:ea typeface="+mj-ea"/>
                <a:cs typeface="Arial" pitchFamily="34" charset="-120"/>
              </a:rPr>
              <a:t>학습 데이터의 편견을 그대로 학습한다. 성별·인종 등.</a:t>
            </a:r>
            <a:endParaRPr lang="en-US" sz="1300" dirty="0">
              <a:latin typeface="+mj-ea"/>
              <a:ea typeface="+mj-ea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463420" y="2880360"/>
            <a:ext cx="4023360" cy="1554480"/>
          </a:xfrm>
          <a:prstGeom prst="rect">
            <a:avLst/>
          </a:prstGeom>
          <a:solidFill>
            <a:srgbClr val="F5F9FC"/>
          </a:solidFill>
          <a:ln/>
        </p:spPr>
        <p:txBody>
          <a:bodyPr/>
          <a:lstStyle/>
          <a:p>
            <a:endParaRPr lang="ko-KR" altLang="en-US">
              <a:latin typeface="+mj-ea"/>
              <a:ea typeface="+mj-ea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463420" y="2880360"/>
            <a:ext cx="91440" cy="155448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ko-KR" altLang="en-US">
              <a:latin typeface="+mj-ea"/>
              <a:ea typeface="+mj-ea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737740" y="3063240"/>
            <a:ext cx="73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  <a:latin typeface="+mj-ea"/>
                <a:ea typeface="+mj-ea"/>
              </a:rPr>
              <a:t>©</a:t>
            </a:r>
            <a:endParaRPr lang="en-US" sz="3200" dirty="0">
              <a:latin typeface="+mj-ea"/>
              <a:ea typeface="+mj-ea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1560700" y="310896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C7293"/>
                </a:solidFill>
                <a:latin typeface="+mj-ea"/>
                <a:ea typeface="+mj-ea"/>
              </a:rPr>
              <a:t>저작권</a:t>
            </a:r>
            <a:r>
              <a:rPr lang="en-US" sz="1200" i="1" dirty="0">
                <a:solidFill>
                  <a:srgbClr val="64748B"/>
                </a:solidFill>
                <a:latin typeface="+mj-ea"/>
                <a:ea typeface="+mj-ea"/>
              </a:rPr>
              <a:t>  Copyright</a:t>
            </a:r>
            <a:endParaRPr lang="en-US" sz="2000" dirty="0">
              <a:latin typeface="+mj-ea"/>
              <a:ea typeface="+mj-ea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1560700" y="365760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+mj-ea"/>
                <a:ea typeface="+mj-ea"/>
                <a:cs typeface="Arial" pitchFamily="34" charset="-120"/>
              </a:rPr>
              <a:t>학습에 쓰인 데이터의 저작권 문제. 아직 해결 중인 이슈.</a:t>
            </a:r>
            <a:endParaRPr lang="en-US" sz="1300" dirty="0">
              <a:latin typeface="+mj-ea"/>
              <a:ea typeface="+mj-ea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4623940" y="2880360"/>
            <a:ext cx="4023360" cy="1554480"/>
          </a:xfrm>
          <a:prstGeom prst="rect">
            <a:avLst/>
          </a:prstGeom>
          <a:solidFill>
            <a:srgbClr val="F5F9FC"/>
          </a:solidFill>
          <a:ln/>
        </p:spPr>
        <p:txBody>
          <a:bodyPr/>
          <a:lstStyle/>
          <a:p>
            <a:endParaRPr lang="ko-KR" altLang="en-US">
              <a:latin typeface="+mj-ea"/>
              <a:ea typeface="+mj-ea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4623940" y="2880360"/>
            <a:ext cx="91440" cy="1554480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ko-KR" altLang="en-US">
              <a:latin typeface="+mj-ea"/>
              <a:ea typeface="+mj-ea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4898260" y="3063240"/>
            <a:ext cx="73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  <a:latin typeface="+mj-ea"/>
                <a:ea typeface="+mj-ea"/>
              </a:rPr>
              <a:t>🧠</a:t>
            </a:r>
            <a:endParaRPr lang="en-US" sz="3200" dirty="0">
              <a:latin typeface="+mj-ea"/>
              <a:ea typeface="+mj-ea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5721220" y="310896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65A82"/>
                </a:solidFill>
                <a:latin typeface="+mj-ea"/>
                <a:ea typeface="+mj-ea"/>
              </a:rPr>
              <a:t>의존성</a:t>
            </a:r>
            <a:r>
              <a:rPr lang="en-US" sz="1200" i="1" dirty="0">
                <a:solidFill>
                  <a:srgbClr val="64748B"/>
                </a:solidFill>
                <a:latin typeface="+mj-ea"/>
                <a:ea typeface="+mj-ea"/>
              </a:rPr>
              <a:t>  Dependency</a:t>
            </a:r>
            <a:endParaRPr lang="en-US" sz="2000" dirty="0">
              <a:latin typeface="+mj-ea"/>
              <a:ea typeface="+mj-ea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5721220" y="365760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+mj-ea"/>
                <a:ea typeface="+mj-ea"/>
                <a:cs typeface="Arial" pitchFamily="34" charset="-120"/>
              </a:rPr>
              <a:t>AI에만 의존하면 나의 사고력이 약해질 수 있다.</a:t>
            </a:r>
            <a:endParaRPr lang="en-US" sz="1300" dirty="0">
              <a:latin typeface="+mj-ea"/>
              <a:ea typeface="+mj-ea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463420" y="4709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64748B"/>
                </a:solidFill>
                <a:latin typeface="+mj-ea"/>
                <a:ea typeface="+mj-ea"/>
                <a:cs typeface="Arial" pitchFamily="34" charset="-120"/>
              </a:rPr>
              <a:t>AI는 "정답기"가 아니다. 똑똑한 "도구"일 뿐이다.</a:t>
            </a:r>
            <a:endParaRPr lang="en-US" sz="1400" dirty="0">
              <a:latin typeface="+mj-ea"/>
              <a:ea typeface="+mj-ea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1371600"/>
            <a:ext cx="4572000" cy="4572000"/>
          </a:xfrm>
          <a:prstGeom prst="ellipse">
            <a:avLst/>
          </a:prstGeom>
          <a:solidFill>
            <a:srgbClr val="065A82">
              <a:alpha val="70000"/>
            </a:srgbClr>
          </a:solidFill>
          <a:ln/>
        </p:spPr>
        <p:txBody>
          <a:bodyPr/>
          <a:lstStyle/>
          <a:p>
            <a:endParaRPr lang="ko-KR" altLang="en-US">
              <a:latin typeface="+mj-ea"/>
              <a:ea typeface="+mj-ea"/>
            </a:endParaRPr>
          </a:p>
        </p:txBody>
      </p:sp>
      <p:sp>
        <p:nvSpPr>
          <p:cNvPr id="3" name="Shape 1"/>
          <p:cNvSpPr/>
          <p:nvPr/>
        </p:nvSpPr>
        <p:spPr>
          <a:xfrm>
            <a:off x="-1828800" y="3657600"/>
            <a:ext cx="4572000" cy="4572000"/>
          </a:xfrm>
          <a:prstGeom prst="ellipse">
            <a:avLst/>
          </a:prstGeom>
          <a:solidFill>
            <a:srgbClr val="1C7293">
              <a:alpha val="60000"/>
            </a:srgbClr>
          </a:solidFill>
          <a:ln/>
        </p:spPr>
        <p:txBody>
          <a:bodyPr/>
          <a:lstStyle/>
          <a:p>
            <a:endParaRPr lang="ko-KR" altLang="en-US">
              <a:latin typeface="+mj-ea"/>
              <a:ea typeface="+mj-ea"/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kern="0" dirty="0">
                <a:solidFill>
                  <a:srgbClr val="F59E0B"/>
                </a:solidFill>
                <a:latin typeface="+mj-ea"/>
                <a:ea typeface="+mj-ea"/>
                <a:cs typeface="Arial" pitchFamily="34" charset="-120"/>
              </a:rPr>
              <a:t>AI </a:t>
            </a:r>
            <a:r>
              <a:rPr lang="en-US" sz="1600" b="1" kern="0" dirty="0" err="1">
                <a:solidFill>
                  <a:srgbClr val="F59E0B"/>
                </a:solidFill>
                <a:latin typeface="+mj-ea"/>
                <a:ea typeface="+mj-ea"/>
                <a:cs typeface="Arial" pitchFamily="34" charset="-120"/>
              </a:rPr>
              <a:t>수업</a:t>
            </a:r>
            <a:r>
              <a:rPr lang="en-US" sz="1600" b="1" kern="0" dirty="0">
                <a:solidFill>
                  <a:srgbClr val="F59E0B"/>
                </a:solidFill>
                <a:latin typeface="+mj-ea"/>
                <a:ea typeface="+mj-ea"/>
                <a:cs typeface="Arial" pitchFamily="34" charset="-120"/>
              </a:rPr>
              <a:t> </a:t>
            </a:r>
            <a:r>
              <a:rPr lang="en-US" altLang="ko-KR" sz="1600" b="1" kern="0" dirty="0">
                <a:solidFill>
                  <a:srgbClr val="F59E0B"/>
                </a:solidFill>
                <a:latin typeface="+mj-ea"/>
                <a:ea typeface="+mj-ea"/>
                <a:cs typeface="Arial" pitchFamily="34" charset="-120"/>
              </a:rPr>
              <a:t>4</a:t>
            </a:r>
            <a:r>
              <a:rPr lang="ko-KR" altLang="en-US" sz="1600" b="1" kern="0" dirty="0">
                <a:solidFill>
                  <a:srgbClr val="F59E0B"/>
                </a:solidFill>
                <a:latin typeface="+mj-ea"/>
                <a:ea typeface="+mj-ea"/>
                <a:cs typeface="Arial" pitchFamily="34" charset="-120"/>
              </a:rPr>
              <a:t>주차</a:t>
            </a:r>
            <a:endParaRPr lang="en-US" sz="1600" dirty="0">
              <a:latin typeface="+mj-ea"/>
              <a:ea typeface="+mj-ea"/>
            </a:endParaRPr>
          </a:p>
        </p:txBody>
      </p:sp>
      <p:sp>
        <p:nvSpPr>
          <p:cNvPr id="5" name="Text 3"/>
          <p:cNvSpPr/>
          <p:nvPr/>
        </p:nvSpPr>
        <p:spPr>
          <a:xfrm>
            <a:off x="457200" y="201168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200" b="1" dirty="0">
                <a:solidFill>
                  <a:srgbClr val="FFFFFF"/>
                </a:solidFill>
                <a:latin typeface="+mj-ea"/>
                <a:ea typeface="+mj-ea"/>
                <a:cs typeface="Arial" pitchFamily="34" charset="-120"/>
              </a:rPr>
              <a:t>Thank You!</a:t>
            </a:r>
            <a:endParaRPr lang="en-US" sz="7200" dirty="0">
              <a:latin typeface="+mj-ea"/>
              <a:ea typeface="+mj-ea"/>
            </a:endParaRPr>
          </a:p>
        </p:txBody>
      </p:sp>
      <p:sp>
        <p:nvSpPr>
          <p:cNvPr id="6" name="Text 4"/>
          <p:cNvSpPr/>
          <p:nvPr/>
        </p:nvSpPr>
        <p:spPr>
          <a:xfrm>
            <a:off x="457200" y="32918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000" dirty="0">
              <a:latin typeface="+mj-ea"/>
              <a:ea typeface="+mj-ea"/>
            </a:endParaRPr>
          </a:p>
        </p:txBody>
      </p:sp>
      <p:sp>
        <p:nvSpPr>
          <p:cNvPr id="7" name="Shape 5"/>
          <p:cNvSpPr/>
          <p:nvPr/>
        </p:nvSpPr>
        <p:spPr>
          <a:xfrm>
            <a:off x="4114800" y="4023360"/>
            <a:ext cx="914400" cy="4572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ko-KR" altLang="en-US">
              <a:latin typeface="+mj-ea"/>
              <a:ea typeface="+mj-e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1501</TotalTime>
  <Words>1194</Words>
  <Application>Microsoft Macintosh PowerPoint</Application>
  <PresentationFormat>화면 슬라이드 쇼(16:9)</PresentationFormat>
  <Paragraphs>249</Paragraphs>
  <Slides>26</Slides>
  <Notes>26</Notes>
  <HiddenSlides>0</HiddenSlides>
  <MMClips>0</MMClips>
  <ScaleCrop>false</ScaleCrop>
  <HeadingPairs>
    <vt:vector size="6" baseType="variant">
      <vt:variant>
        <vt:lpstr>사용한 글꼴</vt:lpstr>
      </vt:variant>
      <vt:variant>
        <vt:i4>1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26</vt:i4>
      </vt:variant>
    </vt:vector>
  </HeadingPairs>
  <TitlesOfParts>
    <vt:vector size="28" baseType="lpstr"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LLM과 Transformer 이해하기</dc:title>
  <dc:subject>PptxGenJS Presentation</dc:subject>
  <dc:creator>AI 수업</dc:creator>
  <cp:lastModifiedBy>김병규(컴퓨터공학과)</cp:lastModifiedBy>
  <cp:revision>5</cp:revision>
  <dcterms:created xsi:type="dcterms:W3CDTF">2026-05-23T02:40:37Z</dcterms:created>
  <dcterms:modified xsi:type="dcterms:W3CDTF">2026-05-29T23:33:57Z</dcterms:modified>
</cp:coreProperties>
</file>